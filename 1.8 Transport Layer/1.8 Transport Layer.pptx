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72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9" r:id="rId24"/>
    <p:sldId id="280" r:id="rId25"/>
    <p:sldId id="281" r:id="rId26"/>
    <p:sldId id="282" r:id="rId27"/>
    <p:sldId id="283" r:id="rId28"/>
    <p:sldId id="278" r:id="rId29"/>
  </p:sldIdLst>
  <p:sldSz cx="12192000" cy="6858000"/>
  <p:notesSz cx="6858000" cy="9144000"/>
  <p:defaultTextStyle>
    <a:defPPr>
      <a:defRPr lang="ru-RU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84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Средний стиль 2 — акцент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howGuides="1">
      <p:cViewPr varScale="1">
        <p:scale>
          <a:sx n="109" d="100"/>
          <a:sy n="109" d="100"/>
        </p:scale>
        <p:origin x="636" y="102"/>
      </p:cViewPr>
      <p:guideLst>
        <p:guide orient="horz" pos="2160"/>
        <p:guide pos="384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slide" Target="slides/slide28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theme" Target="theme/theme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presProps" Target="presProps.xml"/><Relationship Id="rId8" Type="http://schemas.openxmlformats.org/officeDocument/2006/relationships/slide" Target="slides/slide7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Титульны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Подзаголовок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ru-RU" smtClean="0"/>
              <a:t>Образец подзаголовка</a:t>
            </a:r>
            <a:endParaRPr lang="ru-RU"/>
          </a:p>
        </p:txBody>
      </p:sp>
      <p:sp>
        <p:nvSpPr>
          <p:cNvPr id="4" name="Дата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3DF6F99-26EF-44A0-AB0C-04C766CF99AB}" type="datetimeFigureOut">
              <a:rPr lang="ru-RU" smtClean="0"/>
              <a:t>28.09.2026</a:t>
            </a:fld>
            <a:endParaRPr lang="ru-RU"/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041BD49-20BD-4882-8B7C-AE1A5D51793B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86392292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Заголовок и объек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Объект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ru-RU"/>
          </a:p>
        </p:txBody>
      </p:sp>
      <p:sp>
        <p:nvSpPr>
          <p:cNvPr id="4" name="Дата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3DF6F99-26EF-44A0-AB0C-04C766CF99AB}" type="datetimeFigureOut">
              <a:rPr lang="ru-RU" smtClean="0"/>
              <a:t>28.09.2026</a:t>
            </a:fld>
            <a:endParaRPr lang="ru-RU"/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041BD49-20BD-4882-8B7C-AE1A5D51793B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01310554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Заголовок раздел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Текст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ru-RU" smtClean="0"/>
              <a:t>Образец текста</a:t>
            </a:r>
          </a:p>
        </p:txBody>
      </p:sp>
      <p:sp>
        <p:nvSpPr>
          <p:cNvPr id="4" name="Дата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3DF6F99-26EF-44A0-AB0C-04C766CF99AB}" type="datetimeFigureOut">
              <a:rPr lang="ru-RU" smtClean="0"/>
              <a:t>28.09.2026</a:t>
            </a:fld>
            <a:endParaRPr lang="ru-RU"/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041BD49-20BD-4882-8B7C-AE1A5D51793B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841908164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Два объект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Объект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ru-RU"/>
          </a:p>
        </p:txBody>
      </p:sp>
      <p:sp>
        <p:nvSpPr>
          <p:cNvPr id="4" name="Объект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ru-RU"/>
          </a:p>
        </p:txBody>
      </p:sp>
      <p:sp>
        <p:nvSpPr>
          <p:cNvPr id="5" name="Дата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3DF6F99-26EF-44A0-AB0C-04C766CF99AB}" type="datetimeFigureOut">
              <a:rPr lang="ru-RU" smtClean="0"/>
              <a:t>28.09.2026</a:t>
            </a:fld>
            <a:endParaRPr lang="ru-RU"/>
          </a:p>
        </p:txBody>
      </p:sp>
      <p:sp>
        <p:nvSpPr>
          <p:cNvPr id="6" name="Нижний колонтитул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Номер слайда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041BD49-20BD-4882-8B7C-AE1A5D51793B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2521369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Сравнение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Текст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 smtClean="0"/>
              <a:t>Образец текста</a:t>
            </a:r>
          </a:p>
        </p:txBody>
      </p:sp>
      <p:sp>
        <p:nvSpPr>
          <p:cNvPr id="4" name="Объект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ru-RU"/>
          </a:p>
        </p:txBody>
      </p:sp>
      <p:sp>
        <p:nvSpPr>
          <p:cNvPr id="5" name="Текст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 smtClean="0"/>
              <a:t>Образец текста</a:t>
            </a:r>
          </a:p>
        </p:txBody>
      </p:sp>
      <p:sp>
        <p:nvSpPr>
          <p:cNvPr id="6" name="Объект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ru-RU"/>
          </a:p>
        </p:txBody>
      </p:sp>
      <p:sp>
        <p:nvSpPr>
          <p:cNvPr id="7" name="Дата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3DF6F99-26EF-44A0-AB0C-04C766CF99AB}" type="datetimeFigureOut">
              <a:rPr lang="ru-RU" smtClean="0"/>
              <a:t>28.09.2026</a:t>
            </a:fld>
            <a:endParaRPr lang="ru-RU"/>
          </a:p>
        </p:txBody>
      </p:sp>
      <p:sp>
        <p:nvSpPr>
          <p:cNvPr id="8" name="Нижний колонтитул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9" name="Номер слайда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041BD49-20BD-4882-8B7C-AE1A5D51793B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427813908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Только заголовок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Дата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3DF6F99-26EF-44A0-AB0C-04C766CF99AB}" type="datetimeFigureOut">
              <a:rPr lang="ru-RU" smtClean="0"/>
              <a:t>28.09.2026</a:t>
            </a:fld>
            <a:endParaRPr lang="ru-RU"/>
          </a:p>
        </p:txBody>
      </p:sp>
      <p:sp>
        <p:nvSpPr>
          <p:cNvPr id="4" name="Нижний колонтитул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5" name="Номер слайда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041BD49-20BD-4882-8B7C-AE1A5D51793B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760453259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Пусто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Дата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3DF6F99-26EF-44A0-AB0C-04C766CF99AB}" type="datetimeFigureOut">
              <a:rPr lang="ru-RU" smtClean="0"/>
              <a:t>28.09.2026</a:t>
            </a:fld>
            <a:endParaRPr lang="ru-RU"/>
          </a:p>
        </p:txBody>
      </p:sp>
      <p:sp>
        <p:nvSpPr>
          <p:cNvPr id="3" name="Нижний колонтитул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041BD49-20BD-4882-8B7C-AE1A5D51793B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889955263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Объект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Объект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ru-RU"/>
          </a:p>
        </p:txBody>
      </p:sp>
      <p:sp>
        <p:nvSpPr>
          <p:cNvPr id="4" name="Текст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ru-RU" smtClean="0"/>
              <a:t>Образец текста</a:t>
            </a:r>
          </a:p>
        </p:txBody>
      </p:sp>
      <p:sp>
        <p:nvSpPr>
          <p:cNvPr id="5" name="Дата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3DF6F99-26EF-44A0-AB0C-04C766CF99AB}" type="datetimeFigureOut">
              <a:rPr lang="ru-RU" smtClean="0"/>
              <a:t>28.09.2026</a:t>
            </a:fld>
            <a:endParaRPr lang="ru-RU"/>
          </a:p>
        </p:txBody>
      </p:sp>
      <p:sp>
        <p:nvSpPr>
          <p:cNvPr id="6" name="Нижний колонтитул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Номер слайда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041BD49-20BD-4882-8B7C-AE1A5D51793B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58039028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Рисунок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Рисунок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ru-RU"/>
          </a:p>
        </p:txBody>
      </p:sp>
      <p:sp>
        <p:nvSpPr>
          <p:cNvPr id="4" name="Текст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ru-RU" smtClean="0"/>
              <a:t>Образец текста</a:t>
            </a:r>
          </a:p>
        </p:txBody>
      </p:sp>
      <p:sp>
        <p:nvSpPr>
          <p:cNvPr id="5" name="Дата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3DF6F99-26EF-44A0-AB0C-04C766CF99AB}" type="datetimeFigureOut">
              <a:rPr lang="ru-RU" smtClean="0"/>
              <a:t>28.09.2026</a:t>
            </a:fld>
            <a:endParaRPr lang="ru-RU"/>
          </a:p>
        </p:txBody>
      </p:sp>
      <p:sp>
        <p:nvSpPr>
          <p:cNvPr id="6" name="Нижний колонтитул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Номер слайда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041BD49-20BD-4882-8B7C-AE1A5D51793B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422979350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Заголовок и вертикальный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Вертикальный текст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ru-RU"/>
          </a:p>
        </p:txBody>
      </p:sp>
      <p:sp>
        <p:nvSpPr>
          <p:cNvPr id="4" name="Дата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3DF6F99-26EF-44A0-AB0C-04C766CF99AB}" type="datetimeFigureOut">
              <a:rPr lang="ru-RU" smtClean="0"/>
              <a:t>28.09.2026</a:t>
            </a:fld>
            <a:endParaRPr lang="ru-RU"/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041BD49-20BD-4882-8B7C-AE1A5D51793B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208625305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Вертикальный заголовок и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Вертикальный заголовок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Вертикальный текст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ru-RU"/>
          </a:p>
        </p:txBody>
      </p:sp>
      <p:sp>
        <p:nvSpPr>
          <p:cNvPr id="4" name="Дата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3DF6F99-26EF-44A0-AB0C-04C766CF99AB}" type="datetimeFigureOut">
              <a:rPr lang="ru-RU" smtClean="0"/>
              <a:t>28.09.2026</a:t>
            </a:fld>
            <a:endParaRPr lang="ru-RU"/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041BD49-20BD-4882-8B7C-AE1A5D51793B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74334641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Текст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ru-RU"/>
          </a:p>
        </p:txBody>
      </p:sp>
      <p:sp>
        <p:nvSpPr>
          <p:cNvPr id="4" name="Дата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F3DF6F99-26EF-44A0-AB0C-04C766CF99AB}" type="datetimeFigureOut">
              <a:rPr lang="ru-RU" smtClean="0"/>
              <a:t>28.09.2026</a:t>
            </a:fld>
            <a:endParaRPr lang="ru-RU"/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ru-RU"/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E041BD49-20BD-4882-8B7C-AE1A5D51793B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19328847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73" r:id="rId1"/>
    <p:sldLayoutId id="2147483674" r:id="rId2"/>
    <p:sldLayoutId id="2147483675" r:id="rId3"/>
    <p:sldLayoutId id="2147483676" r:id="rId4"/>
    <p:sldLayoutId id="2147483677" r:id="rId5"/>
    <p:sldLayoutId id="2147483678" r:id="rId6"/>
    <p:sldLayoutId id="2147483679" r:id="rId7"/>
    <p:sldLayoutId id="2147483680" r:id="rId8"/>
    <p:sldLayoutId id="2147483681" r:id="rId9"/>
    <p:sldLayoutId id="2147483682" r:id="rId10"/>
    <p:sldLayoutId id="2147483683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ru-RU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4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4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4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4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4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4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4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4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4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4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4.xml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png"/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4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9.png"/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0.png"/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1.png"/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4.xml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3.jpeg"/><Relationship Id="rId2" Type="http://schemas.openxmlformats.org/officeDocument/2006/relationships/image" Target="../media/image22.png"/><Relationship Id="rId1" Type="http://schemas.openxmlformats.org/officeDocument/2006/relationships/slideLayout" Target="../slideLayouts/slideLayout4.xml"/></Relationships>
</file>

<file path=ppt/slides/_rels/slide2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5.png"/><Relationship Id="rId2" Type="http://schemas.openxmlformats.org/officeDocument/2006/relationships/image" Target="../media/image24.png"/><Relationship Id="rId1" Type="http://schemas.openxmlformats.org/officeDocument/2006/relationships/slideLayout" Target="../slideLayouts/slideLayout4.xml"/><Relationship Id="rId4" Type="http://schemas.openxmlformats.org/officeDocument/2006/relationships/image" Target="../media/image26.png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7.png"/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9.png"/><Relationship Id="rId2" Type="http://schemas.openxmlformats.org/officeDocument/2006/relationships/image" Target="../media/image28.png"/><Relationship Id="rId1" Type="http://schemas.openxmlformats.org/officeDocument/2006/relationships/slideLayout" Target="../slideLayouts/slideLayout2.xml"/></Relationships>
</file>

<file path=ppt/slides/_rels/slide28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0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ru-RU" dirty="0"/>
              <a:t>Транспортный уровень модели </a:t>
            </a:r>
            <a:r>
              <a:rPr lang="af-ZA" dirty="0"/>
              <a:t>OSI/TCP-IP</a:t>
            </a:r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29395117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ru-RU" b="1" dirty="0"/>
              <a:t>Проблематика и задачи транспортного </a:t>
            </a:r>
            <a:r>
              <a:rPr lang="ru-RU" b="1" dirty="0" smtClean="0"/>
              <a:t>уровня</a:t>
            </a:r>
            <a:endParaRPr lang="ru-RU" dirty="0"/>
          </a:p>
        </p:txBody>
      </p:sp>
      <p:sp>
        <p:nvSpPr>
          <p:cNvPr id="3" name="Объект 2"/>
          <p:cNvSpPr>
            <a:spLocks noGrp="1"/>
          </p:cNvSpPr>
          <p:nvPr>
            <p:ph sz="half" idx="1"/>
          </p:nvPr>
        </p:nvSpPr>
        <p:spPr>
          <a:xfrm>
            <a:off x="295274" y="1844675"/>
            <a:ext cx="6791326" cy="4351338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ru-RU" b="1" dirty="0"/>
              <a:t>Ключевые тезисы:</a:t>
            </a:r>
            <a:endParaRPr lang="ru-RU" dirty="0"/>
          </a:p>
          <a:p>
            <a:pPr lvl="1"/>
            <a:r>
              <a:rPr lang="ru-RU" dirty="0"/>
              <a:t>Сетевой уровень (IP) доставляет пакеты между </a:t>
            </a:r>
            <a:r>
              <a:rPr lang="ru-RU" i="1" dirty="0"/>
              <a:t>хостами</a:t>
            </a:r>
            <a:r>
              <a:rPr lang="ru-RU" dirty="0"/>
              <a:t>, но не между </a:t>
            </a:r>
            <a:r>
              <a:rPr lang="ru-RU" i="1" dirty="0"/>
              <a:t>программами</a:t>
            </a:r>
            <a:r>
              <a:rPr lang="ru-RU" dirty="0"/>
              <a:t>.</a:t>
            </a:r>
          </a:p>
          <a:p>
            <a:pPr lvl="1"/>
            <a:r>
              <a:rPr lang="ru-RU" dirty="0"/>
              <a:t>IP работает по принципу </a:t>
            </a:r>
            <a:r>
              <a:rPr lang="ru-RU" i="1" dirty="0" err="1"/>
              <a:t>Best</a:t>
            </a:r>
            <a:r>
              <a:rPr lang="ru-RU" i="1" dirty="0"/>
              <a:t> </a:t>
            </a:r>
            <a:r>
              <a:rPr lang="ru-RU" i="1" dirty="0" err="1"/>
              <a:t>Effort</a:t>
            </a:r>
            <a:r>
              <a:rPr lang="ru-RU" dirty="0"/>
              <a:t> (нет гарантии доставки, порядка и целостности).</a:t>
            </a:r>
          </a:p>
          <a:p>
            <a:pPr marL="0" indent="0">
              <a:buNone/>
            </a:pPr>
            <a:r>
              <a:rPr lang="ru-RU" b="1" dirty="0"/>
              <a:t>Задачи транспортного уровня:</a:t>
            </a:r>
            <a:endParaRPr lang="ru-RU" dirty="0"/>
          </a:p>
          <a:p>
            <a:pPr lvl="1"/>
            <a:r>
              <a:rPr lang="ru-RU" dirty="0"/>
              <a:t>Адресация приложений (порты).</a:t>
            </a:r>
          </a:p>
          <a:p>
            <a:pPr lvl="1"/>
            <a:r>
              <a:rPr lang="ru-RU" dirty="0"/>
              <a:t>Мультиплексирование и демультиплексирование потоков.</a:t>
            </a:r>
          </a:p>
          <a:p>
            <a:pPr lvl="1"/>
            <a:r>
              <a:rPr lang="ru-RU" dirty="0"/>
              <a:t>Обеспечение надежности (опционально: TCP) или скорости (UDP).</a:t>
            </a:r>
          </a:p>
          <a:p>
            <a:pPr marL="0" indent="0">
              <a:buNone/>
            </a:pPr>
            <a:endParaRPr lang="ru-RU" dirty="0"/>
          </a:p>
        </p:txBody>
      </p:sp>
      <p:pic>
        <p:nvPicPr>
          <p:cNvPr id="6" name="Объект 5"/>
          <p:cNvPicPr>
            <a:picLocks noGrp="1" noChangeAspect="1"/>
          </p:cNvPicPr>
          <p:nvPr>
            <p:ph sz="half" idx="2"/>
          </p:nvPr>
        </p:nvPicPr>
        <p:blipFill>
          <a:blip r:embed="rId2"/>
          <a:stretch>
            <a:fillRect/>
          </a:stretch>
        </p:blipFill>
        <p:spPr>
          <a:xfrm>
            <a:off x="7010400" y="1912144"/>
            <a:ext cx="5181600" cy="395545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0284225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Заголовок 4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b="1" dirty="0" smtClean="0"/>
              <a:t>Демультиплексирование</a:t>
            </a:r>
            <a:endParaRPr lang="ru-RU" dirty="0"/>
          </a:p>
        </p:txBody>
      </p:sp>
      <p:pic>
        <p:nvPicPr>
          <p:cNvPr id="7" name="Объект 6"/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2209800" y="1690688"/>
            <a:ext cx="7772400" cy="484414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8141650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TCP, </a:t>
            </a:r>
            <a:r>
              <a:rPr lang="ru-RU" dirty="0" smtClean="0"/>
              <a:t>общие сведения </a:t>
            </a:r>
            <a:endParaRPr lang="ru-RU" dirty="0"/>
          </a:p>
        </p:txBody>
      </p:sp>
      <p:pic>
        <p:nvPicPr>
          <p:cNvPr id="4" name="Объект 3"/>
          <p:cNvPicPr>
            <a:picLocks noGrp="1" noChangeAspect="1"/>
          </p:cNvPicPr>
          <p:nvPr>
            <p:ph sz="half" idx="1"/>
          </p:nvPr>
        </p:nvPicPr>
        <p:blipFill>
          <a:blip r:embed="rId2"/>
          <a:stretch>
            <a:fillRect/>
          </a:stretch>
        </p:blipFill>
        <p:spPr>
          <a:xfrm>
            <a:off x="1099712" y="1825625"/>
            <a:ext cx="4658575" cy="4351338"/>
          </a:xfrm>
          <a:prstGeom prst="rect">
            <a:avLst/>
          </a:prstGeom>
        </p:spPr>
      </p:pic>
      <p:sp>
        <p:nvSpPr>
          <p:cNvPr id="5" name="Объект 4"/>
          <p:cNvSpPr>
            <a:spLocks noGrp="1"/>
          </p:cNvSpPr>
          <p:nvPr>
            <p:ph sz="half" idx="2"/>
          </p:nvPr>
        </p:nvSpPr>
        <p:spPr>
          <a:xfrm>
            <a:off x="6172200" y="2643310"/>
            <a:ext cx="5181600" cy="2860675"/>
          </a:xfrm>
        </p:spPr>
        <p:txBody>
          <a:bodyPr/>
          <a:lstStyle/>
          <a:p>
            <a:r>
              <a:rPr lang="ru-RU" dirty="0" smtClean="0"/>
              <a:t>Каналы с установлением соединения</a:t>
            </a:r>
          </a:p>
          <a:p>
            <a:r>
              <a:rPr lang="ru-RU" dirty="0" smtClean="0"/>
              <a:t>Надежная доставка</a:t>
            </a:r>
          </a:p>
          <a:p>
            <a:r>
              <a:rPr lang="ru-RU" dirty="0" smtClean="0"/>
              <a:t>Восстановление последовательности данных</a:t>
            </a:r>
          </a:p>
          <a:p>
            <a:r>
              <a:rPr lang="ru-RU" dirty="0" smtClean="0"/>
              <a:t>Управление потоком</a:t>
            </a:r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30712663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UDP, </a:t>
            </a:r>
            <a:r>
              <a:rPr lang="ru-RU" dirty="0" smtClean="0"/>
              <a:t>общие сведения</a:t>
            </a:r>
            <a:endParaRPr lang="ru-RU" dirty="0"/>
          </a:p>
        </p:txBody>
      </p:sp>
      <p:sp>
        <p:nvSpPr>
          <p:cNvPr id="3" name="Объект 2"/>
          <p:cNvSpPr>
            <a:spLocks noGrp="1"/>
          </p:cNvSpPr>
          <p:nvPr>
            <p:ph sz="half" idx="1"/>
          </p:nvPr>
        </p:nvSpPr>
        <p:spPr>
          <a:xfrm>
            <a:off x="776654" y="2698444"/>
            <a:ext cx="5181600" cy="2605698"/>
          </a:xfrm>
        </p:spPr>
        <p:txBody>
          <a:bodyPr/>
          <a:lstStyle/>
          <a:p>
            <a:r>
              <a:rPr lang="ru-RU" dirty="0"/>
              <a:t>Без установления </a:t>
            </a:r>
            <a:r>
              <a:rPr lang="ru-RU" dirty="0" smtClean="0"/>
              <a:t>соединения</a:t>
            </a:r>
            <a:endParaRPr lang="en-US" dirty="0" smtClean="0"/>
          </a:p>
          <a:p>
            <a:r>
              <a:rPr lang="ru-RU" dirty="0" smtClean="0"/>
              <a:t>Ненадежная доставка</a:t>
            </a:r>
          </a:p>
          <a:p>
            <a:r>
              <a:rPr lang="ru-RU" dirty="0" smtClean="0"/>
              <a:t>Без восстановления последовательности</a:t>
            </a:r>
          </a:p>
          <a:p>
            <a:r>
              <a:rPr lang="ru-RU" dirty="0" smtClean="0"/>
              <a:t>Без управления потоком</a:t>
            </a:r>
            <a:endParaRPr lang="ru-RU" dirty="0"/>
          </a:p>
        </p:txBody>
      </p:sp>
      <p:pic>
        <p:nvPicPr>
          <p:cNvPr id="1026" name="Picture 2" descr="Chapter 10. User Datagram Protocol (UDP) and IP Fragmentation - Shichao's  Notes"/>
          <p:cNvPicPr>
            <a:picLocks noGrp="1" noChangeAspect="1" noChangeArrowheads="1"/>
          </p:cNvPicPr>
          <p:nvPr>
            <p:ph sz="half" idx="2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172200" y="2015821"/>
            <a:ext cx="5181600" cy="397094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711844286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b="1" dirty="0"/>
              <a:t>Адресация портов TCP и </a:t>
            </a:r>
            <a:r>
              <a:rPr lang="ru-RU" b="1" dirty="0" smtClean="0"/>
              <a:t>UDP</a:t>
            </a:r>
            <a:endParaRPr lang="ru-RU" dirty="0"/>
          </a:p>
        </p:txBody>
      </p:sp>
      <p:pic>
        <p:nvPicPr>
          <p:cNvPr id="5" name="Объект 4"/>
          <p:cNvPicPr>
            <a:picLocks noGrp="1" noChangeAspect="1"/>
          </p:cNvPicPr>
          <p:nvPr>
            <p:ph sz="half" idx="1"/>
          </p:nvPr>
        </p:nvPicPr>
        <p:blipFill>
          <a:blip r:embed="rId2"/>
          <a:stretch>
            <a:fillRect/>
          </a:stretch>
        </p:blipFill>
        <p:spPr>
          <a:xfrm>
            <a:off x="322242" y="2755016"/>
            <a:ext cx="5773758" cy="3526145"/>
          </a:xfrm>
          <a:prstGeom prst="rect">
            <a:avLst/>
          </a:prstGeom>
        </p:spPr>
      </p:pic>
      <p:sp>
        <p:nvSpPr>
          <p:cNvPr id="6" name="Объект 5"/>
          <p:cNvSpPr>
            <a:spLocks noGrp="1"/>
          </p:cNvSpPr>
          <p:nvPr>
            <p:ph sz="half" idx="2"/>
          </p:nvPr>
        </p:nvSpPr>
        <p:spPr>
          <a:xfrm>
            <a:off x="6096000" y="3276785"/>
            <a:ext cx="5767754" cy="2482606"/>
          </a:xfrm>
        </p:spPr>
        <p:txBody>
          <a:bodyPr/>
          <a:lstStyle/>
          <a:p>
            <a:r>
              <a:rPr lang="ru-RU" dirty="0"/>
              <a:t>0–1023: Системные / </a:t>
            </a:r>
            <a:r>
              <a:rPr lang="ru-RU" dirty="0" err="1"/>
              <a:t>Well-known</a:t>
            </a:r>
            <a:r>
              <a:rPr lang="ru-RU" dirty="0"/>
              <a:t> (</a:t>
            </a:r>
            <a:r>
              <a:rPr lang="ru-RU" dirty="0" err="1"/>
              <a:t>Web</a:t>
            </a:r>
            <a:r>
              <a:rPr lang="ru-RU" dirty="0"/>
              <a:t>, SSH, DNS).</a:t>
            </a:r>
          </a:p>
          <a:p>
            <a:r>
              <a:rPr lang="ru-RU" dirty="0" smtClean="0"/>
              <a:t>1024–49151</a:t>
            </a:r>
            <a:r>
              <a:rPr lang="ru-RU" dirty="0"/>
              <a:t>: </a:t>
            </a:r>
            <a:r>
              <a:rPr lang="ru-RU" dirty="0" smtClean="0"/>
              <a:t>Зарегистрированные</a:t>
            </a:r>
            <a:r>
              <a:rPr lang="ru-RU" dirty="0"/>
              <a:t>.</a:t>
            </a:r>
          </a:p>
          <a:p>
            <a:r>
              <a:rPr lang="ru-RU" dirty="0" smtClean="0"/>
              <a:t>49152–65535</a:t>
            </a:r>
            <a:r>
              <a:rPr lang="ru-RU" dirty="0"/>
              <a:t>: Эфемерные / Клиентские.</a:t>
            </a:r>
          </a:p>
          <a:p>
            <a:pPr marL="0" indent="0">
              <a:buNone/>
            </a:pPr>
            <a:endParaRPr lang="ru-RU" dirty="0"/>
          </a:p>
        </p:txBody>
      </p:sp>
      <p:sp>
        <p:nvSpPr>
          <p:cNvPr id="7" name="Объект 5"/>
          <p:cNvSpPr txBox="1">
            <a:spLocks/>
          </p:cNvSpPr>
          <p:nvPr/>
        </p:nvSpPr>
        <p:spPr>
          <a:xfrm>
            <a:off x="838200" y="1513713"/>
            <a:ext cx="11025554" cy="1132772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Font typeface="Arial" panose="020B0604020202020204" pitchFamily="34" charset="0"/>
              <a:buNone/>
            </a:pPr>
            <a:r>
              <a:rPr lang="ru-RU" dirty="0" smtClean="0"/>
              <a:t>Порт – виртуальный номер (16 бит) по которому узел определяет какой именно программе или службе предназначены данные. </a:t>
            </a:r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41065716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838200" y="180488"/>
            <a:ext cx="10515600" cy="628406"/>
          </a:xfrm>
        </p:spPr>
        <p:txBody>
          <a:bodyPr>
            <a:normAutofit fontScale="90000"/>
          </a:bodyPr>
          <a:lstStyle/>
          <a:p>
            <a:r>
              <a:rPr lang="ru-RU" b="1" dirty="0" smtClean="0"/>
              <a:t>Сокеты</a:t>
            </a:r>
            <a:endParaRPr lang="ru-RU" b="1" dirty="0"/>
          </a:p>
        </p:txBody>
      </p:sp>
      <p:pic>
        <p:nvPicPr>
          <p:cNvPr id="5" name="Объект 4"/>
          <p:cNvPicPr>
            <a:picLocks noGrp="1" noChangeAspect="1"/>
          </p:cNvPicPr>
          <p:nvPr>
            <p:ph sz="half" idx="1"/>
          </p:nvPr>
        </p:nvPicPr>
        <p:blipFill>
          <a:blip r:embed="rId2"/>
          <a:stretch>
            <a:fillRect/>
          </a:stretch>
        </p:blipFill>
        <p:spPr>
          <a:xfrm>
            <a:off x="2628900" y="2021840"/>
            <a:ext cx="6934200" cy="4836160"/>
          </a:xfrm>
          <a:prstGeom prst="rect">
            <a:avLst/>
          </a:prstGeom>
        </p:spPr>
      </p:pic>
      <p:sp>
        <p:nvSpPr>
          <p:cNvPr id="4" name="Объект 3"/>
          <p:cNvSpPr>
            <a:spLocks noGrp="1"/>
          </p:cNvSpPr>
          <p:nvPr>
            <p:ph sz="half" idx="2"/>
          </p:nvPr>
        </p:nvSpPr>
        <p:spPr>
          <a:xfrm>
            <a:off x="838200" y="717406"/>
            <a:ext cx="10515600" cy="1418737"/>
          </a:xfrm>
        </p:spPr>
        <p:txBody>
          <a:bodyPr/>
          <a:lstStyle/>
          <a:p>
            <a:pPr marL="0" indent="0">
              <a:buNone/>
            </a:pPr>
            <a:r>
              <a:rPr lang="ru-RU" dirty="0" smtClean="0"/>
              <a:t>Сокет </a:t>
            </a:r>
            <a:r>
              <a:rPr lang="en-US" dirty="0" smtClean="0"/>
              <a:t>(IP</a:t>
            </a:r>
            <a:r>
              <a:rPr lang="ru-RU" dirty="0" smtClean="0"/>
              <a:t> + Порт</a:t>
            </a:r>
            <a:r>
              <a:rPr lang="en-US" dirty="0" smtClean="0"/>
              <a:t>) – </a:t>
            </a:r>
            <a:r>
              <a:rPr lang="ru-RU" dirty="0" smtClean="0"/>
              <a:t>идентифицирует приложение на узле.</a:t>
            </a:r>
          </a:p>
          <a:p>
            <a:pPr marL="0" indent="0">
              <a:buNone/>
            </a:pPr>
            <a:r>
              <a:rPr lang="ru-RU" dirty="0" err="1" smtClean="0"/>
              <a:t>Сокетная</a:t>
            </a:r>
            <a:r>
              <a:rPr lang="ru-RU" dirty="0" smtClean="0"/>
              <a:t> пара </a:t>
            </a:r>
            <a:r>
              <a:rPr lang="ru-RU" dirty="0"/>
              <a:t>(</a:t>
            </a:r>
            <a:r>
              <a:rPr lang="en-US" dirty="0" err="1" smtClean="0"/>
              <a:t>Src</a:t>
            </a:r>
            <a:r>
              <a:rPr lang="en-US" dirty="0" smtClean="0"/>
              <a:t> IP, </a:t>
            </a:r>
            <a:r>
              <a:rPr lang="en-US" dirty="0" err="1" smtClean="0"/>
              <a:t>Src</a:t>
            </a:r>
            <a:r>
              <a:rPr lang="en-US" dirty="0" smtClean="0"/>
              <a:t> Port, </a:t>
            </a:r>
            <a:r>
              <a:rPr lang="en-US" dirty="0" err="1" smtClean="0"/>
              <a:t>Dst</a:t>
            </a:r>
            <a:r>
              <a:rPr lang="en-US" dirty="0" smtClean="0"/>
              <a:t> IP, </a:t>
            </a:r>
            <a:r>
              <a:rPr lang="en-US" dirty="0" err="1" smtClean="0"/>
              <a:t>Dst</a:t>
            </a:r>
            <a:r>
              <a:rPr lang="en-US" dirty="0" smtClean="0"/>
              <a:t> Port</a:t>
            </a:r>
            <a:r>
              <a:rPr lang="ru-RU" dirty="0" smtClean="0"/>
              <a:t>) - </a:t>
            </a:r>
            <a:r>
              <a:rPr lang="ru-RU" dirty="0"/>
              <a:t> идентифицирует конкретное соединение</a:t>
            </a:r>
          </a:p>
        </p:txBody>
      </p:sp>
    </p:spTree>
    <p:extLst>
      <p:ext uri="{BB962C8B-B14F-4D97-AF65-F5344CB8AC3E}">
        <p14:creationId xmlns:p14="http://schemas.microsoft.com/office/powerpoint/2010/main" val="382068131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Заголовок 4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b="1" dirty="0" smtClean="0"/>
              <a:t>Известные порты</a:t>
            </a:r>
            <a:endParaRPr lang="ru-RU" b="1" dirty="0"/>
          </a:p>
        </p:txBody>
      </p:sp>
      <p:graphicFrame>
        <p:nvGraphicFramePr>
          <p:cNvPr id="7" name="Объект 6"/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1255693071"/>
              </p:ext>
            </p:extLst>
          </p:nvPr>
        </p:nvGraphicFramePr>
        <p:xfrm>
          <a:off x="2242038" y="1538652"/>
          <a:ext cx="7543799" cy="5020409"/>
        </p:xfrm>
        <a:graphic>
          <a:graphicData uri="http://schemas.openxmlformats.org/drawingml/2006/table">
            <a:tbl>
              <a:tblPr/>
              <a:tblGrid>
                <a:gridCol w="1388068">
                  <a:extLst>
                    <a:ext uri="{9D8B030D-6E8A-4147-A177-3AD203B41FA5}">
                      <a16:colId xmlns:a16="http://schemas.microsoft.com/office/drawing/2014/main" val="1943333483"/>
                    </a:ext>
                  </a:extLst>
                </a:gridCol>
                <a:gridCol w="1384858">
                  <a:extLst>
                    <a:ext uri="{9D8B030D-6E8A-4147-A177-3AD203B41FA5}">
                      <a16:colId xmlns:a16="http://schemas.microsoft.com/office/drawing/2014/main" val="3623994693"/>
                    </a:ext>
                  </a:extLst>
                </a:gridCol>
                <a:gridCol w="4770873">
                  <a:extLst>
                    <a:ext uri="{9D8B030D-6E8A-4147-A177-3AD203B41FA5}">
                      <a16:colId xmlns:a16="http://schemas.microsoft.com/office/drawing/2014/main" val="1973449759"/>
                    </a:ext>
                  </a:extLst>
                </a:gridCol>
              </a:tblGrid>
              <a:tr h="248586">
                <a:tc>
                  <a:txBody>
                    <a:bodyPr/>
                    <a:lstStyle/>
                    <a:p>
                      <a:pPr algn="ctr"/>
                      <a:r>
                        <a:rPr lang="ru-RU" sz="1000" b="1" dirty="0">
                          <a:effectLst/>
                        </a:rPr>
                        <a:t>Номер порта</a:t>
                      </a:r>
                    </a:p>
                  </a:txBody>
                  <a:tcPr marL="55530" marR="55530" marT="27765" marB="27765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1000" b="1" dirty="0">
                          <a:effectLst/>
                        </a:rPr>
                        <a:t>Протокол</a:t>
                      </a:r>
                    </a:p>
                  </a:txBody>
                  <a:tcPr marL="55530" marR="55530" marT="27765" marB="27765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ru-RU" sz="1000" b="1" dirty="0">
                          <a:effectLst/>
                        </a:rPr>
                        <a:t>Уровень приложений</a:t>
                      </a:r>
                    </a:p>
                  </a:txBody>
                  <a:tcPr marL="55530" marR="55530" marT="27765" marB="27765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272544870"/>
                  </a:ext>
                </a:extLst>
              </a:tr>
              <a:tr h="433103">
                <a:tc>
                  <a:txBody>
                    <a:bodyPr/>
                    <a:lstStyle/>
                    <a:p>
                      <a:pPr algn="ctr"/>
                      <a:r>
                        <a:rPr lang="ru-RU" sz="1000" dirty="0">
                          <a:effectLst/>
                        </a:rPr>
                        <a:t>20</a:t>
                      </a:r>
                    </a:p>
                  </a:txBody>
                  <a:tcPr marL="55530" marR="55530" marT="27765" marB="27765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af-ZA" sz="1000">
                          <a:effectLst/>
                        </a:rPr>
                        <a:t>TCP</a:t>
                      </a:r>
                    </a:p>
                  </a:txBody>
                  <a:tcPr marL="55530" marR="55530" marT="27765" marB="27765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af-ZA" sz="1000">
                          <a:effectLst/>
                        </a:rPr>
                        <a:t>File Transfer Protocol (FTP) — </a:t>
                      </a:r>
                      <a:r>
                        <a:rPr lang="ru-RU" sz="1000">
                          <a:effectLst/>
                        </a:rPr>
                        <a:t>Передача данных</a:t>
                      </a:r>
                    </a:p>
                  </a:txBody>
                  <a:tcPr marL="55530" marR="55530" marT="27765" marB="27765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558400650"/>
                  </a:ext>
                </a:extLst>
              </a:tr>
              <a:tr h="433103">
                <a:tc>
                  <a:txBody>
                    <a:bodyPr/>
                    <a:lstStyle/>
                    <a:p>
                      <a:pPr algn="ctr"/>
                      <a:r>
                        <a:rPr lang="ru-RU" sz="1000" dirty="0">
                          <a:effectLst/>
                        </a:rPr>
                        <a:t>21</a:t>
                      </a:r>
                    </a:p>
                  </a:txBody>
                  <a:tcPr marL="55530" marR="55530" marT="27765" marB="27765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af-ZA" sz="1000">
                          <a:effectLst/>
                        </a:rPr>
                        <a:t>TCP</a:t>
                      </a:r>
                    </a:p>
                  </a:txBody>
                  <a:tcPr marL="55530" marR="55530" marT="27765" marB="27765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af-ZA" sz="1000">
                          <a:effectLst/>
                        </a:rPr>
                        <a:t>File Transfer Protocol (FTP) — </a:t>
                      </a:r>
                      <a:r>
                        <a:rPr lang="ru-RU" sz="1000">
                          <a:effectLst/>
                        </a:rPr>
                        <a:t>Управление передачей</a:t>
                      </a:r>
                    </a:p>
                  </a:txBody>
                  <a:tcPr marL="55530" marR="55530" marT="27765" marB="27765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628936600"/>
                  </a:ext>
                </a:extLst>
              </a:tr>
              <a:tr h="248586">
                <a:tc>
                  <a:txBody>
                    <a:bodyPr/>
                    <a:lstStyle/>
                    <a:p>
                      <a:pPr algn="ctr"/>
                      <a:r>
                        <a:rPr lang="ru-RU" sz="1000" dirty="0">
                          <a:effectLst/>
                        </a:rPr>
                        <a:t>22</a:t>
                      </a:r>
                    </a:p>
                  </a:txBody>
                  <a:tcPr marL="55530" marR="55530" marT="27765" marB="27765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af-ZA" sz="1000">
                          <a:effectLst/>
                        </a:rPr>
                        <a:t>TCP</a:t>
                      </a:r>
                    </a:p>
                  </a:txBody>
                  <a:tcPr marL="55530" marR="55530" marT="27765" marB="27765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ru-RU" sz="1000">
                          <a:effectLst/>
                        </a:rPr>
                        <a:t>Протокол </a:t>
                      </a:r>
                      <a:r>
                        <a:rPr lang="af-ZA" sz="1000">
                          <a:effectLst/>
                        </a:rPr>
                        <a:t>Secure Shell (SSH)</a:t>
                      </a:r>
                    </a:p>
                  </a:txBody>
                  <a:tcPr marL="55530" marR="55530" marT="27765" marB="27765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331712316"/>
                  </a:ext>
                </a:extLst>
              </a:tr>
              <a:tr h="248586">
                <a:tc>
                  <a:txBody>
                    <a:bodyPr/>
                    <a:lstStyle/>
                    <a:p>
                      <a:pPr algn="ctr"/>
                      <a:r>
                        <a:rPr lang="ru-RU" sz="1000" dirty="0">
                          <a:effectLst/>
                        </a:rPr>
                        <a:t>23</a:t>
                      </a:r>
                    </a:p>
                  </a:txBody>
                  <a:tcPr marL="55530" marR="55530" marT="27765" marB="27765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af-ZA" sz="1000">
                          <a:effectLst/>
                        </a:rPr>
                        <a:t>TCP</a:t>
                      </a:r>
                    </a:p>
                  </a:txBody>
                  <a:tcPr marL="55530" marR="55530" marT="27765" marB="27765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ru-RU" sz="1000">
                          <a:effectLst/>
                        </a:rPr>
                        <a:t>Программа </a:t>
                      </a:r>
                      <a:r>
                        <a:rPr lang="af-ZA" sz="1000">
                          <a:effectLst/>
                        </a:rPr>
                        <a:t>Telnet</a:t>
                      </a:r>
                    </a:p>
                  </a:txBody>
                  <a:tcPr marL="55530" marR="55530" marT="27765" marB="27765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551674022"/>
                  </a:ext>
                </a:extLst>
              </a:tr>
              <a:tr h="248586">
                <a:tc>
                  <a:txBody>
                    <a:bodyPr/>
                    <a:lstStyle/>
                    <a:p>
                      <a:pPr algn="ctr"/>
                      <a:r>
                        <a:rPr lang="ru-RU" sz="1000" dirty="0">
                          <a:effectLst/>
                        </a:rPr>
                        <a:t>25</a:t>
                      </a:r>
                    </a:p>
                  </a:txBody>
                  <a:tcPr marL="55530" marR="55530" marT="27765" marB="27765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af-ZA" sz="1000">
                          <a:effectLst/>
                        </a:rPr>
                        <a:t>TCP</a:t>
                      </a:r>
                    </a:p>
                  </a:txBody>
                  <a:tcPr marL="55530" marR="55530" marT="27765" marB="27765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ru-RU" sz="1000">
                          <a:effectLst/>
                        </a:rPr>
                        <a:t>Протокол </a:t>
                      </a:r>
                      <a:r>
                        <a:rPr lang="af-ZA" sz="1000">
                          <a:effectLst/>
                        </a:rPr>
                        <a:t>SMTP</a:t>
                      </a:r>
                    </a:p>
                  </a:txBody>
                  <a:tcPr marL="55530" marR="55530" marT="27765" marB="27765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1083581"/>
                  </a:ext>
                </a:extLst>
              </a:tr>
              <a:tr h="248586">
                <a:tc>
                  <a:txBody>
                    <a:bodyPr/>
                    <a:lstStyle/>
                    <a:p>
                      <a:pPr algn="ctr"/>
                      <a:r>
                        <a:rPr lang="ru-RU" sz="1000">
                          <a:effectLst/>
                        </a:rPr>
                        <a:t>53</a:t>
                      </a:r>
                    </a:p>
                  </a:txBody>
                  <a:tcPr marL="55530" marR="55530" marT="27765" marB="27765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af-ZA" sz="1000" dirty="0">
                          <a:effectLst/>
                        </a:rPr>
                        <a:t>UDP, TCP</a:t>
                      </a:r>
                    </a:p>
                  </a:txBody>
                  <a:tcPr marL="55530" marR="55530" marT="27765" marB="27765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ru-RU" sz="1000">
                          <a:effectLst/>
                        </a:rPr>
                        <a:t>Служба доменных имён (</a:t>
                      </a:r>
                      <a:r>
                        <a:rPr lang="af-ZA" sz="1000">
                          <a:effectLst/>
                        </a:rPr>
                        <a:t>DNS)</a:t>
                      </a:r>
                    </a:p>
                  </a:txBody>
                  <a:tcPr marL="55530" marR="55530" marT="27765" marB="27765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899083790"/>
                  </a:ext>
                </a:extLst>
              </a:tr>
              <a:tr h="433103">
                <a:tc>
                  <a:txBody>
                    <a:bodyPr/>
                    <a:lstStyle/>
                    <a:p>
                      <a:pPr algn="ctr"/>
                      <a:r>
                        <a:rPr lang="ru-RU" sz="1000">
                          <a:effectLst/>
                        </a:rPr>
                        <a:t>67</a:t>
                      </a:r>
                    </a:p>
                  </a:txBody>
                  <a:tcPr marL="55530" marR="55530" marT="27765" marB="27765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af-ZA" sz="1000" dirty="0">
                          <a:effectLst/>
                        </a:rPr>
                        <a:t>UDP</a:t>
                      </a:r>
                    </a:p>
                  </a:txBody>
                  <a:tcPr marL="55530" marR="55530" marT="27765" marB="27765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ru-RU" sz="1000">
                          <a:effectLst/>
                        </a:rPr>
                        <a:t>Сервер протокола динамической конфигурации узла (DHCP)</a:t>
                      </a:r>
                    </a:p>
                  </a:txBody>
                  <a:tcPr marL="55530" marR="55530" marT="27765" marB="27765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495882636"/>
                  </a:ext>
                </a:extLst>
              </a:tr>
              <a:tr h="433103">
                <a:tc>
                  <a:txBody>
                    <a:bodyPr/>
                    <a:lstStyle/>
                    <a:p>
                      <a:pPr algn="ctr"/>
                      <a:r>
                        <a:rPr lang="ru-RU" sz="1000">
                          <a:effectLst/>
                        </a:rPr>
                        <a:t>68</a:t>
                      </a:r>
                    </a:p>
                  </a:txBody>
                  <a:tcPr marL="55530" marR="55530" marT="27765" marB="27765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af-ZA" sz="1000" dirty="0">
                          <a:effectLst/>
                        </a:rPr>
                        <a:t>UDP</a:t>
                      </a:r>
                    </a:p>
                  </a:txBody>
                  <a:tcPr marL="55530" marR="55530" marT="27765" marB="27765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af-ZA" sz="1000">
                          <a:effectLst/>
                        </a:rPr>
                        <a:t>Dynamic Host Configuration Protocol (DHCP) — </a:t>
                      </a:r>
                      <a:r>
                        <a:rPr lang="ru-RU" sz="1000">
                          <a:effectLst/>
                        </a:rPr>
                        <a:t>клиент</a:t>
                      </a:r>
                    </a:p>
                  </a:txBody>
                  <a:tcPr marL="55530" marR="55530" marT="27765" marB="27765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991202852"/>
                  </a:ext>
                </a:extLst>
              </a:tr>
              <a:tr h="433103">
                <a:tc>
                  <a:txBody>
                    <a:bodyPr/>
                    <a:lstStyle/>
                    <a:p>
                      <a:pPr algn="ctr"/>
                      <a:r>
                        <a:rPr lang="ru-RU" sz="1000">
                          <a:effectLst/>
                        </a:rPr>
                        <a:t>69</a:t>
                      </a:r>
                    </a:p>
                  </a:txBody>
                  <a:tcPr marL="55530" marR="55530" marT="27765" marB="27765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af-ZA" sz="1000" dirty="0">
                          <a:effectLst/>
                        </a:rPr>
                        <a:t>UDP</a:t>
                      </a:r>
                    </a:p>
                  </a:txBody>
                  <a:tcPr marL="55530" marR="55530" marT="27765" marB="27765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ru-RU" sz="1000">
                          <a:effectLst/>
                        </a:rPr>
                        <a:t>Простейший протокол передачи файлов (TFTP)</a:t>
                      </a:r>
                    </a:p>
                  </a:txBody>
                  <a:tcPr marL="55530" marR="55530" marT="27765" marB="27765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495385690"/>
                  </a:ext>
                </a:extLst>
              </a:tr>
              <a:tr h="248586">
                <a:tc>
                  <a:txBody>
                    <a:bodyPr/>
                    <a:lstStyle/>
                    <a:p>
                      <a:pPr algn="ctr"/>
                      <a:r>
                        <a:rPr lang="ru-RU" sz="1000">
                          <a:effectLst/>
                        </a:rPr>
                        <a:t>80</a:t>
                      </a:r>
                    </a:p>
                  </a:txBody>
                  <a:tcPr marL="55530" marR="55530" marT="27765" marB="27765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af-ZA" sz="1000" dirty="0">
                          <a:effectLst/>
                        </a:rPr>
                        <a:t>TCP</a:t>
                      </a:r>
                    </a:p>
                  </a:txBody>
                  <a:tcPr marL="55530" marR="55530" marT="27765" marB="27765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ru-RU" sz="1000">
                          <a:effectLst/>
                        </a:rPr>
                        <a:t>Протокол </a:t>
                      </a:r>
                      <a:r>
                        <a:rPr lang="af-ZA" sz="1000">
                          <a:effectLst/>
                        </a:rPr>
                        <a:t>HTTP</a:t>
                      </a:r>
                    </a:p>
                  </a:txBody>
                  <a:tcPr marL="55530" marR="55530" marT="27765" marB="27765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9670139"/>
                  </a:ext>
                </a:extLst>
              </a:tr>
              <a:tr h="433103">
                <a:tc>
                  <a:txBody>
                    <a:bodyPr/>
                    <a:lstStyle/>
                    <a:p>
                      <a:pPr algn="ctr"/>
                      <a:r>
                        <a:rPr lang="ru-RU" sz="1000">
                          <a:effectLst/>
                        </a:rPr>
                        <a:t>110</a:t>
                      </a:r>
                    </a:p>
                  </a:txBody>
                  <a:tcPr marL="55530" marR="55530" marT="27765" marB="27765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af-ZA" sz="1000" dirty="0">
                          <a:effectLst/>
                        </a:rPr>
                        <a:t>TCP</a:t>
                      </a:r>
                    </a:p>
                  </a:txBody>
                  <a:tcPr marL="55530" marR="55530" marT="27765" marB="27765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ru-RU" sz="1000" dirty="0">
                          <a:effectLst/>
                        </a:rPr>
                        <a:t>Протокол почтового отделения (</a:t>
                      </a:r>
                      <a:r>
                        <a:rPr lang="af-ZA" sz="1000" dirty="0">
                          <a:effectLst/>
                        </a:rPr>
                        <a:t>POP3)</a:t>
                      </a:r>
                    </a:p>
                  </a:txBody>
                  <a:tcPr marL="55530" marR="55530" marT="27765" marB="27765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631980761"/>
                  </a:ext>
                </a:extLst>
              </a:tr>
              <a:tr h="248586">
                <a:tc>
                  <a:txBody>
                    <a:bodyPr/>
                    <a:lstStyle/>
                    <a:p>
                      <a:pPr algn="ctr"/>
                      <a:r>
                        <a:rPr lang="ru-RU" sz="1000">
                          <a:effectLst/>
                        </a:rPr>
                        <a:t>143</a:t>
                      </a:r>
                    </a:p>
                  </a:txBody>
                  <a:tcPr marL="55530" marR="55530" marT="27765" marB="27765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af-ZA" sz="1000">
                          <a:effectLst/>
                        </a:rPr>
                        <a:t>TCP</a:t>
                      </a:r>
                    </a:p>
                  </a:txBody>
                  <a:tcPr marL="55530" marR="55530" marT="27765" marB="27765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ru-RU" sz="1000" dirty="0">
                          <a:effectLst/>
                        </a:rPr>
                        <a:t>Протокол </a:t>
                      </a:r>
                      <a:r>
                        <a:rPr lang="af-ZA" sz="1000" dirty="0">
                          <a:effectLst/>
                        </a:rPr>
                        <a:t>IMAP</a:t>
                      </a:r>
                    </a:p>
                  </a:txBody>
                  <a:tcPr marL="55530" marR="55530" marT="27765" marB="27765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04775533"/>
                  </a:ext>
                </a:extLst>
              </a:tr>
              <a:tr h="248586">
                <a:tc>
                  <a:txBody>
                    <a:bodyPr/>
                    <a:lstStyle/>
                    <a:p>
                      <a:pPr algn="ctr"/>
                      <a:r>
                        <a:rPr lang="ru-RU" sz="1000">
                          <a:effectLst/>
                        </a:rPr>
                        <a:t>161</a:t>
                      </a:r>
                    </a:p>
                  </a:txBody>
                  <a:tcPr marL="55530" marR="55530" marT="27765" marB="27765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af-ZA" sz="1000">
                          <a:effectLst/>
                        </a:rPr>
                        <a:t>UDP</a:t>
                      </a:r>
                    </a:p>
                  </a:txBody>
                  <a:tcPr marL="55530" marR="55530" marT="27765" marB="27765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ru-RU" sz="1000" dirty="0">
                          <a:effectLst/>
                        </a:rPr>
                        <a:t>Протокол </a:t>
                      </a:r>
                      <a:r>
                        <a:rPr lang="af-ZA" sz="1000" dirty="0">
                          <a:effectLst/>
                        </a:rPr>
                        <a:t>SNMP</a:t>
                      </a:r>
                    </a:p>
                  </a:txBody>
                  <a:tcPr marL="55530" marR="55530" marT="27765" marB="27765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528587824"/>
                  </a:ext>
                </a:extLst>
              </a:tr>
              <a:tr h="433103">
                <a:tc>
                  <a:txBody>
                    <a:bodyPr/>
                    <a:lstStyle/>
                    <a:p>
                      <a:pPr algn="ctr"/>
                      <a:r>
                        <a:rPr lang="ru-RU" sz="1000">
                          <a:effectLst/>
                        </a:rPr>
                        <a:t>443</a:t>
                      </a:r>
                    </a:p>
                  </a:txBody>
                  <a:tcPr marL="55530" marR="55530" marT="27765" marB="27765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af-ZA" sz="1000">
                          <a:effectLst/>
                        </a:rPr>
                        <a:t>TCP</a:t>
                      </a:r>
                    </a:p>
                  </a:txBody>
                  <a:tcPr marL="55530" marR="55530" marT="27765" marB="27765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ru-RU" sz="1000" dirty="0">
                          <a:effectLst/>
                        </a:rPr>
                        <a:t>Защищённый протокол передачи гипертекста (HTTPS)</a:t>
                      </a:r>
                    </a:p>
                  </a:txBody>
                  <a:tcPr marL="55530" marR="55530" marT="27765" marB="27765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267450668"/>
                  </a:ext>
                </a:extLst>
              </a:tr>
            </a:tbl>
          </a:graphicData>
        </a:graphic>
      </p:graphicFrame>
      <p:sp>
        <p:nvSpPr>
          <p:cNvPr id="8" name="Rectangle 1"/>
          <p:cNvSpPr>
            <a:spLocks noChangeArrowheads="1"/>
          </p:cNvSpPr>
          <p:nvPr/>
        </p:nvSpPr>
        <p:spPr bwMode="auto">
          <a:xfrm>
            <a:off x="0" y="0"/>
            <a:ext cx="12192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ru-RU" altLang="ru-RU" sz="1800" b="0" i="0" u="none" strike="noStrike" cap="none" normalizeH="0" baseline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/>
            </a:r>
            <a:br>
              <a:rPr kumimoji="0" lang="ru-RU" altLang="ru-RU" sz="1800" b="0" i="0" u="none" strike="noStrike" cap="none" normalizeH="0" baseline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</a:br>
            <a:endParaRPr kumimoji="0" lang="ru-RU" altLang="ru-RU" sz="1800" b="0" i="0" u="none" strike="noStrike" cap="none" normalizeH="0" baseline="0" smtClean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39349433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 smtClean="0"/>
              <a:t>TCP. </a:t>
            </a:r>
            <a:r>
              <a:rPr lang="ru-RU" b="1" dirty="0" smtClean="0"/>
              <a:t>Установление соединения</a:t>
            </a:r>
            <a:endParaRPr lang="ru-RU" b="1" dirty="0"/>
          </a:p>
        </p:txBody>
      </p:sp>
      <p:pic>
        <p:nvPicPr>
          <p:cNvPr id="4" name="Объект 3"/>
          <p:cNvPicPr>
            <a:picLocks noGrp="1" noChangeAspect="1"/>
          </p:cNvPicPr>
          <p:nvPr>
            <p:ph sz="half" idx="1"/>
          </p:nvPr>
        </p:nvPicPr>
        <p:blipFill>
          <a:blip r:embed="rId2"/>
          <a:stretch>
            <a:fillRect/>
          </a:stretch>
        </p:blipFill>
        <p:spPr>
          <a:xfrm>
            <a:off x="101773" y="2409092"/>
            <a:ext cx="5994227" cy="3160400"/>
          </a:xfrm>
          <a:prstGeom prst="rect">
            <a:avLst/>
          </a:prstGeom>
        </p:spPr>
      </p:pic>
      <p:sp>
        <p:nvSpPr>
          <p:cNvPr id="5" name="Объект 4"/>
          <p:cNvSpPr>
            <a:spLocks noGrp="1"/>
          </p:cNvSpPr>
          <p:nvPr>
            <p:ph sz="half" idx="2"/>
          </p:nvPr>
        </p:nvSpPr>
        <p:spPr/>
        <p:txBody>
          <a:bodyPr>
            <a:normAutofit fontScale="92500" lnSpcReduction="10000"/>
          </a:bodyPr>
          <a:lstStyle/>
          <a:p>
            <a:pPr marL="0" indent="0">
              <a:buNone/>
            </a:pPr>
            <a:r>
              <a:rPr lang="ru-RU" dirty="0" smtClean="0"/>
              <a:t>Трехэтапное рукопожатие:</a:t>
            </a:r>
          </a:p>
          <a:p>
            <a:pPr marL="514350" indent="-514350">
              <a:buFont typeface="+mj-lt"/>
              <a:buAutoNum type="arabicPeriod"/>
            </a:pPr>
            <a:r>
              <a:rPr lang="ru-RU" dirty="0" smtClean="0"/>
              <a:t>Клиент запрашивает соединение отправляя</a:t>
            </a:r>
            <a:r>
              <a:rPr lang="en-US" dirty="0" smtClean="0"/>
              <a:t> </a:t>
            </a:r>
            <a:r>
              <a:rPr lang="ru-RU" dirty="0" smtClean="0"/>
              <a:t>сегмент с флагом </a:t>
            </a:r>
            <a:r>
              <a:rPr lang="en-US" dirty="0" smtClean="0"/>
              <a:t>SYN </a:t>
            </a:r>
            <a:r>
              <a:rPr lang="ru-RU" dirty="0" smtClean="0"/>
              <a:t>и свой </a:t>
            </a:r>
            <a:r>
              <a:rPr lang="en-US" dirty="0" smtClean="0"/>
              <a:t>ISN.</a:t>
            </a:r>
            <a:endParaRPr lang="ru-RU" dirty="0" smtClean="0"/>
          </a:p>
          <a:p>
            <a:pPr marL="514350" indent="-514350">
              <a:buFont typeface="+mj-lt"/>
              <a:buAutoNum type="arabicPeriod"/>
            </a:pPr>
            <a:r>
              <a:rPr lang="ru-RU" dirty="0" smtClean="0"/>
              <a:t>Сервер подтверждает сеанс сегментов с флагами </a:t>
            </a:r>
            <a:r>
              <a:rPr lang="en-US" dirty="0" smtClean="0"/>
              <a:t>SYN, ACK</a:t>
            </a:r>
            <a:r>
              <a:rPr lang="ru-RU" dirty="0" smtClean="0"/>
              <a:t>. </a:t>
            </a:r>
            <a:r>
              <a:rPr lang="en-US" dirty="0" smtClean="0"/>
              <a:t>ACK </a:t>
            </a:r>
            <a:r>
              <a:rPr lang="en-US" dirty="0" err="1" smtClean="0"/>
              <a:t>Num</a:t>
            </a:r>
            <a:r>
              <a:rPr lang="en-US" dirty="0" smtClean="0"/>
              <a:t> = ISN+1 </a:t>
            </a:r>
            <a:r>
              <a:rPr lang="ru-RU" dirty="0" smtClean="0"/>
              <a:t>и свой </a:t>
            </a:r>
            <a:r>
              <a:rPr lang="en-US" dirty="0" smtClean="0"/>
              <a:t>ISN.</a:t>
            </a:r>
            <a:endParaRPr lang="ru-RU" dirty="0" smtClean="0"/>
          </a:p>
          <a:p>
            <a:pPr marL="514350" indent="-514350">
              <a:buFont typeface="+mj-lt"/>
              <a:buAutoNum type="arabicPeriod"/>
            </a:pPr>
            <a:r>
              <a:rPr lang="ru-RU" dirty="0" smtClean="0"/>
              <a:t>Клиент завершает установление сеанса сегментом с флагом </a:t>
            </a:r>
            <a:r>
              <a:rPr lang="en-US" dirty="0" smtClean="0"/>
              <a:t>ACK </a:t>
            </a:r>
            <a:r>
              <a:rPr lang="ru-RU" dirty="0" smtClean="0"/>
              <a:t>и </a:t>
            </a:r>
            <a:r>
              <a:rPr lang="en-US" dirty="0" smtClean="0"/>
              <a:t>ACK </a:t>
            </a:r>
            <a:r>
              <a:rPr lang="en-US" dirty="0" err="1" smtClean="0"/>
              <a:t>Num</a:t>
            </a:r>
            <a:r>
              <a:rPr lang="en-US" dirty="0" smtClean="0"/>
              <a:t>=Server ISN+1</a:t>
            </a:r>
          </a:p>
          <a:p>
            <a:pPr marL="514350" indent="-514350">
              <a:buFont typeface="+mj-lt"/>
              <a:buAutoNum type="arabicPeriod"/>
            </a:pPr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87328429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 smtClean="0"/>
              <a:t>TCP. </a:t>
            </a:r>
            <a:r>
              <a:rPr lang="ru-RU" b="1" dirty="0" smtClean="0"/>
              <a:t>Завершение соединения</a:t>
            </a:r>
            <a:endParaRPr lang="ru-RU" b="1" dirty="0"/>
          </a:p>
        </p:txBody>
      </p:sp>
      <p:pic>
        <p:nvPicPr>
          <p:cNvPr id="5" name="Объект 4"/>
          <p:cNvPicPr>
            <a:picLocks noGrp="1" noChangeAspect="1"/>
          </p:cNvPicPr>
          <p:nvPr>
            <p:ph sz="half" idx="1"/>
          </p:nvPr>
        </p:nvPicPr>
        <p:blipFill>
          <a:blip r:embed="rId2"/>
          <a:stretch>
            <a:fillRect/>
          </a:stretch>
        </p:blipFill>
        <p:spPr>
          <a:xfrm>
            <a:off x="534865" y="2341693"/>
            <a:ext cx="5561135" cy="3232692"/>
          </a:xfrm>
          <a:prstGeom prst="rect">
            <a:avLst/>
          </a:prstGeom>
        </p:spPr>
      </p:pic>
      <p:sp>
        <p:nvSpPr>
          <p:cNvPr id="4" name="Объект 3"/>
          <p:cNvSpPr>
            <a:spLocks noGrp="1"/>
          </p:cNvSpPr>
          <p:nvPr>
            <p:ph sz="half" idx="2"/>
          </p:nvPr>
        </p:nvSpPr>
        <p:spPr/>
        <p:txBody>
          <a:bodyPr/>
          <a:lstStyle/>
          <a:p>
            <a:pPr marL="514350" indent="-514350">
              <a:buFont typeface="+mj-lt"/>
              <a:buAutoNum type="arabicPeriod"/>
            </a:pPr>
            <a:r>
              <a:rPr lang="ru-RU" dirty="0" smtClean="0"/>
              <a:t>Узел А отправляет сегмент с флагом </a:t>
            </a:r>
            <a:r>
              <a:rPr lang="en-US" dirty="0" smtClean="0"/>
              <a:t>FIN.</a:t>
            </a:r>
            <a:endParaRPr lang="ru-RU" dirty="0" smtClean="0"/>
          </a:p>
          <a:p>
            <a:pPr marL="514350" indent="-514350">
              <a:buFont typeface="+mj-lt"/>
              <a:buAutoNum type="arabicPeriod"/>
            </a:pPr>
            <a:r>
              <a:rPr lang="ru-RU" dirty="0" smtClean="0"/>
              <a:t>Узел В подтверждает завершение флагом </a:t>
            </a:r>
            <a:r>
              <a:rPr lang="en-US" dirty="0" smtClean="0"/>
              <a:t>ACK.</a:t>
            </a:r>
          </a:p>
          <a:p>
            <a:pPr marL="514350" indent="-514350">
              <a:buFont typeface="+mj-lt"/>
              <a:buAutoNum type="arabicPeriod"/>
            </a:pPr>
            <a:r>
              <a:rPr lang="ru-RU" dirty="0" smtClean="0"/>
              <a:t>Когда узел В понимает, что у него тоже больше нет данных – он отправляет сегмент с флагом </a:t>
            </a:r>
            <a:r>
              <a:rPr lang="en-US" dirty="0" smtClean="0"/>
              <a:t>FIN.</a:t>
            </a:r>
          </a:p>
          <a:p>
            <a:pPr marL="514350" indent="-514350">
              <a:buFont typeface="+mj-lt"/>
              <a:buAutoNum type="arabicPeriod"/>
            </a:pPr>
            <a:r>
              <a:rPr lang="ru-RU" dirty="0" smtClean="0"/>
              <a:t>Узел А подтверждает завершение флагом </a:t>
            </a:r>
            <a:r>
              <a:rPr lang="en-US" dirty="0" smtClean="0"/>
              <a:t>ACK.</a:t>
            </a:r>
          </a:p>
          <a:p>
            <a:pPr marL="514350" indent="-514350">
              <a:buFont typeface="+mj-lt"/>
              <a:buAutoNum type="arabicPeriod"/>
            </a:pPr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336545954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610821"/>
          </a:xfrm>
        </p:spPr>
        <p:txBody>
          <a:bodyPr>
            <a:normAutofit fontScale="90000"/>
          </a:bodyPr>
          <a:lstStyle/>
          <a:p>
            <a:r>
              <a:rPr lang="ru-RU" b="1" dirty="0" smtClean="0"/>
              <a:t>Надежная передача</a:t>
            </a:r>
            <a:r>
              <a:rPr lang="en-US" b="1" dirty="0" smtClean="0"/>
              <a:t>: Stop-and-Wait</a:t>
            </a:r>
            <a:endParaRPr lang="ru-RU" b="1" dirty="0"/>
          </a:p>
        </p:txBody>
      </p:sp>
      <p:pic>
        <p:nvPicPr>
          <p:cNvPr id="6" name="Объект 5"/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2891204" y="975946"/>
            <a:ext cx="6409592" cy="586243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5974022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838200" y="365126"/>
            <a:ext cx="10515600" cy="470144"/>
          </a:xfrm>
        </p:spPr>
        <p:txBody>
          <a:bodyPr>
            <a:normAutofit fontScale="90000"/>
          </a:bodyPr>
          <a:lstStyle/>
          <a:p>
            <a:r>
              <a:rPr lang="ru-RU" b="1" dirty="0"/>
              <a:t>Надежная передача</a:t>
            </a:r>
            <a:r>
              <a:rPr lang="en-US" b="1" dirty="0"/>
              <a:t>: Stop-and-Wait</a:t>
            </a:r>
            <a:endParaRPr lang="ru-RU" dirty="0"/>
          </a:p>
        </p:txBody>
      </p:sp>
      <p:pic>
        <p:nvPicPr>
          <p:cNvPr id="4" name="Объект 3"/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3622432" y="1175147"/>
            <a:ext cx="4185290" cy="526558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0338363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af-ZA" b="1" dirty="0"/>
              <a:t>Bandwidth-Delay Product</a:t>
            </a:r>
            <a:endParaRPr lang="ru-RU" b="1" dirty="0"/>
          </a:p>
        </p:txBody>
      </p:sp>
      <p:pic>
        <p:nvPicPr>
          <p:cNvPr id="2050" name="Picture 2" descr="Performance of a Network - GeeksforGeeks"/>
          <p:cNvPicPr>
            <a:picLocks noGrp="1" noChangeAspect="1" noChangeArrowheads="1"/>
          </p:cNvPicPr>
          <p:nvPr>
            <p:ph sz="half"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 bwMode="auto">
          <a:xfrm>
            <a:off x="838200" y="2083659"/>
            <a:ext cx="5181600" cy="383526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4" name="Объект 3"/>
          <p:cNvSpPr>
            <a:spLocks noGrp="1"/>
          </p:cNvSpPr>
          <p:nvPr>
            <p:ph sz="half" idx="2"/>
          </p:nvPr>
        </p:nvSpPr>
        <p:spPr>
          <a:xfrm>
            <a:off x="6260123" y="2553371"/>
            <a:ext cx="5181600" cy="2895844"/>
          </a:xfrm>
        </p:spPr>
        <p:txBody>
          <a:bodyPr/>
          <a:lstStyle/>
          <a:p>
            <a:pPr marL="0" indent="0">
              <a:buNone/>
            </a:pPr>
            <a:r>
              <a:rPr lang="af-ZA" dirty="0" smtClean="0"/>
              <a:t>BDP</a:t>
            </a:r>
            <a:r>
              <a:rPr lang="af-ZA" dirty="0"/>
              <a:t>, Bandwidth-Delay Product </a:t>
            </a:r>
            <a:r>
              <a:rPr lang="af-ZA" dirty="0" smtClean="0"/>
              <a:t>- </a:t>
            </a:r>
            <a:r>
              <a:rPr lang="ru-RU" dirty="0"/>
              <a:t>п</a:t>
            </a:r>
            <a:r>
              <a:rPr lang="ru-RU" dirty="0" smtClean="0"/>
              <a:t>роизведение </a:t>
            </a:r>
            <a:r>
              <a:rPr lang="ru-RU" dirty="0"/>
              <a:t>круговой задержки на пропускную </a:t>
            </a:r>
            <a:r>
              <a:rPr lang="ru-RU" dirty="0" smtClean="0"/>
              <a:t>способность, отражает максимальный </a:t>
            </a:r>
            <a:r>
              <a:rPr lang="ru-RU" dirty="0"/>
              <a:t>объем неподтвержденных данных в канале</a:t>
            </a:r>
          </a:p>
        </p:txBody>
      </p:sp>
    </p:spTree>
    <p:extLst>
      <p:ext uri="{BB962C8B-B14F-4D97-AF65-F5344CB8AC3E}">
        <p14:creationId xmlns:p14="http://schemas.microsoft.com/office/powerpoint/2010/main" val="346640715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b="1" dirty="0"/>
              <a:t>Надежная передача</a:t>
            </a:r>
            <a:r>
              <a:rPr lang="en-US" b="1" dirty="0"/>
              <a:t>: </a:t>
            </a:r>
            <a:r>
              <a:rPr lang="af-ZA" b="1" dirty="0"/>
              <a:t>Sliding Window</a:t>
            </a:r>
          </a:p>
        </p:txBody>
      </p:sp>
      <p:pic>
        <p:nvPicPr>
          <p:cNvPr id="7" name="Объект 6"/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5798610" y="1503691"/>
            <a:ext cx="6292194" cy="5033756"/>
          </a:xfrm>
          <a:prstGeom prst="rect">
            <a:avLst/>
          </a:prstGeom>
        </p:spPr>
      </p:pic>
      <p:sp>
        <p:nvSpPr>
          <p:cNvPr id="3" name="Прямоугольник 2"/>
          <p:cNvSpPr/>
          <p:nvPr/>
        </p:nvSpPr>
        <p:spPr>
          <a:xfrm>
            <a:off x="310660" y="2344352"/>
            <a:ext cx="5646211" cy="3108543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ru-RU" sz="2800" dirty="0">
                <a:latin typeface="Google Sans"/>
              </a:rPr>
              <a:t>Алгоритм скользящего </a:t>
            </a:r>
            <a:r>
              <a:rPr lang="ru-RU" sz="2800" dirty="0" smtClean="0">
                <a:latin typeface="Google Sans"/>
              </a:rPr>
              <a:t>окна — </a:t>
            </a:r>
            <a:r>
              <a:rPr lang="ru-RU" sz="2800" dirty="0">
                <a:latin typeface="Google Sans"/>
              </a:rPr>
              <a:t>это метод управления потоком данных, который позволяет передавать несколько пакетов подряд без ожидания подтверждения для каждого из </a:t>
            </a:r>
            <a:r>
              <a:rPr lang="ru-RU" sz="2800" dirty="0" smtClean="0">
                <a:latin typeface="Google Sans"/>
              </a:rPr>
              <a:t>них.</a:t>
            </a:r>
            <a:endParaRPr lang="ru-RU" sz="2800" dirty="0"/>
          </a:p>
        </p:txBody>
      </p:sp>
    </p:spTree>
    <p:extLst>
      <p:ext uri="{BB962C8B-B14F-4D97-AF65-F5344CB8AC3E}">
        <p14:creationId xmlns:p14="http://schemas.microsoft.com/office/powerpoint/2010/main" val="150871853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838200" y="365126"/>
            <a:ext cx="10515600" cy="650262"/>
          </a:xfrm>
        </p:spPr>
        <p:txBody>
          <a:bodyPr>
            <a:normAutofit fontScale="90000"/>
          </a:bodyPr>
          <a:lstStyle/>
          <a:p>
            <a:r>
              <a:rPr lang="ru-RU" b="1" dirty="0"/>
              <a:t>Надежная передача</a:t>
            </a:r>
            <a:r>
              <a:rPr lang="en-US" b="1" dirty="0"/>
              <a:t>: </a:t>
            </a:r>
            <a:r>
              <a:rPr lang="af-ZA" b="1" dirty="0"/>
              <a:t>Sliding Window</a:t>
            </a:r>
            <a:endParaRPr lang="ru-RU" dirty="0"/>
          </a:p>
        </p:txBody>
      </p:sp>
      <p:pic>
        <p:nvPicPr>
          <p:cNvPr id="6" name="Объект 5"/>
          <p:cNvPicPr>
            <a:picLocks noGrp="1" noChangeAspect="1"/>
          </p:cNvPicPr>
          <p:nvPr>
            <p:ph sz="half" idx="1"/>
          </p:nvPr>
        </p:nvPicPr>
        <p:blipFill>
          <a:blip r:embed="rId2"/>
          <a:stretch>
            <a:fillRect/>
          </a:stretch>
        </p:blipFill>
        <p:spPr>
          <a:xfrm>
            <a:off x="1409331" y="4444637"/>
            <a:ext cx="9373337" cy="2149594"/>
          </a:xfrm>
          <a:prstGeom prst="rect">
            <a:avLst/>
          </a:prstGeom>
        </p:spPr>
      </p:pic>
      <p:sp>
        <p:nvSpPr>
          <p:cNvPr id="5" name="Объект 4"/>
          <p:cNvSpPr>
            <a:spLocks noGrp="1"/>
          </p:cNvSpPr>
          <p:nvPr>
            <p:ph sz="half" idx="2"/>
          </p:nvPr>
        </p:nvSpPr>
        <p:spPr>
          <a:xfrm>
            <a:off x="729762" y="1107831"/>
            <a:ext cx="10624038" cy="2963007"/>
          </a:xfrm>
        </p:spPr>
        <p:txBody>
          <a:bodyPr>
            <a:normAutofit fontScale="92500" lnSpcReduction="10000"/>
          </a:bodyPr>
          <a:lstStyle/>
          <a:p>
            <a:pPr marL="0" indent="0">
              <a:buNone/>
            </a:pPr>
            <a:r>
              <a:rPr lang="ru-RU" dirty="0"/>
              <a:t>Отправитель поддерживает три переменные:</a:t>
            </a:r>
          </a:p>
          <a:p>
            <a:r>
              <a:rPr lang="ru-RU" dirty="0"/>
              <a:t>SWS, </a:t>
            </a:r>
            <a:r>
              <a:rPr lang="ru-RU" dirty="0" err="1"/>
              <a:t>Window</a:t>
            </a:r>
            <a:r>
              <a:rPr lang="ru-RU" dirty="0"/>
              <a:t> </a:t>
            </a:r>
            <a:r>
              <a:rPr lang="ru-RU" dirty="0" err="1"/>
              <a:t>Size</a:t>
            </a:r>
            <a:r>
              <a:rPr lang="ru-RU" dirty="0"/>
              <a:t> </a:t>
            </a:r>
            <a:r>
              <a:rPr lang="ru-RU" dirty="0" smtClean="0"/>
              <a:t>- верхняя граница </a:t>
            </a:r>
            <a:r>
              <a:rPr lang="ru-RU" dirty="0"/>
              <a:t>неподтвержденных сегментов, которые отправитель может передать.</a:t>
            </a:r>
          </a:p>
          <a:p>
            <a:r>
              <a:rPr lang="ru-RU" dirty="0"/>
              <a:t>LAR, </a:t>
            </a:r>
            <a:r>
              <a:rPr lang="ru-RU" dirty="0" err="1"/>
              <a:t>last</a:t>
            </a:r>
            <a:r>
              <a:rPr lang="ru-RU" dirty="0"/>
              <a:t> </a:t>
            </a:r>
            <a:r>
              <a:rPr lang="ru-RU" dirty="0" err="1"/>
              <a:t>acknowledgment</a:t>
            </a:r>
            <a:r>
              <a:rPr lang="ru-RU" dirty="0"/>
              <a:t> </a:t>
            </a:r>
            <a:r>
              <a:rPr lang="ru-RU" dirty="0" err="1"/>
              <a:t>received</a:t>
            </a:r>
            <a:r>
              <a:rPr lang="ru-RU" dirty="0"/>
              <a:t> </a:t>
            </a:r>
            <a:r>
              <a:rPr lang="ru-RU" dirty="0" smtClean="0"/>
              <a:t>- Номер </a:t>
            </a:r>
            <a:r>
              <a:rPr lang="ru-RU" dirty="0"/>
              <a:t>последнего подтвержденного </a:t>
            </a:r>
            <a:r>
              <a:rPr lang="ru-RU" dirty="0" smtClean="0"/>
              <a:t>сегмента.</a:t>
            </a:r>
            <a:endParaRPr lang="ru-RU" dirty="0"/>
          </a:p>
          <a:p>
            <a:r>
              <a:rPr lang="ru-RU" dirty="0"/>
              <a:t>LSS, </a:t>
            </a:r>
            <a:r>
              <a:rPr lang="ru-RU" dirty="0" err="1"/>
              <a:t>Last</a:t>
            </a:r>
            <a:r>
              <a:rPr lang="ru-RU" dirty="0"/>
              <a:t> </a:t>
            </a:r>
            <a:r>
              <a:rPr lang="ru-RU" dirty="0" err="1"/>
              <a:t>Segment</a:t>
            </a:r>
            <a:r>
              <a:rPr lang="ru-RU" dirty="0"/>
              <a:t> </a:t>
            </a:r>
            <a:r>
              <a:rPr lang="ru-RU" dirty="0" err="1"/>
              <a:t>Sent</a:t>
            </a:r>
            <a:r>
              <a:rPr lang="ru-RU" dirty="0"/>
              <a:t> </a:t>
            </a:r>
            <a:r>
              <a:rPr lang="ru-RU" dirty="0" smtClean="0"/>
              <a:t>- Номер </a:t>
            </a:r>
            <a:r>
              <a:rPr lang="ru-RU" dirty="0"/>
              <a:t>последнего отправленного </a:t>
            </a:r>
            <a:r>
              <a:rPr lang="ru-RU" dirty="0" smtClean="0"/>
              <a:t>сегмента.</a:t>
            </a:r>
          </a:p>
          <a:p>
            <a:pPr marL="0" indent="0" algn="ctr">
              <a:buNone/>
            </a:pPr>
            <a:r>
              <a:rPr lang="af-ZA" dirty="0"/>
              <a:t>LSS - LAR &lt;= SWS</a:t>
            </a:r>
            <a:endParaRPr lang="ru-RU" dirty="0"/>
          </a:p>
          <a:p>
            <a:endParaRPr lang="ru-RU" dirty="0" smtClean="0"/>
          </a:p>
          <a:p>
            <a:endParaRPr lang="ru-RU" dirty="0"/>
          </a:p>
          <a:p>
            <a:pPr marL="0" indent="0">
              <a:buNone/>
            </a:pPr>
            <a:endParaRPr lang="ru-RU" dirty="0"/>
          </a:p>
          <a:p>
            <a:pPr marL="0" indent="0">
              <a:buNone/>
            </a:pPr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244862969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838200" y="365126"/>
            <a:ext cx="10515600" cy="742706"/>
          </a:xfrm>
        </p:spPr>
        <p:txBody>
          <a:bodyPr/>
          <a:lstStyle/>
          <a:p>
            <a:r>
              <a:rPr lang="ru-RU" b="1" dirty="0"/>
              <a:t>Надежная передача</a:t>
            </a:r>
            <a:r>
              <a:rPr lang="en-US" b="1" dirty="0"/>
              <a:t>: </a:t>
            </a:r>
            <a:r>
              <a:rPr lang="af-ZA" b="1" dirty="0" smtClean="0"/>
              <a:t>Sliding Window</a:t>
            </a:r>
            <a:endParaRPr lang="ru-RU" dirty="0"/>
          </a:p>
        </p:txBody>
      </p:sp>
      <p:pic>
        <p:nvPicPr>
          <p:cNvPr id="5" name="Объект 4"/>
          <p:cNvPicPr>
            <a:picLocks noGrp="1" noChangeAspect="1"/>
          </p:cNvPicPr>
          <p:nvPr>
            <p:ph sz="half" idx="1"/>
          </p:nvPr>
        </p:nvPicPr>
        <p:blipFill>
          <a:blip r:embed="rId2"/>
          <a:stretch>
            <a:fillRect/>
          </a:stretch>
        </p:blipFill>
        <p:spPr>
          <a:xfrm>
            <a:off x="1375996" y="4358402"/>
            <a:ext cx="9440008" cy="2190757"/>
          </a:xfrm>
          <a:prstGeom prst="rect">
            <a:avLst/>
          </a:prstGeom>
        </p:spPr>
      </p:pic>
      <p:sp>
        <p:nvSpPr>
          <p:cNvPr id="4" name="Объект 3"/>
          <p:cNvSpPr>
            <a:spLocks noGrp="1"/>
          </p:cNvSpPr>
          <p:nvPr>
            <p:ph sz="half" idx="2"/>
          </p:nvPr>
        </p:nvSpPr>
        <p:spPr>
          <a:xfrm>
            <a:off x="838200" y="1257300"/>
            <a:ext cx="10515600" cy="3033345"/>
          </a:xfrm>
        </p:spPr>
        <p:txBody>
          <a:bodyPr>
            <a:normAutofit fontScale="92500" lnSpcReduction="10000"/>
          </a:bodyPr>
          <a:lstStyle/>
          <a:p>
            <a:pPr marL="0" indent="0">
              <a:buNone/>
            </a:pPr>
            <a:r>
              <a:rPr lang="ru-RU" dirty="0"/>
              <a:t>Получатель поддерживает свои три переменные</a:t>
            </a:r>
            <a:r>
              <a:rPr lang="ru-RU" dirty="0" smtClean="0"/>
              <a:t>:</a:t>
            </a:r>
            <a:endParaRPr lang="ru-RU" dirty="0"/>
          </a:p>
          <a:p>
            <a:r>
              <a:rPr lang="ru-RU" dirty="0" smtClean="0"/>
              <a:t>RWS </a:t>
            </a:r>
            <a:r>
              <a:rPr lang="ru-RU" dirty="0"/>
              <a:t>- указывает верхнюю границу поступивших не по порядку кадров, которые получатель готов принять.</a:t>
            </a:r>
          </a:p>
          <a:p>
            <a:r>
              <a:rPr lang="ru-RU" dirty="0" smtClean="0"/>
              <a:t>LAS</a:t>
            </a:r>
            <a:r>
              <a:rPr lang="ru-RU" dirty="0"/>
              <a:t>, </a:t>
            </a:r>
            <a:r>
              <a:rPr lang="ru-RU" dirty="0" err="1"/>
              <a:t>largest</a:t>
            </a:r>
            <a:r>
              <a:rPr lang="ru-RU" dirty="0"/>
              <a:t> </a:t>
            </a:r>
            <a:r>
              <a:rPr lang="ru-RU" dirty="0" err="1"/>
              <a:t>acceptable</a:t>
            </a:r>
            <a:r>
              <a:rPr lang="ru-RU" dirty="0"/>
              <a:t> </a:t>
            </a:r>
            <a:r>
              <a:rPr lang="ru-RU" dirty="0" err="1" smtClean="0"/>
              <a:t>segment</a:t>
            </a:r>
            <a:r>
              <a:rPr lang="ru-RU" dirty="0" smtClean="0"/>
              <a:t> </a:t>
            </a:r>
            <a:r>
              <a:rPr lang="ru-RU" dirty="0"/>
              <a:t>- самый большой номер сегмента, который получатель готов принять.</a:t>
            </a:r>
          </a:p>
          <a:p>
            <a:r>
              <a:rPr lang="ru-RU" dirty="0"/>
              <a:t>Номер последнего полученного сегмента (LSR</a:t>
            </a:r>
            <a:r>
              <a:rPr lang="ru-RU" dirty="0" smtClean="0"/>
              <a:t>).</a:t>
            </a:r>
          </a:p>
          <a:p>
            <a:pPr marL="0" indent="0" algn="ctr">
              <a:buNone/>
            </a:pPr>
            <a:r>
              <a:rPr lang="af-ZA" dirty="0"/>
              <a:t>LAS - LSR &lt;= RWS</a:t>
            </a:r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77892333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Заголовок 4"/>
          <p:cNvSpPr>
            <a:spLocks noGrp="1"/>
          </p:cNvSpPr>
          <p:nvPr>
            <p:ph type="title"/>
          </p:nvPr>
        </p:nvSpPr>
        <p:spPr>
          <a:xfrm>
            <a:off x="495300" y="319465"/>
            <a:ext cx="11110546" cy="689952"/>
          </a:xfrm>
        </p:spPr>
        <p:txBody>
          <a:bodyPr>
            <a:normAutofit fontScale="90000"/>
          </a:bodyPr>
          <a:lstStyle/>
          <a:p>
            <a:r>
              <a:rPr lang="ru-RU" b="1" dirty="0"/>
              <a:t>Надежная передача</a:t>
            </a:r>
            <a:r>
              <a:rPr lang="en-US" b="1" dirty="0"/>
              <a:t>: </a:t>
            </a:r>
            <a:r>
              <a:rPr lang="ru-RU" b="1" dirty="0" smtClean="0"/>
              <a:t>кумулятивной подтверждение</a:t>
            </a:r>
            <a:endParaRPr lang="ru-RU" dirty="0"/>
          </a:p>
        </p:txBody>
      </p:sp>
      <p:pic>
        <p:nvPicPr>
          <p:cNvPr id="7" name="Объект 6"/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5776588" y="1009417"/>
            <a:ext cx="5632856" cy="5848583"/>
          </a:xfrm>
          <a:prstGeom prst="rect">
            <a:avLst/>
          </a:prstGeom>
        </p:spPr>
      </p:pic>
      <p:sp>
        <p:nvSpPr>
          <p:cNvPr id="2" name="TextBox 1"/>
          <p:cNvSpPr txBox="1"/>
          <p:nvPr/>
        </p:nvSpPr>
        <p:spPr>
          <a:xfrm>
            <a:off x="290146" y="2769577"/>
            <a:ext cx="5161084" cy="181588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sz="2800" dirty="0" smtClean="0"/>
              <a:t>Кумулятивное подтверждение – номер в квитанции означает, что все данные до этого номера также успешно получены.</a:t>
            </a:r>
            <a:endParaRPr lang="ru-RU" sz="2800" dirty="0"/>
          </a:p>
        </p:txBody>
      </p:sp>
    </p:spTree>
    <p:extLst>
      <p:ext uri="{BB962C8B-B14F-4D97-AF65-F5344CB8AC3E}">
        <p14:creationId xmlns:p14="http://schemas.microsoft.com/office/powerpoint/2010/main" val="337594599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b="1" dirty="0"/>
              <a:t>Надёжная доставка </a:t>
            </a:r>
            <a:r>
              <a:rPr lang="af-ZA" b="1" dirty="0" smtClean="0"/>
              <a:t>TCP</a:t>
            </a:r>
            <a:endParaRPr lang="ru-RU" dirty="0"/>
          </a:p>
        </p:txBody>
      </p:sp>
      <p:pic>
        <p:nvPicPr>
          <p:cNvPr id="4" name="Объект 3"/>
          <p:cNvPicPr>
            <a:picLocks noGrp="1" noChangeAspect="1"/>
          </p:cNvPicPr>
          <p:nvPr>
            <p:ph sz="half" idx="1"/>
          </p:nvPr>
        </p:nvPicPr>
        <p:blipFill>
          <a:blip r:embed="rId2"/>
          <a:stretch>
            <a:fillRect/>
          </a:stretch>
        </p:blipFill>
        <p:spPr>
          <a:xfrm>
            <a:off x="465993" y="1512326"/>
            <a:ext cx="5516510" cy="5241703"/>
          </a:xfrm>
          <a:prstGeom prst="rect">
            <a:avLst/>
          </a:prstGeom>
        </p:spPr>
      </p:pic>
      <p:sp>
        <p:nvSpPr>
          <p:cNvPr id="5" name="Объект 4"/>
          <p:cNvSpPr>
            <a:spLocks noGrp="1"/>
          </p:cNvSpPr>
          <p:nvPr>
            <p:ph sz="half" idx="2"/>
          </p:nvPr>
        </p:nvSpPr>
        <p:spPr>
          <a:xfrm>
            <a:off x="6172199" y="2478636"/>
            <a:ext cx="5794131" cy="2691241"/>
          </a:xfrm>
        </p:spPr>
        <p:txBody>
          <a:bodyPr/>
          <a:lstStyle/>
          <a:p>
            <a:pPr marL="0" indent="0">
              <a:buNone/>
            </a:pPr>
            <a:r>
              <a:rPr lang="en-US" dirty="0" smtClean="0"/>
              <a:t>TCP </a:t>
            </a:r>
            <a:r>
              <a:rPr lang="ru-RU" dirty="0" smtClean="0"/>
              <a:t>принимает от приложения поток байтов, который «нарезается» на сегменты и передаётся в сеть.</a:t>
            </a:r>
            <a:endParaRPr lang="ru-RU" dirty="0"/>
          </a:p>
          <a:p>
            <a:pPr marL="0" indent="0">
              <a:buNone/>
            </a:pPr>
            <a:r>
              <a:rPr lang="ru-RU" dirty="0" smtClean="0"/>
              <a:t>Тем не менее, в </a:t>
            </a:r>
            <a:r>
              <a:rPr lang="en-US" dirty="0" smtClean="0"/>
              <a:t>TCP </a:t>
            </a:r>
            <a:r>
              <a:rPr lang="ru-RU" dirty="0" smtClean="0"/>
              <a:t>скользящее окно двигается по потоку байтов, а не по сегментам.</a:t>
            </a:r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276759774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b="1" dirty="0"/>
              <a:t>Надёжная доставка </a:t>
            </a:r>
            <a:r>
              <a:rPr lang="af-ZA" b="1" dirty="0"/>
              <a:t>TCP</a:t>
            </a:r>
            <a:endParaRPr lang="ru-RU" dirty="0"/>
          </a:p>
        </p:txBody>
      </p:sp>
      <p:pic>
        <p:nvPicPr>
          <p:cNvPr id="5" name="Объект 4"/>
          <p:cNvPicPr>
            <a:picLocks noGrp="1" noChangeAspect="1"/>
          </p:cNvPicPr>
          <p:nvPr>
            <p:ph sz="half" idx="1"/>
          </p:nvPr>
        </p:nvPicPr>
        <p:blipFill>
          <a:blip r:embed="rId2"/>
          <a:stretch>
            <a:fillRect/>
          </a:stretch>
        </p:blipFill>
        <p:spPr>
          <a:xfrm>
            <a:off x="684021" y="1825625"/>
            <a:ext cx="5308303" cy="2488650"/>
          </a:xfrm>
          <a:prstGeom prst="rect">
            <a:avLst/>
          </a:prstGeom>
        </p:spPr>
      </p:pic>
      <p:sp>
        <p:nvSpPr>
          <p:cNvPr id="4" name="Объект 3"/>
          <p:cNvSpPr>
            <a:spLocks noGrp="1"/>
          </p:cNvSpPr>
          <p:nvPr>
            <p:ph sz="half" idx="2"/>
          </p:nvPr>
        </p:nvSpPr>
        <p:spPr/>
        <p:txBody>
          <a:bodyPr/>
          <a:lstStyle/>
          <a:p>
            <a:pPr marL="0" indent="0">
              <a:buNone/>
            </a:pPr>
            <a:r>
              <a:rPr lang="en-US" b="1" i="1" dirty="0" smtClean="0"/>
              <a:t>Sequence </a:t>
            </a:r>
            <a:r>
              <a:rPr lang="en-US" b="1" i="1" dirty="0" err="1" smtClean="0"/>
              <a:t>Num</a:t>
            </a:r>
            <a:r>
              <a:rPr lang="en-US" b="1" i="1" dirty="0" smtClean="0"/>
              <a:t> </a:t>
            </a:r>
            <a:r>
              <a:rPr lang="en-US" i="1" dirty="0" smtClean="0"/>
              <a:t>– </a:t>
            </a:r>
            <a:r>
              <a:rPr lang="ru-RU" dirty="0" smtClean="0"/>
              <a:t>последовательный номер. Номер первого байта сегмента.</a:t>
            </a:r>
            <a:endParaRPr lang="en-US" i="1" dirty="0"/>
          </a:p>
          <a:p>
            <a:pPr marL="0" indent="0">
              <a:buNone/>
            </a:pPr>
            <a:r>
              <a:rPr lang="ru-RU" b="1" i="1" dirty="0" smtClean="0"/>
              <a:t>Н</a:t>
            </a:r>
            <a:r>
              <a:rPr lang="ru-RU" b="1" i="1" dirty="0" smtClean="0"/>
              <a:t>ачальный последовательный номер</a:t>
            </a:r>
            <a:r>
              <a:rPr lang="ru-RU" b="1" dirty="0"/>
              <a:t> (</a:t>
            </a:r>
            <a:r>
              <a:rPr lang="ru-RU" b="1" dirty="0" err="1"/>
              <a:t>Init</a:t>
            </a:r>
            <a:r>
              <a:rPr lang="ru-RU" b="1" dirty="0"/>
              <a:t> </a:t>
            </a:r>
            <a:r>
              <a:rPr lang="ru-RU" b="1" dirty="0" err="1"/>
              <a:t>Seq</a:t>
            </a:r>
            <a:r>
              <a:rPr lang="ru-RU" b="1" dirty="0"/>
              <a:t> </a:t>
            </a:r>
            <a:r>
              <a:rPr lang="ru-RU" b="1" dirty="0" err="1"/>
              <a:t>Num</a:t>
            </a:r>
            <a:r>
              <a:rPr lang="ru-RU" b="1" dirty="0" smtClean="0"/>
              <a:t>)</a:t>
            </a:r>
            <a:r>
              <a:rPr lang="ru-RU" dirty="0" smtClean="0"/>
              <a:t> – номер, с которого будет вестись отсчет </a:t>
            </a:r>
            <a:r>
              <a:rPr lang="en-US" dirty="0" err="1" smtClean="0"/>
              <a:t>SeqNum</a:t>
            </a:r>
            <a:r>
              <a:rPr lang="ru-RU" dirty="0" smtClean="0"/>
              <a:t>.</a:t>
            </a:r>
            <a:endParaRPr lang="ru-RU" dirty="0"/>
          </a:p>
          <a:p>
            <a:pPr marL="0" indent="0">
              <a:buNone/>
            </a:pPr>
            <a:r>
              <a:rPr lang="en-US" b="1" dirty="0" smtClean="0"/>
              <a:t>ACK </a:t>
            </a:r>
            <a:r>
              <a:rPr lang="en-US" b="1" dirty="0" err="1" smtClean="0"/>
              <a:t>Num</a:t>
            </a:r>
            <a:r>
              <a:rPr lang="en-US" b="1" dirty="0"/>
              <a:t> </a:t>
            </a:r>
            <a:r>
              <a:rPr lang="en-US" dirty="0" smtClean="0"/>
              <a:t>- </a:t>
            </a:r>
            <a:r>
              <a:rPr lang="ru-RU" dirty="0" smtClean="0"/>
              <a:t>Максимальный полученный байт + 1</a:t>
            </a:r>
            <a:endParaRPr lang="ru-RU" dirty="0"/>
          </a:p>
        </p:txBody>
      </p:sp>
      <p:pic>
        <p:nvPicPr>
          <p:cNvPr id="6" name="Рисунок 5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38200" y="4975714"/>
            <a:ext cx="4772025" cy="9334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7374755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Заголовок 4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b="1" dirty="0"/>
              <a:t>Надёжная доставка </a:t>
            </a:r>
            <a:r>
              <a:rPr lang="af-ZA" b="1" dirty="0"/>
              <a:t>TCP</a:t>
            </a:r>
            <a:endParaRPr lang="ru-RU" dirty="0"/>
          </a:p>
        </p:txBody>
      </p:sp>
      <p:pic>
        <p:nvPicPr>
          <p:cNvPr id="7" name="Объект 6"/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3160909" y="1816831"/>
            <a:ext cx="5870182" cy="496922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5383824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838200" y="171694"/>
            <a:ext cx="10515600" cy="1325563"/>
          </a:xfrm>
        </p:spPr>
        <p:txBody>
          <a:bodyPr/>
          <a:lstStyle/>
          <a:p>
            <a:r>
              <a:rPr lang="ru-RU" b="1" dirty="0"/>
              <a:t>Надёжная доставка </a:t>
            </a:r>
            <a:r>
              <a:rPr lang="af-ZA" b="1" dirty="0"/>
              <a:t>TCP</a:t>
            </a:r>
            <a:endParaRPr lang="ru-RU" dirty="0"/>
          </a:p>
        </p:txBody>
      </p:sp>
      <p:pic>
        <p:nvPicPr>
          <p:cNvPr id="4" name="Объект 3"/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3011523" y="1314613"/>
            <a:ext cx="6168954" cy="540747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7109942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Объект 3"/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4044555" y="195595"/>
            <a:ext cx="4102890" cy="633306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8188142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786667"/>
          </a:xfrm>
        </p:spPr>
        <p:txBody>
          <a:bodyPr/>
          <a:lstStyle/>
          <a:p>
            <a:r>
              <a:rPr lang="en-US" b="1" dirty="0" smtClean="0"/>
              <a:t>TCP </a:t>
            </a:r>
            <a:r>
              <a:rPr lang="ru-RU" b="1" dirty="0" smtClean="0"/>
              <a:t>заголовок</a:t>
            </a:r>
            <a:endParaRPr lang="ru-RU" b="1" dirty="0"/>
          </a:p>
        </p:txBody>
      </p:sp>
      <p:pic>
        <p:nvPicPr>
          <p:cNvPr id="4" name="Объект 3"/>
          <p:cNvPicPr>
            <a:picLocks noGrp="1" noChangeAspect="1"/>
          </p:cNvPicPr>
          <p:nvPr>
            <p:ph sz="half" idx="1"/>
          </p:nvPr>
        </p:nvPicPr>
        <p:blipFill>
          <a:blip r:embed="rId2"/>
          <a:stretch>
            <a:fillRect/>
          </a:stretch>
        </p:blipFill>
        <p:spPr>
          <a:xfrm>
            <a:off x="3016629" y="1019907"/>
            <a:ext cx="6158741" cy="575256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00881749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 smtClean="0"/>
              <a:t>TCP Window Scaling</a:t>
            </a:r>
            <a:endParaRPr lang="ru-RU" b="1" dirty="0"/>
          </a:p>
        </p:txBody>
      </p:sp>
      <p:pic>
        <p:nvPicPr>
          <p:cNvPr id="5" name="Объект 4"/>
          <p:cNvPicPr>
            <a:picLocks noGrp="1" noChangeAspect="1"/>
          </p:cNvPicPr>
          <p:nvPr>
            <p:ph sz="half" idx="1"/>
          </p:nvPr>
        </p:nvPicPr>
        <p:blipFill>
          <a:blip r:embed="rId2"/>
          <a:stretch>
            <a:fillRect/>
          </a:stretch>
        </p:blipFill>
        <p:spPr>
          <a:xfrm>
            <a:off x="899746" y="1605817"/>
            <a:ext cx="4291848" cy="1136517"/>
          </a:xfrm>
          <a:prstGeom prst="rect">
            <a:avLst/>
          </a:prstGeom>
        </p:spPr>
      </p:pic>
      <p:sp>
        <p:nvSpPr>
          <p:cNvPr id="4" name="Объект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838092" cy="4351338"/>
          </a:xfrm>
        </p:spPr>
        <p:txBody>
          <a:bodyPr/>
          <a:lstStyle/>
          <a:p>
            <a:pPr marL="0" indent="0">
              <a:buNone/>
            </a:pPr>
            <a:r>
              <a:rPr lang="ru-RU" dirty="0" smtClean="0"/>
              <a:t>Параметр окна в заголовке:</a:t>
            </a:r>
          </a:p>
          <a:p>
            <a:pPr marL="0" indent="0">
              <a:buNone/>
            </a:pPr>
            <a:r>
              <a:rPr lang="ru-RU" dirty="0" smtClean="0"/>
              <a:t>1111111111111111</a:t>
            </a:r>
            <a:r>
              <a:rPr lang="en-US" dirty="0" smtClean="0"/>
              <a:t> = 65535</a:t>
            </a:r>
            <a:r>
              <a:rPr lang="ru-RU" dirty="0" smtClean="0"/>
              <a:t> – 16 бит</a:t>
            </a:r>
          </a:p>
          <a:p>
            <a:pPr marL="0" indent="0">
              <a:buNone/>
            </a:pPr>
            <a:r>
              <a:rPr lang="ru-RU" dirty="0" smtClean="0"/>
              <a:t>Параметр сдвига в опции:</a:t>
            </a:r>
          </a:p>
          <a:p>
            <a:pPr marL="0" indent="0">
              <a:buNone/>
            </a:pPr>
            <a:r>
              <a:rPr lang="ru-RU" dirty="0" smtClean="0"/>
              <a:t>111</a:t>
            </a:r>
            <a:r>
              <a:rPr lang="en-US" dirty="0" smtClean="0"/>
              <a:t> = 8</a:t>
            </a:r>
            <a:r>
              <a:rPr lang="ru-RU" dirty="0" smtClean="0"/>
              <a:t> – 3 бита</a:t>
            </a:r>
          </a:p>
          <a:p>
            <a:pPr marL="0" indent="0">
              <a:buNone/>
            </a:pPr>
            <a:r>
              <a:rPr lang="ru-RU" dirty="0" smtClean="0"/>
              <a:t>Параметр окна сдвигается влево:</a:t>
            </a:r>
            <a:endParaRPr lang="en-US" dirty="0" smtClean="0"/>
          </a:p>
          <a:p>
            <a:pPr marL="0" indent="0">
              <a:buNone/>
            </a:pPr>
            <a:r>
              <a:rPr lang="ru-RU" dirty="0" smtClean="0"/>
              <a:t>1111111111111111</a:t>
            </a:r>
            <a:r>
              <a:rPr lang="en-US" dirty="0" smtClean="0"/>
              <a:t> &lt;&lt; 8 =</a:t>
            </a:r>
            <a:endParaRPr lang="ru-RU" dirty="0" smtClean="0"/>
          </a:p>
          <a:p>
            <a:pPr marL="0" indent="0">
              <a:buNone/>
            </a:pPr>
            <a:r>
              <a:rPr lang="ru-RU" dirty="0" smtClean="0"/>
              <a:t>1111111111111111</a:t>
            </a:r>
            <a:r>
              <a:rPr lang="en-US" dirty="0" smtClean="0"/>
              <a:t>00000000 </a:t>
            </a:r>
            <a:r>
              <a:rPr lang="en-US" dirty="0"/>
              <a:t>= </a:t>
            </a:r>
            <a:r>
              <a:rPr lang="en-US" dirty="0" smtClean="0"/>
              <a:t>16776960</a:t>
            </a:r>
            <a:r>
              <a:rPr lang="ru-RU" dirty="0" smtClean="0"/>
              <a:t> байт </a:t>
            </a:r>
            <a:r>
              <a:rPr lang="en-US" dirty="0" smtClean="0"/>
              <a:t>~ 16 </a:t>
            </a:r>
            <a:r>
              <a:rPr lang="ru-RU" dirty="0" err="1" smtClean="0"/>
              <a:t>мбайт</a:t>
            </a:r>
            <a:endParaRPr lang="ru-RU" dirty="0"/>
          </a:p>
        </p:txBody>
      </p:sp>
      <p:pic>
        <p:nvPicPr>
          <p:cNvPr id="4098" name="Picture 2" descr="TCP Window Size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3870" y="3239721"/>
            <a:ext cx="5943600" cy="267652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39449326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 smtClean="0"/>
              <a:t>TCP SACK</a:t>
            </a:r>
            <a:endParaRPr lang="ru-RU" b="1" dirty="0"/>
          </a:p>
        </p:txBody>
      </p:sp>
      <p:pic>
        <p:nvPicPr>
          <p:cNvPr id="5" name="Объект 4"/>
          <p:cNvPicPr>
            <a:picLocks noGrp="1" noChangeAspect="1"/>
          </p:cNvPicPr>
          <p:nvPr>
            <p:ph sz="half" idx="1"/>
          </p:nvPr>
        </p:nvPicPr>
        <p:blipFill>
          <a:blip r:embed="rId2"/>
          <a:stretch>
            <a:fillRect/>
          </a:stretch>
        </p:blipFill>
        <p:spPr>
          <a:xfrm>
            <a:off x="87209" y="2883875"/>
            <a:ext cx="6851728" cy="2096087"/>
          </a:xfrm>
          <a:prstGeom prst="rect">
            <a:avLst/>
          </a:prstGeom>
        </p:spPr>
      </p:pic>
      <p:pic>
        <p:nvPicPr>
          <p:cNvPr id="6" name="Объект 5"/>
          <p:cNvPicPr>
            <a:picLocks noGrp="1" noChangeAspect="1"/>
          </p:cNvPicPr>
          <p:nvPr>
            <p:ph sz="half" idx="2"/>
          </p:nvPr>
        </p:nvPicPr>
        <p:blipFill>
          <a:blip r:embed="rId3"/>
          <a:stretch>
            <a:fillRect/>
          </a:stretch>
        </p:blipFill>
        <p:spPr>
          <a:xfrm>
            <a:off x="7124701" y="365125"/>
            <a:ext cx="4143953" cy="2419688"/>
          </a:xfrm>
          <a:prstGeom prst="rect">
            <a:avLst/>
          </a:prstGeom>
        </p:spPr>
      </p:pic>
      <p:pic>
        <p:nvPicPr>
          <p:cNvPr id="7" name="Рисунок 6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938937" y="3094893"/>
            <a:ext cx="4515480" cy="335326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7354455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/>
              <a:t>TCP SACK</a:t>
            </a:r>
            <a:endParaRPr lang="ru-RU" dirty="0"/>
          </a:p>
        </p:txBody>
      </p:sp>
      <p:pic>
        <p:nvPicPr>
          <p:cNvPr id="6" name="Объект 5"/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2221319" y="1518187"/>
            <a:ext cx="7749362" cy="501926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1263018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838200" y="365126"/>
            <a:ext cx="10515600" cy="522897"/>
          </a:xfrm>
        </p:spPr>
        <p:txBody>
          <a:bodyPr>
            <a:normAutofit fontScale="90000"/>
          </a:bodyPr>
          <a:lstStyle/>
          <a:p>
            <a:r>
              <a:rPr lang="af-ZA" b="1" dirty="0"/>
              <a:t>TCP Congestion </a:t>
            </a:r>
            <a:r>
              <a:rPr lang="af-ZA" b="1" dirty="0" smtClean="0"/>
              <a:t>Control</a:t>
            </a:r>
            <a:endParaRPr lang="ru-RU" dirty="0"/>
          </a:p>
        </p:txBody>
      </p:sp>
      <p:pic>
        <p:nvPicPr>
          <p:cNvPr id="5122" name="Picture 2" descr="../_images/f06-10-9780123850591.png"/>
          <p:cNvPicPr>
            <a:picLocks noGrp="1" noChangeAspect="1" noChangeArrowheads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133601" y="888023"/>
            <a:ext cx="2254964" cy="58327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6" name="Рисунок 5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213372" y="3228974"/>
            <a:ext cx="6723820" cy="3107795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5772150" y="1735333"/>
            <a:ext cx="5334000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dirty="0" smtClean="0"/>
              <a:t>Алгоритмы управления перегрузкой: </a:t>
            </a:r>
            <a:r>
              <a:rPr lang="en-US" dirty="0" smtClean="0"/>
              <a:t>TCP Tahoe, TCP Reno, TCP Cubic, BBR </a:t>
            </a:r>
            <a:r>
              <a:rPr lang="ru-RU" dirty="0" smtClean="0"/>
              <a:t>и прочие.</a:t>
            </a:r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100063721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 smtClean="0"/>
              <a:t>UDP</a:t>
            </a:r>
            <a:endParaRPr lang="ru-RU" b="1" dirty="0"/>
          </a:p>
        </p:txBody>
      </p:sp>
      <p:pic>
        <p:nvPicPr>
          <p:cNvPr id="4" name="Объект 3"/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0" y="1690688"/>
            <a:ext cx="6096000" cy="4729070"/>
          </a:xfrm>
          <a:prstGeom prst="rect">
            <a:avLst/>
          </a:prstGeom>
        </p:spPr>
      </p:pic>
      <p:pic>
        <p:nvPicPr>
          <p:cNvPr id="5" name="Picture 2" descr="Chapter 10. User Datagram Protocol (UDP) and IP Fragmentation - Shichao's  Notes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096000" y="1690688"/>
            <a:ext cx="6096000" cy="46717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43362989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theme/theme1.xml><?xml version="1.0" encoding="utf-8"?>
<a:theme xmlns:a="http://schemas.openxmlformats.org/drawingml/2006/main" name="Тема Office">
  <a:themeElements>
    <a:clrScheme name="Стандартная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Стандартная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Стандартная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2987</TotalTime>
  <Words>655</Words>
  <Application>Microsoft Office PowerPoint</Application>
  <PresentationFormat>Широкоэкранный</PresentationFormat>
  <Paragraphs>130</Paragraphs>
  <Slides>28</Slides>
  <Notes>0</Notes>
  <HiddenSlides>0</HiddenSlides>
  <MMClips>0</MMClips>
  <ScaleCrop>false</ScaleCrop>
  <HeadingPairs>
    <vt:vector size="6" baseType="variant">
      <vt:variant>
        <vt:lpstr>Использованные шрифты</vt:lpstr>
      </vt:variant>
      <vt:variant>
        <vt:i4>4</vt:i4>
      </vt:variant>
      <vt:variant>
        <vt:lpstr>Тема</vt:lpstr>
      </vt:variant>
      <vt:variant>
        <vt:i4>1</vt:i4>
      </vt:variant>
      <vt:variant>
        <vt:lpstr>Заголовки слайдов</vt:lpstr>
      </vt:variant>
      <vt:variant>
        <vt:i4>28</vt:i4>
      </vt:variant>
    </vt:vector>
  </HeadingPairs>
  <TitlesOfParts>
    <vt:vector size="33" baseType="lpstr">
      <vt:lpstr>Arial</vt:lpstr>
      <vt:lpstr>Calibri</vt:lpstr>
      <vt:lpstr>Calibri Light</vt:lpstr>
      <vt:lpstr>Google Sans</vt:lpstr>
      <vt:lpstr>Тема Office</vt:lpstr>
      <vt:lpstr>Транспортный уровень модели OSI/TCP-IP</vt:lpstr>
      <vt:lpstr>Проблематика и задачи транспортного уровня</vt:lpstr>
      <vt:lpstr>Демультиплексирование</vt:lpstr>
      <vt:lpstr>TCP, общие сведения </vt:lpstr>
      <vt:lpstr>UDP, общие сведения</vt:lpstr>
      <vt:lpstr>Адресация портов TCP и UDP</vt:lpstr>
      <vt:lpstr>Сокеты</vt:lpstr>
      <vt:lpstr>Известные порты</vt:lpstr>
      <vt:lpstr>TCP. Установление соединения</vt:lpstr>
      <vt:lpstr>TCP. Завершение соединения</vt:lpstr>
      <vt:lpstr>Надежная передача: Stop-and-Wait</vt:lpstr>
      <vt:lpstr>Надежная передача: Stop-and-Wait</vt:lpstr>
      <vt:lpstr>Bandwidth-Delay Product</vt:lpstr>
      <vt:lpstr>Надежная передача: Sliding Window</vt:lpstr>
      <vt:lpstr>Надежная передача: Sliding Window</vt:lpstr>
      <vt:lpstr>Надежная передача: Sliding Window</vt:lpstr>
      <vt:lpstr>Надежная передача: кумулятивной подтверждение</vt:lpstr>
      <vt:lpstr>Надёжная доставка TCP</vt:lpstr>
      <vt:lpstr>Надёжная доставка TCP</vt:lpstr>
      <vt:lpstr>Надёжная доставка TCP</vt:lpstr>
      <vt:lpstr>Надёжная доставка TCP</vt:lpstr>
      <vt:lpstr>Презентация PowerPoint</vt:lpstr>
      <vt:lpstr>TCP заголовок</vt:lpstr>
      <vt:lpstr>TCP Window Scaling</vt:lpstr>
      <vt:lpstr>TCP SACK</vt:lpstr>
      <vt:lpstr>TCP SACK</vt:lpstr>
      <vt:lpstr>TCP Congestion Control</vt:lpstr>
      <vt:lpstr>UDP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Транспортный уровень модели OSI/TCP-IP</dc:title>
  <dc:creator>Тимур А. Нахтигаль</dc:creator>
  <cp:lastModifiedBy>Тимур А. Нахтигаль</cp:lastModifiedBy>
  <cp:revision>49</cp:revision>
  <dcterms:created xsi:type="dcterms:W3CDTF">2026-08-31T13:10:39Z</dcterms:created>
  <dcterms:modified xsi:type="dcterms:W3CDTF">2026-09-28T16:55:01Z</dcterms:modified>
</cp:coreProperties>
</file>