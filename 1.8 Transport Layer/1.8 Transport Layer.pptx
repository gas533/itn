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81" r:id="rId26"/>
    <p:sldId id="282" r:id="rId27"/>
    <p:sldId id="283" r:id="rId28"/>
    <p:sldId id="284" r:id="rId29"/>
    <p:sldId id="278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69" d="100"/>
          <a:sy n="69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3922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310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908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213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139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0453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955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39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793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6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3346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F6F99-26EF-44A0-AB0C-04C766CF99AB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41BD49-20BD-4882-8B7C-AE1A5D51793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3288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Транспортный уровень модели </a:t>
            </a:r>
            <a:r>
              <a:rPr lang="af-ZA" dirty="0"/>
              <a:t>OSI/TCP-IP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951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Проблематика и задачи транспортного </a:t>
            </a:r>
            <a:r>
              <a:rPr lang="ru-RU" b="1" dirty="0" smtClean="0"/>
              <a:t>уровня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295274" y="1844675"/>
            <a:ext cx="679132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Ключевые тезисы:</a:t>
            </a:r>
            <a:endParaRPr lang="ru-RU" dirty="0"/>
          </a:p>
          <a:p>
            <a:pPr lvl="1"/>
            <a:r>
              <a:rPr lang="ru-RU" dirty="0"/>
              <a:t>Сетевой уровень (IP) доставляет пакеты между </a:t>
            </a:r>
            <a:r>
              <a:rPr lang="ru-RU" i="1" dirty="0"/>
              <a:t>хостами</a:t>
            </a:r>
            <a:r>
              <a:rPr lang="ru-RU" dirty="0"/>
              <a:t>, но не между </a:t>
            </a:r>
            <a:r>
              <a:rPr lang="ru-RU" i="1" dirty="0"/>
              <a:t>программами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IP работает по принципу </a:t>
            </a:r>
            <a:r>
              <a:rPr lang="ru-RU" i="1" dirty="0" err="1"/>
              <a:t>Best</a:t>
            </a:r>
            <a:r>
              <a:rPr lang="ru-RU" i="1" dirty="0"/>
              <a:t> </a:t>
            </a:r>
            <a:r>
              <a:rPr lang="ru-RU" i="1" dirty="0" err="1"/>
              <a:t>Effort</a:t>
            </a:r>
            <a:r>
              <a:rPr lang="ru-RU" dirty="0"/>
              <a:t> (нет гарантии доставки, порядка и целостности).</a:t>
            </a:r>
          </a:p>
          <a:p>
            <a:pPr marL="0" indent="0">
              <a:buNone/>
            </a:pPr>
            <a:r>
              <a:rPr lang="ru-RU" b="1" dirty="0"/>
              <a:t>Задачи транспортного уровня:</a:t>
            </a:r>
            <a:endParaRPr lang="ru-RU" dirty="0"/>
          </a:p>
          <a:p>
            <a:pPr lvl="1"/>
            <a:r>
              <a:rPr lang="ru-RU" dirty="0"/>
              <a:t>Адресация приложений (порты).</a:t>
            </a:r>
          </a:p>
          <a:p>
            <a:pPr lvl="1"/>
            <a:r>
              <a:rPr lang="ru-RU" dirty="0"/>
              <a:t>Мультиплексирование и демультиплексирование потоков.</a:t>
            </a:r>
          </a:p>
          <a:p>
            <a:pPr lvl="1"/>
            <a:r>
              <a:rPr lang="ru-RU" dirty="0"/>
              <a:t>Обеспечение надежности (опционально: TCP) или скорости (UDP).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10400" y="1912144"/>
            <a:ext cx="5181600" cy="395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842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Демультиплексирование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484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416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TCP, </a:t>
            </a:r>
            <a:r>
              <a:rPr lang="ru-RU" dirty="0" smtClean="0"/>
              <a:t>общие сведения 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9712" y="1825625"/>
            <a:ext cx="4658575" cy="4351338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2200" y="2643310"/>
            <a:ext cx="5181600" cy="2860675"/>
          </a:xfrm>
        </p:spPr>
        <p:txBody>
          <a:bodyPr/>
          <a:lstStyle/>
          <a:p>
            <a:r>
              <a:rPr lang="ru-RU" dirty="0" smtClean="0"/>
              <a:t>Каналы с установлением соединения</a:t>
            </a:r>
          </a:p>
          <a:p>
            <a:r>
              <a:rPr lang="ru-RU" dirty="0" smtClean="0"/>
              <a:t>Надежная доставка</a:t>
            </a:r>
          </a:p>
          <a:p>
            <a:r>
              <a:rPr lang="ru-RU" dirty="0" smtClean="0"/>
              <a:t>Восстановление последовательности данных</a:t>
            </a:r>
          </a:p>
          <a:p>
            <a:r>
              <a:rPr lang="ru-RU" dirty="0" smtClean="0"/>
              <a:t>Управление потоком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126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UDP, </a:t>
            </a:r>
            <a:r>
              <a:rPr lang="ru-RU" dirty="0" smtClean="0"/>
              <a:t>общие сведения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776654" y="2698444"/>
            <a:ext cx="5181600" cy="2605698"/>
          </a:xfrm>
        </p:spPr>
        <p:txBody>
          <a:bodyPr/>
          <a:lstStyle/>
          <a:p>
            <a:r>
              <a:rPr lang="ru-RU" dirty="0"/>
              <a:t>Без установления </a:t>
            </a:r>
            <a:r>
              <a:rPr lang="ru-RU" dirty="0" smtClean="0"/>
              <a:t>соединения</a:t>
            </a:r>
            <a:endParaRPr lang="en-US" dirty="0" smtClean="0"/>
          </a:p>
          <a:p>
            <a:r>
              <a:rPr lang="ru-RU" dirty="0" smtClean="0"/>
              <a:t>Ненадежная доставка</a:t>
            </a:r>
          </a:p>
          <a:p>
            <a:r>
              <a:rPr lang="ru-RU" dirty="0" smtClean="0"/>
              <a:t>Без восстановления последовательности</a:t>
            </a:r>
          </a:p>
          <a:p>
            <a:r>
              <a:rPr lang="ru-RU" dirty="0" smtClean="0"/>
              <a:t>Без управления потоком</a:t>
            </a:r>
            <a:endParaRPr lang="ru-RU" dirty="0"/>
          </a:p>
        </p:txBody>
      </p:sp>
      <p:pic>
        <p:nvPicPr>
          <p:cNvPr id="1026" name="Picture 2" descr="Chapter 10. User Datagram Protocol (UDP) and IP Fragmentation - Shichao's  Notes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15821"/>
            <a:ext cx="5181600" cy="397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1844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Адресация портов TCP и </a:t>
            </a:r>
            <a:r>
              <a:rPr lang="ru-RU" b="1" dirty="0" smtClean="0"/>
              <a:t>UDP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22242" y="2755016"/>
            <a:ext cx="5773758" cy="3526145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sz="half" idx="2"/>
          </p:nvPr>
        </p:nvSpPr>
        <p:spPr>
          <a:xfrm>
            <a:off x="6096000" y="3276785"/>
            <a:ext cx="5767754" cy="2482606"/>
          </a:xfrm>
        </p:spPr>
        <p:txBody>
          <a:bodyPr/>
          <a:lstStyle/>
          <a:p>
            <a:r>
              <a:rPr lang="ru-RU" dirty="0"/>
              <a:t>0–1023: Системные / </a:t>
            </a:r>
            <a:r>
              <a:rPr lang="ru-RU" dirty="0" err="1"/>
              <a:t>Well-known</a:t>
            </a:r>
            <a:r>
              <a:rPr lang="ru-RU" dirty="0"/>
              <a:t> (</a:t>
            </a:r>
            <a:r>
              <a:rPr lang="ru-RU" dirty="0" err="1"/>
              <a:t>Web</a:t>
            </a:r>
            <a:r>
              <a:rPr lang="ru-RU" dirty="0"/>
              <a:t>, SSH, DNS).</a:t>
            </a:r>
          </a:p>
          <a:p>
            <a:r>
              <a:rPr lang="ru-RU" dirty="0" smtClean="0"/>
              <a:t>1024–49151</a:t>
            </a:r>
            <a:r>
              <a:rPr lang="ru-RU" dirty="0"/>
              <a:t>: </a:t>
            </a:r>
            <a:r>
              <a:rPr lang="ru-RU" dirty="0" smtClean="0"/>
              <a:t>Зарегистрированные</a:t>
            </a:r>
            <a:r>
              <a:rPr lang="ru-RU" dirty="0"/>
              <a:t>.</a:t>
            </a:r>
          </a:p>
          <a:p>
            <a:r>
              <a:rPr lang="ru-RU" dirty="0" smtClean="0"/>
              <a:t>49152–65535</a:t>
            </a:r>
            <a:r>
              <a:rPr lang="ru-RU" dirty="0"/>
              <a:t>: Эфемерные / Клиентские.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5"/>
          <p:cNvSpPr txBox="1">
            <a:spLocks/>
          </p:cNvSpPr>
          <p:nvPr/>
        </p:nvSpPr>
        <p:spPr>
          <a:xfrm>
            <a:off x="838200" y="1513713"/>
            <a:ext cx="11025554" cy="11327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 smtClean="0"/>
              <a:t>Порт – виртуальный номер (16 бит) по которому узел определяет какой именно программе или службе предназначены данные.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657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80488"/>
            <a:ext cx="10515600" cy="628406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Сокеты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628900" y="2021840"/>
            <a:ext cx="6934200" cy="4836160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8200" y="717406"/>
            <a:ext cx="10515600" cy="1418737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Сокет </a:t>
            </a:r>
            <a:r>
              <a:rPr lang="en-US" dirty="0" smtClean="0"/>
              <a:t>(IP</a:t>
            </a:r>
            <a:r>
              <a:rPr lang="ru-RU" dirty="0" smtClean="0"/>
              <a:t> + Порт</a:t>
            </a:r>
            <a:r>
              <a:rPr lang="en-US" dirty="0" smtClean="0"/>
              <a:t>) – </a:t>
            </a:r>
            <a:r>
              <a:rPr lang="ru-RU" dirty="0" smtClean="0"/>
              <a:t>идентифицирует приложение на узле.</a:t>
            </a:r>
          </a:p>
          <a:p>
            <a:pPr marL="0" indent="0">
              <a:buNone/>
            </a:pPr>
            <a:r>
              <a:rPr lang="ru-RU" dirty="0" err="1" smtClean="0"/>
              <a:t>Сокетная</a:t>
            </a:r>
            <a:r>
              <a:rPr lang="ru-RU" dirty="0" smtClean="0"/>
              <a:t> пара </a:t>
            </a:r>
            <a:r>
              <a:rPr lang="ru-RU" dirty="0"/>
              <a:t>(</a:t>
            </a:r>
            <a:r>
              <a:rPr lang="en-US" dirty="0" err="1" smtClean="0"/>
              <a:t>Src</a:t>
            </a:r>
            <a:r>
              <a:rPr lang="en-US" dirty="0" smtClean="0"/>
              <a:t> IP, </a:t>
            </a:r>
            <a:r>
              <a:rPr lang="en-US" dirty="0" err="1" smtClean="0"/>
              <a:t>Src</a:t>
            </a:r>
            <a:r>
              <a:rPr lang="en-US" dirty="0" smtClean="0"/>
              <a:t> Port, </a:t>
            </a:r>
            <a:r>
              <a:rPr lang="en-US" dirty="0" err="1" smtClean="0"/>
              <a:t>Dst</a:t>
            </a:r>
            <a:r>
              <a:rPr lang="en-US" dirty="0" smtClean="0"/>
              <a:t> IP, </a:t>
            </a:r>
            <a:r>
              <a:rPr lang="en-US" dirty="0" err="1" smtClean="0"/>
              <a:t>Dst</a:t>
            </a:r>
            <a:r>
              <a:rPr lang="en-US" dirty="0" smtClean="0"/>
              <a:t> Port</a:t>
            </a:r>
            <a:r>
              <a:rPr lang="ru-RU" dirty="0" smtClean="0"/>
              <a:t>) - </a:t>
            </a:r>
            <a:r>
              <a:rPr lang="ru-RU" dirty="0"/>
              <a:t> идентифицирует конкретное соединение</a:t>
            </a:r>
          </a:p>
        </p:txBody>
      </p:sp>
    </p:spTree>
    <p:extLst>
      <p:ext uri="{BB962C8B-B14F-4D97-AF65-F5344CB8AC3E}">
        <p14:creationId xmlns:p14="http://schemas.microsoft.com/office/powerpoint/2010/main" val="38206813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Известные порты</a:t>
            </a:r>
            <a:endParaRPr lang="ru-RU" b="1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5693071"/>
              </p:ext>
            </p:extLst>
          </p:nvPr>
        </p:nvGraphicFramePr>
        <p:xfrm>
          <a:off x="2242038" y="1538652"/>
          <a:ext cx="7543799" cy="5020409"/>
        </p:xfrm>
        <a:graphic>
          <a:graphicData uri="http://schemas.openxmlformats.org/drawingml/2006/table">
            <a:tbl>
              <a:tblPr/>
              <a:tblGrid>
                <a:gridCol w="1388068">
                  <a:extLst>
                    <a:ext uri="{9D8B030D-6E8A-4147-A177-3AD203B41FA5}">
                      <a16:colId xmlns:a16="http://schemas.microsoft.com/office/drawing/2014/main" val="1943333483"/>
                    </a:ext>
                  </a:extLst>
                </a:gridCol>
                <a:gridCol w="1384858">
                  <a:extLst>
                    <a:ext uri="{9D8B030D-6E8A-4147-A177-3AD203B41FA5}">
                      <a16:colId xmlns:a16="http://schemas.microsoft.com/office/drawing/2014/main" val="3623994693"/>
                    </a:ext>
                  </a:extLst>
                </a:gridCol>
                <a:gridCol w="4770873">
                  <a:extLst>
                    <a:ext uri="{9D8B030D-6E8A-4147-A177-3AD203B41FA5}">
                      <a16:colId xmlns:a16="http://schemas.microsoft.com/office/drawing/2014/main" val="1973449759"/>
                    </a:ext>
                  </a:extLst>
                </a:gridCol>
              </a:tblGrid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Номер порта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Протокол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effectLst/>
                        </a:rPr>
                        <a:t>Уровень приложений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254487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File Transfer Protocol (FTP) — </a:t>
                      </a:r>
                      <a:r>
                        <a:rPr lang="ru-RU" sz="1000">
                          <a:effectLst/>
                        </a:rPr>
                        <a:t>Передача данных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840065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21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File Transfer Protocol (FTP) — </a:t>
                      </a:r>
                      <a:r>
                        <a:rPr lang="ru-RU" sz="1000">
                          <a:effectLst/>
                        </a:rPr>
                        <a:t>Управление передачей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8936600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22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Secure Shell (SSH)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1712316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Программа </a:t>
                      </a:r>
                      <a:r>
                        <a:rPr lang="af-ZA" sz="1000">
                          <a:effectLst/>
                        </a:rPr>
                        <a:t>Telnet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1674022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 dirty="0">
                          <a:effectLst/>
                        </a:rPr>
                        <a:t>25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SMTP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3581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53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UDP, 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Служба доменных имён (</a:t>
                      </a:r>
                      <a:r>
                        <a:rPr lang="af-ZA" sz="1000">
                          <a:effectLst/>
                        </a:rPr>
                        <a:t>DNS)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9083790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67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Сервер протокола динамической конфигурации узла (DHCP)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5882636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68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af-ZA" sz="1000">
                          <a:effectLst/>
                        </a:rPr>
                        <a:t>Dynamic Host Configuration Protocol (DHCP) — </a:t>
                      </a:r>
                      <a:r>
                        <a:rPr lang="ru-RU" sz="1000">
                          <a:effectLst/>
                        </a:rPr>
                        <a:t>клиент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1202852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69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Простейший протокол передачи файлов (TFTP)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5385690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80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Протокол </a:t>
                      </a:r>
                      <a:r>
                        <a:rPr lang="af-ZA" sz="1000">
                          <a:effectLst/>
                        </a:rPr>
                        <a:t>HTTP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9670139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110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 dirty="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почтового отделения (</a:t>
                      </a:r>
                      <a:r>
                        <a:rPr lang="af-ZA" sz="1000" dirty="0">
                          <a:effectLst/>
                        </a:rPr>
                        <a:t>POP3)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980761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143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</a:t>
                      </a:r>
                      <a:r>
                        <a:rPr lang="af-ZA" sz="1000" dirty="0">
                          <a:effectLst/>
                        </a:rPr>
                        <a:t>IMAP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775533"/>
                  </a:ext>
                </a:extLst>
              </a:tr>
              <a:tr h="248586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161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UDP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Протокол </a:t>
                      </a:r>
                      <a:r>
                        <a:rPr lang="af-ZA" sz="1000" dirty="0">
                          <a:effectLst/>
                        </a:rPr>
                        <a:t>SNMP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8587824"/>
                  </a:ext>
                </a:extLst>
              </a:tr>
              <a:tr h="433103">
                <a:tc>
                  <a:txBody>
                    <a:bodyPr/>
                    <a:lstStyle/>
                    <a:p>
                      <a:pPr algn="ctr"/>
                      <a:r>
                        <a:rPr lang="ru-RU" sz="1000">
                          <a:effectLst/>
                        </a:rPr>
                        <a:t>443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f-ZA" sz="1000">
                          <a:effectLst/>
                        </a:rPr>
                        <a:t>TCP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dirty="0">
                          <a:effectLst/>
                        </a:rPr>
                        <a:t>Защищённый протокол передачи гипертекста (HTTPS)</a:t>
                      </a:r>
                    </a:p>
                  </a:txBody>
                  <a:tcPr marL="55530" marR="55530" marT="27765" marB="277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7450668"/>
                  </a:ext>
                </a:extLst>
              </a:tr>
            </a:tbl>
          </a:graphicData>
        </a:graphic>
      </p:graphicFrame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494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TCP. </a:t>
            </a:r>
            <a:r>
              <a:rPr lang="ru-RU" b="1" dirty="0" smtClean="0"/>
              <a:t>Установление соединения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1773" y="2409092"/>
            <a:ext cx="5994227" cy="3160400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Трехэтапное рукопожатие: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Клиент запрашивает соединение отправляя</a:t>
            </a:r>
            <a:r>
              <a:rPr lang="en-US" dirty="0" smtClean="0"/>
              <a:t> </a:t>
            </a:r>
            <a:r>
              <a:rPr lang="ru-RU" dirty="0" smtClean="0"/>
              <a:t>сегмент с флагом </a:t>
            </a:r>
            <a:r>
              <a:rPr lang="en-US" dirty="0" smtClean="0"/>
              <a:t>SYN </a:t>
            </a:r>
            <a:r>
              <a:rPr lang="ru-RU" dirty="0" smtClean="0"/>
              <a:t>и свой </a:t>
            </a:r>
            <a:r>
              <a:rPr lang="en-US" dirty="0" smtClean="0"/>
              <a:t>ISN.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Сервер подтверждает сеанс сегментов с флагами </a:t>
            </a:r>
            <a:r>
              <a:rPr lang="en-US" dirty="0" smtClean="0"/>
              <a:t>SYN, ACK</a:t>
            </a:r>
            <a:r>
              <a:rPr lang="ru-RU" dirty="0" smtClean="0"/>
              <a:t>. </a:t>
            </a:r>
            <a:r>
              <a:rPr lang="en-US" dirty="0" smtClean="0"/>
              <a:t>ACK </a:t>
            </a:r>
            <a:r>
              <a:rPr lang="en-US" dirty="0" err="1" smtClean="0"/>
              <a:t>Num</a:t>
            </a:r>
            <a:r>
              <a:rPr lang="en-US" dirty="0" smtClean="0"/>
              <a:t> = ISN+1 </a:t>
            </a:r>
            <a:r>
              <a:rPr lang="ru-RU" dirty="0" smtClean="0"/>
              <a:t>и свой </a:t>
            </a:r>
            <a:r>
              <a:rPr lang="en-US" dirty="0" smtClean="0"/>
              <a:t>ISN.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Клиент завершает установление сеанса сегментом с флагом </a:t>
            </a:r>
            <a:r>
              <a:rPr lang="en-US" dirty="0" smtClean="0"/>
              <a:t>ACK </a:t>
            </a:r>
            <a:r>
              <a:rPr lang="ru-RU" dirty="0" smtClean="0"/>
              <a:t>и </a:t>
            </a:r>
            <a:r>
              <a:rPr lang="en-US" dirty="0" smtClean="0"/>
              <a:t>ACK </a:t>
            </a:r>
            <a:r>
              <a:rPr lang="en-US" dirty="0" err="1" smtClean="0"/>
              <a:t>Num</a:t>
            </a:r>
            <a:r>
              <a:rPr lang="en-US" dirty="0" smtClean="0"/>
              <a:t>=Server ISN+1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3284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TCP. </a:t>
            </a:r>
            <a:r>
              <a:rPr lang="ru-RU" b="1" dirty="0" smtClean="0"/>
              <a:t>Завершение соединения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34865" y="2341693"/>
            <a:ext cx="5561135" cy="3232692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А отправляет сегмент с флагом </a:t>
            </a:r>
            <a:r>
              <a:rPr lang="en-US" dirty="0" smtClean="0"/>
              <a:t>FIN.</a:t>
            </a:r>
            <a:endParaRPr lang="ru-RU" dirty="0" smtClean="0"/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В подтверждает завершение флагом </a:t>
            </a:r>
            <a:r>
              <a:rPr lang="en-US" dirty="0" smtClean="0"/>
              <a:t>ACK.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Когда узел В понимает, что у него тоже больше нет данных – он отправляет сегмент с флагом </a:t>
            </a:r>
            <a:r>
              <a:rPr lang="en-US" dirty="0" smtClean="0"/>
              <a:t>FIN.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Узел А подтверждает завершение флагом </a:t>
            </a:r>
            <a:r>
              <a:rPr lang="en-US" dirty="0" smtClean="0"/>
              <a:t>ACK.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5459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0821"/>
          </a:xfrm>
        </p:spPr>
        <p:txBody>
          <a:bodyPr>
            <a:normAutofit fontScale="90000"/>
          </a:bodyPr>
          <a:lstStyle/>
          <a:p>
            <a:r>
              <a:rPr lang="ru-RU" b="1" dirty="0" smtClean="0"/>
              <a:t>Надежная передача</a:t>
            </a:r>
            <a:r>
              <a:rPr lang="en-US" b="1" dirty="0" smtClean="0"/>
              <a:t>: Stop-and-Wait</a:t>
            </a:r>
            <a:endParaRPr lang="ru-RU" b="1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91204" y="975946"/>
            <a:ext cx="6409592" cy="5862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740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0144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Stop-and-Wait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32" y="1175147"/>
            <a:ext cx="4185290" cy="526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383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Bandwidth-Delay Product</a:t>
            </a:r>
            <a:endParaRPr lang="ru-RU" b="1" dirty="0"/>
          </a:p>
        </p:txBody>
      </p:sp>
      <p:pic>
        <p:nvPicPr>
          <p:cNvPr id="2050" name="Picture 2" descr="Performance of a Network - GeeksforGeeks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8200" y="2083659"/>
            <a:ext cx="5181600" cy="3835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260123" y="2553371"/>
            <a:ext cx="5181600" cy="2895844"/>
          </a:xfrm>
        </p:spPr>
        <p:txBody>
          <a:bodyPr/>
          <a:lstStyle/>
          <a:p>
            <a:pPr marL="0" indent="0">
              <a:buNone/>
            </a:pPr>
            <a:r>
              <a:rPr lang="af-ZA" dirty="0" smtClean="0"/>
              <a:t>BDP</a:t>
            </a:r>
            <a:r>
              <a:rPr lang="af-ZA" dirty="0"/>
              <a:t>, Bandwidth-Delay Product </a:t>
            </a:r>
            <a:r>
              <a:rPr lang="af-ZA" dirty="0" smtClean="0"/>
              <a:t>- </a:t>
            </a:r>
            <a:r>
              <a:rPr lang="ru-RU" dirty="0"/>
              <a:t>п</a:t>
            </a:r>
            <a:r>
              <a:rPr lang="ru-RU" dirty="0" smtClean="0"/>
              <a:t>роизведение </a:t>
            </a:r>
            <a:r>
              <a:rPr lang="ru-RU" dirty="0"/>
              <a:t>круговой задержки на пропускную </a:t>
            </a:r>
            <a:r>
              <a:rPr lang="ru-RU" dirty="0" smtClean="0"/>
              <a:t>способность, отражает максимальный </a:t>
            </a:r>
            <a:r>
              <a:rPr lang="ru-RU" dirty="0"/>
              <a:t>объем неподтвержденных данных в канале</a:t>
            </a:r>
          </a:p>
        </p:txBody>
      </p:sp>
    </p:spTree>
    <p:extLst>
      <p:ext uri="{BB962C8B-B14F-4D97-AF65-F5344CB8AC3E}">
        <p14:creationId xmlns:p14="http://schemas.microsoft.com/office/powerpoint/2010/main" val="3466407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/>
              <a:t>Sliding Window</a:t>
            </a: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98610" y="1503691"/>
            <a:ext cx="6292194" cy="5033756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10660" y="2344352"/>
            <a:ext cx="5646211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dirty="0">
                <a:latin typeface="Google Sans"/>
              </a:rPr>
              <a:t>Алгоритм скользящего </a:t>
            </a:r>
            <a:r>
              <a:rPr lang="ru-RU" sz="2800" dirty="0" smtClean="0">
                <a:latin typeface="Google Sans"/>
              </a:rPr>
              <a:t>окна — </a:t>
            </a:r>
            <a:r>
              <a:rPr lang="ru-RU" sz="2800" dirty="0">
                <a:latin typeface="Google Sans"/>
              </a:rPr>
              <a:t>это метод управления потоком данных, который позволяет передавать несколько пакетов подряд без ожидания подтверждения для каждого из </a:t>
            </a:r>
            <a:r>
              <a:rPr lang="ru-RU" sz="2800" dirty="0" smtClean="0">
                <a:latin typeface="Google Sans"/>
              </a:rPr>
              <a:t>них.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08718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0262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/>
              <a:t>Sliding Window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409331" y="4444637"/>
            <a:ext cx="9373337" cy="2149594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729762" y="1107831"/>
            <a:ext cx="10624038" cy="296300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Отправитель поддерживает три переменные:</a:t>
            </a:r>
          </a:p>
          <a:p>
            <a:r>
              <a:rPr lang="ru-RU" dirty="0"/>
              <a:t>SWS, </a:t>
            </a:r>
            <a:r>
              <a:rPr lang="ru-RU" dirty="0" err="1"/>
              <a:t>Window</a:t>
            </a:r>
            <a:r>
              <a:rPr lang="ru-RU" dirty="0"/>
              <a:t> </a:t>
            </a:r>
            <a:r>
              <a:rPr lang="ru-RU" dirty="0" err="1"/>
              <a:t>Size</a:t>
            </a:r>
            <a:r>
              <a:rPr lang="ru-RU" dirty="0"/>
              <a:t> </a:t>
            </a:r>
            <a:r>
              <a:rPr lang="ru-RU" dirty="0" smtClean="0"/>
              <a:t>- верхняя граница </a:t>
            </a:r>
            <a:r>
              <a:rPr lang="ru-RU" dirty="0"/>
              <a:t>неподтвержденных сегментов, которые отправитель может передать.</a:t>
            </a:r>
          </a:p>
          <a:p>
            <a:r>
              <a:rPr lang="ru-RU" dirty="0"/>
              <a:t>LAR, </a:t>
            </a:r>
            <a:r>
              <a:rPr lang="ru-RU" dirty="0" err="1"/>
              <a:t>last</a:t>
            </a:r>
            <a:r>
              <a:rPr lang="ru-RU" dirty="0"/>
              <a:t> </a:t>
            </a:r>
            <a:r>
              <a:rPr lang="ru-RU" dirty="0" err="1"/>
              <a:t>acknowledgment</a:t>
            </a:r>
            <a:r>
              <a:rPr lang="ru-RU" dirty="0"/>
              <a:t> </a:t>
            </a:r>
            <a:r>
              <a:rPr lang="ru-RU" dirty="0" err="1"/>
              <a:t>received</a:t>
            </a:r>
            <a:r>
              <a:rPr lang="ru-RU" dirty="0"/>
              <a:t> </a:t>
            </a:r>
            <a:r>
              <a:rPr lang="ru-RU" dirty="0" smtClean="0"/>
              <a:t>- Номер </a:t>
            </a:r>
            <a:r>
              <a:rPr lang="ru-RU" dirty="0"/>
              <a:t>последнего подтвержденного </a:t>
            </a:r>
            <a:r>
              <a:rPr lang="ru-RU" dirty="0" smtClean="0"/>
              <a:t>сегмента.</a:t>
            </a:r>
            <a:endParaRPr lang="ru-RU" dirty="0"/>
          </a:p>
          <a:p>
            <a:r>
              <a:rPr lang="ru-RU" dirty="0"/>
              <a:t>LSS, </a:t>
            </a:r>
            <a:r>
              <a:rPr lang="ru-RU" dirty="0" err="1"/>
              <a:t>Last</a:t>
            </a:r>
            <a:r>
              <a:rPr lang="ru-RU" dirty="0"/>
              <a:t> </a:t>
            </a:r>
            <a:r>
              <a:rPr lang="ru-RU" dirty="0" err="1"/>
              <a:t>Segment</a:t>
            </a:r>
            <a:r>
              <a:rPr lang="ru-RU" dirty="0"/>
              <a:t> </a:t>
            </a:r>
            <a:r>
              <a:rPr lang="ru-RU" dirty="0" err="1"/>
              <a:t>Sent</a:t>
            </a:r>
            <a:r>
              <a:rPr lang="ru-RU" dirty="0"/>
              <a:t> </a:t>
            </a:r>
            <a:r>
              <a:rPr lang="ru-RU" dirty="0" smtClean="0"/>
              <a:t>- Номер </a:t>
            </a:r>
            <a:r>
              <a:rPr lang="ru-RU" dirty="0"/>
              <a:t>последнего отправленного </a:t>
            </a:r>
            <a:r>
              <a:rPr lang="ru-RU" dirty="0" smtClean="0"/>
              <a:t>сегмента.</a:t>
            </a:r>
          </a:p>
          <a:p>
            <a:pPr marL="0" indent="0" algn="ctr">
              <a:buNone/>
            </a:pPr>
            <a:r>
              <a:rPr lang="af-ZA" dirty="0"/>
              <a:t>LSS - LAR &lt;= SWS</a:t>
            </a:r>
            <a:endParaRPr lang="ru-RU" dirty="0"/>
          </a:p>
          <a:p>
            <a:endParaRPr lang="ru-RU" dirty="0" smtClean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48629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2706"/>
          </a:xfrm>
        </p:spPr>
        <p:txBody>
          <a:bodyPr/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af-ZA" b="1" dirty="0" smtClean="0"/>
              <a:t>Sliding Window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5996" y="4358402"/>
            <a:ext cx="9440008" cy="2190757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8200" y="1257300"/>
            <a:ext cx="10515600" cy="30333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Получатель поддерживает свои три переменные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 smtClean="0"/>
              <a:t>RWS </a:t>
            </a:r>
            <a:r>
              <a:rPr lang="ru-RU" dirty="0"/>
              <a:t>- указывает верхнюю границу поступивших не по порядку кадров, которые получатель готов принять.</a:t>
            </a:r>
          </a:p>
          <a:p>
            <a:r>
              <a:rPr lang="ru-RU" dirty="0" smtClean="0"/>
              <a:t>LAS</a:t>
            </a:r>
            <a:r>
              <a:rPr lang="ru-RU" dirty="0"/>
              <a:t>, </a:t>
            </a:r>
            <a:r>
              <a:rPr lang="ru-RU" dirty="0" err="1"/>
              <a:t>largest</a:t>
            </a:r>
            <a:r>
              <a:rPr lang="ru-RU" dirty="0"/>
              <a:t> </a:t>
            </a:r>
            <a:r>
              <a:rPr lang="ru-RU" dirty="0" err="1"/>
              <a:t>acceptable</a:t>
            </a:r>
            <a:r>
              <a:rPr lang="ru-RU" dirty="0"/>
              <a:t> </a:t>
            </a:r>
            <a:r>
              <a:rPr lang="ru-RU" dirty="0" err="1" smtClean="0"/>
              <a:t>segment</a:t>
            </a:r>
            <a:r>
              <a:rPr lang="ru-RU" dirty="0" smtClean="0"/>
              <a:t> </a:t>
            </a:r>
            <a:r>
              <a:rPr lang="ru-RU" dirty="0"/>
              <a:t>- самый большой номер сегмента, который получатель готов принять.</a:t>
            </a:r>
          </a:p>
          <a:p>
            <a:r>
              <a:rPr lang="ru-RU" dirty="0"/>
              <a:t>Номер последнего полученного сегмента (LSR</a:t>
            </a:r>
            <a:r>
              <a:rPr lang="ru-RU" dirty="0" smtClean="0"/>
              <a:t>).</a:t>
            </a:r>
          </a:p>
          <a:p>
            <a:pPr marL="0" indent="0" algn="ctr">
              <a:buNone/>
            </a:pPr>
            <a:r>
              <a:rPr lang="af-ZA" dirty="0"/>
              <a:t>LAS - LSR &lt;= RWS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78923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495300" y="319465"/>
            <a:ext cx="11110546" cy="689952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Надежная передача</a:t>
            </a:r>
            <a:r>
              <a:rPr lang="en-US" b="1" dirty="0"/>
              <a:t>: </a:t>
            </a:r>
            <a:r>
              <a:rPr lang="ru-RU" b="1" dirty="0" smtClean="0"/>
              <a:t>кумулятивной подтверждение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76588" y="1009417"/>
            <a:ext cx="5632856" cy="584858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90146" y="2769577"/>
            <a:ext cx="516108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Кумулятивное подтверждение – номер в квитанции означает, что все данные до этого номера также успешно получены.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375945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 smtClean="0"/>
              <a:t>TCP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65993" y="1512326"/>
            <a:ext cx="5516510" cy="5241703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172199" y="2478636"/>
            <a:ext cx="5794131" cy="2691241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/>
              <a:t>TCP </a:t>
            </a:r>
            <a:r>
              <a:rPr lang="ru-RU" dirty="0" smtClean="0"/>
              <a:t>принимает от приложения поток байтов, который «нарезается» на сегменты и передаётся в сеть.</a:t>
            </a:r>
            <a:endParaRPr lang="ru-RU" dirty="0"/>
          </a:p>
          <a:p>
            <a:pPr marL="0" indent="0">
              <a:buNone/>
            </a:pPr>
            <a:r>
              <a:rPr lang="ru-RU" dirty="0" smtClean="0"/>
              <a:t>Тем не менее, в </a:t>
            </a:r>
            <a:r>
              <a:rPr lang="en-US" dirty="0" smtClean="0"/>
              <a:t>TCP </a:t>
            </a:r>
            <a:r>
              <a:rPr lang="ru-RU" dirty="0" smtClean="0"/>
              <a:t>скользящее окно двигается по потоку байтов, а не по сегментам.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7597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84021" y="1825625"/>
            <a:ext cx="5308303" cy="2488650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i="1" dirty="0" smtClean="0"/>
              <a:t>Sequence </a:t>
            </a:r>
            <a:r>
              <a:rPr lang="en-US" b="1" i="1" dirty="0" err="1" smtClean="0"/>
              <a:t>Num</a:t>
            </a:r>
            <a:r>
              <a:rPr lang="en-US" b="1" i="1" dirty="0" smtClean="0"/>
              <a:t> </a:t>
            </a:r>
            <a:r>
              <a:rPr lang="en-US" i="1" dirty="0" smtClean="0"/>
              <a:t>– </a:t>
            </a:r>
            <a:r>
              <a:rPr lang="ru-RU" dirty="0" smtClean="0"/>
              <a:t>последовательный номер. Номер первого байта сегмента.</a:t>
            </a:r>
            <a:endParaRPr lang="en-US" i="1" dirty="0"/>
          </a:p>
          <a:p>
            <a:pPr marL="0" indent="0">
              <a:buNone/>
            </a:pPr>
            <a:r>
              <a:rPr lang="ru-RU" b="1" i="1" dirty="0" smtClean="0"/>
              <a:t>Начальный последовательный номер</a:t>
            </a:r>
            <a:r>
              <a:rPr lang="ru-RU" b="1" dirty="0"/>
              <a:t> (</a:t>
            </a:r>
            <a:r>
              <a:rPr lang="ru-RU" b="1" dirty="0" err="1"/>
              <a:t>Init</a:t>
            </a:r>
            <a:r>
              <a:rPr lang="ru-RU" b="1" dirty="0"/>
              <a:t> </a:t>
            </a:r>
            <a:r>
              <a:rPr lang="ru-RU" b="1" dirty="0" err="1"/>
              <a:t>Seq</a:t>
            </a:r>
            <a:r>
              <a:rPr lang="ru-RU" b="1" dirty="0"/>
              <a:t> </a:t>
            </a:r>
            <a:r>
              <a:rPr lang="ru-RU" b="1" dirty="0" err="1"/>
              <a:t>Num</a:t>
            </a:r>
            <a:r>
              <a:rPr lang="ru-RU" b="1" dirty="0" smtClean="0"/>
              <a:t>)</a:t>
            </a:r>
            <a:r>
              <a:rPr lang="ru-RU" dirty="0" smtClean="0"/>
              <a:t> – номер, с которого будет вестись отсчет </a:t>
            </a:r>
            <a:r>
              <a:rPr lang="en-US" dirty="0" err="1" smtClean="0"/>
              <a:t>SeqNum</a:t>
            </a:r>
            <a:r>
              <a:rPr lang="ru-RU" dirty="0" smtClean="0"/>
              <a:t>.</a:t>
            </a:r>
            <a:endParaRPr lang="ru-RU" dirty="0"/>
          </a:p>
          <a:p>
            <a:pPr marL="0" indent="0">
              <a:buNone/>
            </a:pPr>
            <a:r>
              <a:rPr lang="en-US" b="1" dirty="0" smtClean="0"/>
              <a:t>ACK </a:t>
            </a:r>
            <a:r>
              <a:rPr lang="en-US" b="1" dirty="0" err="1" smtClean="0"/>
              <a:t>Num</a:t>
            </a:r>
            <a:r>
              <a:rPr lang="en-US" b="1" dirty="0"/>
              <a:t> </a:t>
            </a:r>
            <a:r>
              <a:rPr lang="en-US" dirty="0" smtClean="0"/>
              <a:t>- </a:t>
            </a:r>
            <a:r>
              <a:rPr lang="ru-RU" dirty="0" smtClean="0"/>
              <a:t>Максимальный полученный байт + 1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975714"/>
            <a:ext cx="4772025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747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0909" y="1816831"/>
            <a:ext cx="5870182" cy="496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38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71694"/>
            <a:ext cx="10515600" cy="1325563"/>
          </a:xfrm>
        </p:spPr>
        <p:txBody>
          <a:bodyPr/>
          <a:lstStyle/>
          <a:p>
            <a:r>
              <a:rPr lang="ru-RU" b="1" dirty="0"/>
              <a:t>Надёжная доставка </a:t>
            </a:r>
            <a:r>
              <a:rPr lang="af-ZA" b="1" dirty="0"/>
              <a:t>TCP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1523" y="1314613"/>
            <a:ext cx="6168954" cy="540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099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4555" y="195595"/>
            <a:ext cx="4102890" cy="633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881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86667"/>
          </a:xfrm>
        </p:spPr>
        <p:txBody>
          <a:bodyPr/>
          <a:lstStyle/>
          <a:p>
            <a:r>
              <a:rPr lang="en-US" b="1" dirty="0" smtClean="0"/>
              <a:t>TCP </a:t>
            </a:r>
            <a:r>
              <a:rPr lang="ru-RU" b="1" dirty="0" smtClean="0"/>
              <a:t>заголовок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016629" y="1019907"/>
            <a:ext cx="6158741" cy="5752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81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 Window Scaling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99746" y="1605817"/>
            <a:ext cx="4291848" cy="1136517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838092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Параметр окна в заголовке:</a:t>
            </a:r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 = 65535</a:t>
            </a:r>
            <a:r>
              <a:rPr lang="ru-RU" dirty="0" smtClean="0"/>
              <a:t> – 16 бит</a:t>
            </a:r>
          </a:p>
          <a:p>
            <a:pPr marL="0" indent="0">
              <a:buNone/>
            </a:pPr>
            <a:r>
              <a:rPr lang="ru-RU" dirty="0" smtClean="0"/>
              <a:t>Параметр сдвига в опции:</a:t>
            </a:r>
          </a:p>
          <a:p>
            <a:pPr marL="0" indent="0">
              <a:buNone/>
            </a:pPr>
            <a:r>
              <a:rPr lang="ru-RU" dirty="0" smtClean="0"/>
              <a:t>111</a:t>
            </a:r>
            <a:r>
              <a:rPr lang="en-US" dirty="0" smtClean="0"/>
              <a:t> = 8</a:t>
            </a:r>
            <a:r>
              <a:rPr lang="ru-RU" dirty="0" smtClean="0"/>
              <a:t> – 3 бита</a:t>
            </a:r>
          </a:p>
          <a:p>
            <a:pPr marL="0" indent="0">
              <a:buNone/>
            </a:pPr>
            <a:r>
              <a:rPr lang="ru-RU" dirty="0" smtClean="0"/>
              <a:t>Параметр окна сдвигается влево:</a:t>
            </a:r>
            <a:endParaRPr lang="en-US" dirty="0" smtClean="0"/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 &lt;&lt; 8 =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1111111111111111</a:t>
            </a:r>
            <a:r>
              <a:rPr lang="en-US" dirty="0" smtClean="0"/>
              <a:t>00000000 </a:t>
            </a:r>
            <a:r>
              <a:rPr lang="en-US" dirty="0"/>
              <a:t>= </a:t>
            </a:r>
            <a:r>
              <a:rPr lang="en-US" dirty="0" smtClean="0"/>
              <a:t>16776960</a:t>
            </a:r>
            <a:r>
              <a:rPr lang="ru-RU" dirty="0" smtClean="0"/>
              <a:t> байт </a:t>
            </a:r>
            <a:r>
              <a:rPr lang="en-US" dirty="0" smtClean="0"/>
              <a:t>~ 16 </a:t>
            </a:r>
            <a:r>
              <a:rPr lang="ru-RU" dirty="0" err="1" smtClean="0"/>
              <a:t>мбайт</a:t>
            </a:r>
            <a:endParaRPr lang="ru-RU" dirty="0"/>
          </a:p>
        </p:txBody>
      </p:sp>
      <p:pic>
        <p:nvPicPr>
          <p:cNvPr id="4098" name="Picture 2" descr="TCP Window Siz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70" y="3239721"/>
            <a:ext cx="5943600" cy="267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44932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TCP SACK</a:t>
            </a:r>
            <a:endParaRPr lang="ru-RU" b="1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7209" y="2883875"/>
            <a:ext cx="6851728" cy="2096087"/>
          </a:xfrm>
          <a:prstGeom prst="rect">
            <a:avLst/>
          </a:prstGeom>
        </p:spPr>
      </p:pic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124701" y="365125"/>
            <a:ext cx="4143953" cy="241968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937" y="3094893"/>
            <a:ext cx="4515480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544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TCP SACK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1319" y="1518187"/>
            <a:ext cx="7749362" cy="501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630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2897"/>
          </a:xfrm>
        </p:spPr>
        <p:txBody>
          <a:bodyPr>
            <a:normAutofit fontScale="90000"/>
          </a:bodyPr>
          <a:lstStyle/>
          <a:p>
            <a:r>
              <a:rPr lang="af-ZA" b="1" dirty="0"/>
              <a:t>TCP Congestion </a:t>
            </a:r>
            <a:r>
              <a:rPr lang="af-ZA" b="1" dirty="0" smtClean="0"/>
              <a:t>Control</a:t>
            </a:r>
            <a:endParaRPr lang="ru-RU" dirty="0"/>
          </a:p>
        </p:txBody>
      </p:sp>
      <p:pic>
        <p:nvPicPr>
          <p:cNvPr id="5122" name="Picture 2" descr="../_images/f06-10-9780123850591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888023"/>
            <a:ext cx="2254964" cy="583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372" y="3228974"/>
            <a:ext cx="6723820" cy="31077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2150" y="1735333"/>
            <a:ext cx="533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Алгоритмы управления перегрузкой: </a:t>
            </a:r>
            <a:r>
              <a:rPr lang="en-US" dirty="0" smtClean="0"/>
              <a:t>TCP Tahoe, TCP Reno, TCP Cubic, BBR </a:t>
            </a:r>
            <a:r>
              <a:rPr lang="ru-RU" dirty="0" smtClean="0"/>
              <a:t>и прочие.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00637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TCP MSS </a:t>
            </a:r>
            <a:r>
              <a:rPr lang="ru-RU" dirty="0" smtClean="0"/>
              <a:t>и </a:t>
            </a:r>
            <a:r>
              <a:rPr lang="en-US" dirty="0" smtClean="0"/>
              <a:t>MSS Clamping</a:t>
            </a:r>
            <a:endParaRPr lang="ru-RU" dirty="0"/>
          </a:p>
        </p:txBody>
      </p:sp>
      <p:sp>
        <p:nvSpPr>
          <p:cNvPr id="6" name="Текст 5"/>
          <p:cNvSpPr>
            <a:spLocks noGrp="1"/>
          </p:cNvSpPr>
          <p:nvPr>
            <p:ph type="body" idx="1"/>
          </p:nvPr>
        </p:nvSpPr>
        <p:spPr>
          <a:xfrm>
            <a:off x="284651" y="1775781"/>
            <a:ext cx="5812937" cy="823912"/>
          </a:xfrm>
        </p:spPr>
        <p:txBody>
          <a:bodyPr>
            <a:normAutofit fontScale="92500" lnSpcReduction="20000"/>
          </a:bodyPr>
          <a:lstStyle/>
          <a:p>
            <a:r>
              <a:rPr lang="en-US" b="0" dirty="0" smtClean="0"/>
              <a:t>TCP MSS - </a:t>
            </a:r>
            <a:r>
              <a:rPr lang="ru-RU" b="0" dirty="0" smtClean="0"/>
              <a:t>максимальный </a:t>
            </a:r>
            <a:r>
              <a:rPr lang="ru-RU" b="0" dirty="0"/>
              <a:t>размер полезных данных (</a:t>
            </a:r>
            <a:r>
              <a:rPr lang="ru-RU" b="0" dirty="0" err="1"/>
              <a:t>payload</a:t>
            </a:r>
            <a:r>
              <a:rPr lang="ru-RU" b="0" dirty="0"/>
              <a:t>) в одном TCP-сегменте, который сторона готова принять.</a:t>
            </a:r>
            <a:endParaRPr lang="ru-RU" dirty="0"/>
          </a:p>
        </p:txBody>
      </p:sp>
      <p:pic>
        <p:nvPicPr>
          <p:cNvPr id="10" name="Объект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650" y="2935084"/>
            <a:ext cx="5157787" cy="2930077"/>
          </a:xfrm>
          <a:prstGeom prst="rect">
            <a:avLst/>
          </a:prstGeom>
        </p:spPr>
      </p:pic>
      <p:sp>
        <p:nvSpPr>
          <p:cNvPr id="8" name="Текст 7"/>
          <p:cNvSpPr>
            <a:spLocks noGrp="1"/>
          </p:cNvSpPr>
          <p:nvPr>
            <p:ph type="body" sz="quarter" idx="3"/>
          </p:nvPr>
        </p:nvSpPr>
        <p:spPr>
          <a:xfrm>
            <a:off x="5997575" y="1681162"/>
            <a:ext cx="5922101" cy="1114791"/>
          </a:xfrm>
        </p:spPr>
        <p:txBody>
          <a:bodyPr>
            <a:normAutofit fontScale="92500" lnSpcReduction="20000"/>
          </a:bodyPr>
          <a:lstStyle/>
          <a:p>
            <a:r>
              <a:rPr lang="ru-RU" b="0" dirty="0"/>
              <a:t>MSS </a:t>
            </a:r>
            <a:r>
              <a:rPr lang="ru-RU" b="0" dirty="0" err="1" smtClean="0"/>
              <a:t>Clamping</a:t>
            </a:r>
            <a:r>
              <a:rPr lang="ru-RU" b="0" dirty="0" smtClean="0"/>
              <a:t> - принудительная </a:t>
            </a:r>
            <a:r>
              <a:rPr lang="ru-RU" b="0" dirty="0"/>
              <a:t>корректировка значения MSS в проходящих TCP-пакетах (обычно в SYN) маршрутизатором/шлюзом, чтобы оно не превышало MTU канала. </a:t>
            </a:r>
            <a:endParaRPr lang="ru-RU" dirty="0"/>
          </a:p>
        </p:txBody>
      </p:sp>
      <p:pic>
        <p:nvPicPr>
          <p:cNvPr id="11" name="Объект 10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241436" y="3084552"/>
            <a:ext cx="6678240" cy="293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735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UDP</a:t>
            </a:r>
            <a:endParaRPr lang="ru-RU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690688"/>
            <a:ext cx="6096000" cy="4729070"/>
          </a:xfrm>
          <a:prstGeom prst="rect">
            <a:avLst/>
          </a:prstGeom>
        </p:spPr>
      </p:pic>
      <p:pic>
        <p:nvPicPr>
          <p:cNvPr id="5" name="Picture 2" descr="Chapter 10. User Datagram Protocol (UDP) and IP Fragmentation - Shichao's  No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90688"/>
            <a:ext cx="6096000" cy="46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629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Установите соответствие: Диапазоны </a:t>
            </a:r>
            <a:r>
              <a:rPr lang="ru-RU" b="1" dirty="0" smtClean="0"/>
              <a:t>портов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</p:nvPr>
        </p:nvGraphicFramePr>
        <p:xfrm>
          <a:off x="838200" y="3262154"/>
          <a:ext cx="10515600" cy="1478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15726564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578230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Категория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>
                          <a:effectLst/>
                        </a:rPr>
                        <a:t>Диапазон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4488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А)</a:t>
                      </a:r>
                      <a:r>
                        <a:rPr lang="ru-RU">
                          <a:effectLst/>
                        </a:rPr>
                        <a:t> Частные / динамические (</a:t>
                      </a:r>
                      <a:r>
                        <a:rPr lang="af-ZA">
                          <a:effectLst/>
                        </a:rPr>
                        <a:t>Ephemeral)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1)</a:t>
                      </a:r>
                      <a:r>
                        <a:rPr lang="ru-RU">
                          <a:effectLst/>
                        </a:rPr>
                        <a:t> 1024 – 49151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6393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Б)</a:t>
                      </a:r>
                      <a:r>
                        <a:rPr lang="ru-RU">
                          <a:effectLst/>
                        </a:rPr>
                        <a:t> Общеизвестные (</a:t>
                      </a:r>
                      <a:r>
                        <a:rPr lang="af-ZA">
                          <a:effectLst/>
                        </a:rPr>
                        <a:t>Well-Known)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2)</a:t>
                      </a:r>
                      <a:r>
                        <a:rPr lang="ru-RU">
                          <a:effectLst/>
                        </a:rPr>
                        <a:t> 49152 – 65535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8585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1">
                          <a:effectLst/>
                        </a:rPr>
                        <a:t>В)</a:t>
                      </a:r>
                      <a:r>
                        <a:rPr lang="ru-RU">
                          <a:effectLst/>
                        </a:rPr>
                        <a:t> Зарегистрированные (</a:t>
                      </a:r>
                      <a:r>
                        <a:rPr lang="af-ZA">
                          <a:effectLst/>
                        </a:rPr>
                        <a:t>Registered)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1" dirty="0">
                          <a:effectLst/>
                        </a:rPr>
                        <a:t>3)</a:t>
                      </a:r>
                      <a:r>
                        <a:rPr lang="ru-RU" dirty="0">
                          <a:effectLst/>
                        </a:rPr>
                        <a:t> 0 – 1023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7132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3974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Анализ </a:t>
            </a:r>
            <a:r>
              <a:rPr lang="ru-RU" b="1" dirty="0" smtClean="0"/>
              <a:t>сокетов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На сервере с IP-адресом 192.168.1.10 запущен веб-сервер (порт 80). Два разных клиента обращаются к нему: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Клиент А: 10.0.0.5:54321</a:t>
            </a:r>
          </a:p>
          <a:p>
            <a:pPr marL="0" indent="0">
              <a:buNone/>
            </a:pPr>
            <a:r>
              <a:rPr lang="ru-RU" dirty="0"/>
              <a:t>Клиент Б: 10.0.0.6:54321</a:t>
            </a:r>
          </a:p>
          <a:p>
            <a:pPr marL="0" indent="0">
              <a:buNone/>
            </a:pPr>
            <a:r>
              <a:rPr lang="ru-RU" dirty="0"/>
              <a:t>Вопрос: Сможет ли сервер различить эти два подключения, учитывая, что порты клиентов на их сторонах полностью совпадают? Обоснуйте выбор.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А) Нет, возникнет конфликт портов.</a:t>
            </a:r>
          </a:p>
          <a:p>
            <a:pPr marL="0" indent="0">
              <a:buNone/>
            </a:pPr>
            <a:r>
              <a:rPr lang="ru-RU" dirty="0"/>
              <a:t>Б) Да, так как уникальность соединения определяется 4-tuple (</a:t>
            </a:r>
            <a:r>
              <a:rPr lang="ru-RU" dirty="0" err="1"/>
              <a:t>сокетовой</a:t>
            </a:r>
            <a:r>
              <a:rPr lang="ru-RU" dirty="0"/>
              <a:t> парой {</a:t>
            </a:r>
            <a:r>
              <a:rPr lang="ru-RU" dirty="0" err="1"/>
              <a:t>src_ip</a:t>
            </a:r>
            <a:r>
              <a:rPr lang="ru-RU" dirty="0"/>
              <a:t>, </a:t>
            </a:r>
            <a:r>
              <a:rPr lang="ru-RU" dirty="0" err="1"/>
              <a:t>src_port</a:t>
            </a:r>
            <a:r>
              <a:rPr lang="ru-RU" dirty="0"/>
              <a:t>, </a:t>
            </a:r>
            <a:r>
              <a:rPr lang="ru-RU" dirty="0" err="1"/>
              <a:t>dst_ip</a:t>
            </a:r>
            <a:r>
              <a:rPr lang="ru-RU" dirty="0"/>
              <a:t>, </a:t>
            </a:r>
            <a:r>
              <a:rPr lang="ru-RU" dirty="0" err="1"/>
              <a:t>dst_port</a:t>
            </a:r>
            <a:r>
              <a:rPr lang="ru-RU" dirty="0"/>
              <a:t>}).</a:t>
            </a:r>
          </a:p>
          <a:p>
            <a:pPr marL="0" indent="0">
              <a:buNone/>
            </a:pPr>
            <a:r>
              <a:rPr lang="ru-RU" dirty="0"/>
              <a:t>В) Да, но только если используется протокол UDP.</a:t>
            </a:r>
          </a:p>
        </p:txBody>
      </p:sp>
    </p:spTree>
    <p:extLst>
      <p:ext uri="{BB962C8B-B14F-4D97-AF65-F5344CB8AC3E}">
        <p14:creationId xmlns:p14="http://schemas.microsoft.com/office/powerpoint/2010/main" val="754836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Общеизвестные порты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Укажите номер стандартного порта и транспортный протокол по умолчанию (TCP/UDP):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DNS — порт: ____ , протокол: ____</a:t>
            </a:r>
          </a:p>
          <a:p>
            <a:pPr marL="0" indent="0">
              <a:buNone/>
            </a:pPr>
            <a:r>
              <a:rPr lang="ru-RU" dirty="0"/>
              <a:t>HTTPS — порт: ____ , протокол: ____</a:t>
            </a:r>
          </a:p>
          <a:p>
            <a:pPr marL="0" indent="0">
              <a:buNone/>
            </a:pPr>
            <a:r>
              <a:rPr lang="ru-RU" dirty="0"/>
              <a:t>SSH — порт: ____ , протокол: ____</a:t>
            </a:r>
          </a:p>
          <a:p>
            <a:pPr marL="0" indent="0">
              <a:buNone/>
            </a:pPr>
            <a:r>
              <a:rPr lang="ru-RU" dirty="0"/>
              <a:t>DHCP (сервер) — порт: ____ , протокол: ____</a:t>
            </a:r>
          </a:p>
        </p:txBody>
      </p:sp>
    </p:spTree>
    <p:extLst>
      <p:ext uri="{BB962C8B-B14F-4D97-AF65-F5344CB8AC3E}">
        <p14:creationId xmlns:p14="http://schemas.microsoft.com/office/powerpoint/2010/main" val="2343179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Заполнение </a:t>
            </a:r>
            <a:r>
              <a:rPr lang="ru-RU" b="1" dirty="0" smtClean="0"/>
              <a:t>пропусков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Минимальный </a:t>
            </a:r>
            <a:r>
              <a:rPr lang="ru-RU" dirty="0"/>
              <a:t>размер заголовка протокола </a:t>
            </a:r>
            <a:r>
              <a:rPr lang="ru-RU" b="1" dirty="0"/>
              <a:t>UDP</a:t>
            </a:r>
            <a:r>
              <a:rPr lang="ru-RU" dirty="0"/>
              <a:t> составляет </a:t>
            </a:r>
            <a:r>
              <a:rPr lang="ru-RU" b="1" dirty="0"/>
              <a:t>[ X ]</a:t>
            </a:r>
            <a:r>
              <a:rPr lang="ru-RU" dirty="0"/>
              <a:t> байт, а минимальный размер заголовка протокола </a:t>
            </a:r>
            <a:r>
              <a:rPr lang="ru-RU" b="1" dirty="0"/>
              <a:t>TCP</a:t>
            </a:r>
            <a:r>
              <a:rPr lang="ru-RU" dirty="0"/>
              <a:t> (без опций) составляет </a:t>
            </a:r>
            <a:r>
              <a:rPr lang="ru-RU" b="1" dirty="0"/>
              <a:t>[ Y ]</a:t>
            </a:r>
            <a:r>
              <a:rPr lang="ru-RU" dirty="0"/>
              <a:t> байт.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1954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Определите справедливость утверждений:</a:t>
            </a:r>
          </a:p>
          <a:p>
            <a:r>
              <a:rPr lang="ru-RU" dirty="0"/>
              <a:t>Протокол UDP гарантирует, что если </a:t>
            </a:r>
            <a:r>
              <a:rPr lang="ru-RU" dirty="0" err="1"/>
              <a:t>датаграмма</a:t>
            </a:r>
            <a:r>
              <a:rPr lang="ru-RU" dirty="0"/>
              <a:t> дошла, то данные внутри неё не повреждены (благодаря контрольной сумме, отбрасывающей битые пакеты). </a:t>
            </a:r>
            <a:r>
              <a:rPr lang="ru-RU" i="1" dirty="0"/>
              <a:t>(Верно / Неверно)</a:t>
            </a:r>
            <a:endParaRPr lang="ru-RU" dirty="0"/>
          </a:p>
          <a:p>
            <a:r>
              <a:rPr lang="ru-RU" dirty="0"/>
              <a:t>Протокол UDP при обнаружении ошибки запрашивает повторную передачу у отправителя. </a:t>
            </a:r>
            <a:r>
              <a:rPr lang="ru-RU" i="1" dirty="0"/>
              <a:t>(Верно / Неверно)</a:t>
            </a:r>
            <a:endParaRPr lang="ru-RU" dirty="0"/>
          </a:p>
          <a:p>
            <a:r>
              <a:rPr lang="ru-RU" dirty="0"/>
              <a:t>Одно и то же приложение не может одновременно слушать один и тот же номер порта по TCP и UDP. </a:t>
            </a:r>
            <a:r>
              <a:rPr lang="ru-RU" i="1" dirty="0"/>
              <a:t>(Верно / Неверно)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29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Трёхстороннее рукопожатие (3-way </a:t>
            </a:r>
            <a:r>
              <a:rPr lang="ru-RU" dirty="0" err="1"/>
              <a:t>Handshake</a:t>
            </a:r>
            <a:r>
              <a:rPr lang="ru-RU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/>
              <a:t>Расставьте </a:t>
            </a:r>
            <a:r>
              <a:rPr lang="ru-RU" dirty="0"/>
              <a:t>события в правильном хронологическом порядке при установлении TCP-сессии (от 1 до 4):</a:t>
            </a:r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 Сервер отправляет сегмент с флагами SYN + ACK.</a:t>
            </a:r>
          </a:p>
          <a:p>
            <a:r>
              <a:rPr lang="ru-RU" dirty="0"/>
              <a:t> Клиент переходит в состояние ESTABLISHED и отправляет финальный ACK.</a:t>
            </a:r>
          </a:p>
          <a:p>
            <a:r>
              <a:rPr lang="ru-RU" dirty="0"/>
              <a:t> Клиент генерирует свой ISN и отправляет сегмент с флагом SYN.</a:t>
            </a:r>
          </a:p>
          <a:p>
            <a:r>
              <a:rPr lang="ru-RU" dirty="0"/>
              <a:t> Сервер получает финальный ACK и соединение полностью открыто для обеих сторон.</a:t>
            </a:r>
          </a:p>
        </p:txBody>
      </p:sp>
    </p:spTree>
    <p:extLst>
      <p:ext uri="{BB962C8B-B14F-4D97-AF65-F5344CB8AC3E}">
        <p14:creationId xmlns:p14="http://schemas.microsoft.com/office/powerpoint/2010/main" val="533110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46909"/>
            <a:ext cx="10515600" cy="493005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Клиент отправляет серверу данные в рамках уже установленного соединения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/>
              <a:t>Текущий сегмент клиента: </a:t>
            </a:r>
            <a:r>
              <a:rPr lang="ru-RU" dirty="0" err="1"/>
              <a:t>SeqNum</a:t>
            </a:r>
            <a:r>
              <a:rPr lang="ru-RU" dirty="0"/>
              <a:t> = 5000</a:t>
            </a:r>
          </a:p>
          <a:p>
            <a:r>
              <a:rPr lang="ru-RU" dirty="0"/>
              <a:t>Размер полезной нагрузки (данных без заголовка): 1460 байт</a:t>
            </a:r>
          </a:p>
          <a:p>
            <a:pPr marL="0" indent="0">
              <a:buNone/>
            </a:pPr>
            <a:r>
              <a:rPr lang="ru-RU" dirty="0"/>
              <a:t>Вопрос: Какое значение </a:t>
            </a:r>
            <a:r>
              <a:rPr lang="ru-RU" dirty="0" err="1"/>
              <a:t>AckNum</a:t>
            </a:r>
            <a:r>
              <a:rPr lang="ru-RU" dirty="0"/>
              <a:t> должен вернуть сервер в подтверждении, если сегмент принят без ошибок?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А) 5000</a:t>
            </a:r>
          </a:p>
          <a:p>
            <a:pPr marL="0" indent="0">
              <a:buNone/>
            </a:pPr>
            <a:r>
              <a:rPr lang="ru-RU" dirty="0"/>
              <a:t>Б) 6460</a:t>
            </a:r>
          </a:p>
          <a:p>
            <a:pPr marL="0" indent="0">
              <a:buNone/>
            </a:pPr>
            <a:r>
              <a:rPr lang="ru-RU" dirty="0"/>
              <a:t>В) 6461</a:t>
            </a:r>
          </a:p>
          <a:p>
            <a:pPr marL="0" indent="0">
              <a:buNone/>
            </a:pPr>
            <a:r>
              <a:rPr lang="ru-RU" dirty="0"/>
              <a:t>Г) 1460</a:t>
            </a:r>
          </a:p>
        </p:txBody>
      </p:sp>
    </p:spTree>
    <p:extLst>
      <p:ext uri="{BB962C8B-B14F-4D97-AF65-F5344CB8AC3E}">
        <p14:creationId xmlns:p14="http://schemas.microsoft.com/office/powerpoint/2010/main" val="260598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Почему </a:t>
            </a:r>
            <a:r>
              <a:rPr lang="ru-RU" dirty="0"/>
              <a:t>при отправке пустого сегмента SYN (без полезных данных) с </a:t>
            </a:r>
            <a:r>
              <a:rPr lang="ru-RU" dirty="0" err="1"/>
              <a:t>SeqNum</a:t>
            </a:r>
            <a:r>
              <a:rPr lang="ru-RU" dirty="0"/>
              <a:t> = 100, сервер отвечает квитанцией </a:t>
            </a:r>
            <a:r>
              <a:rPr lang="ru-RU" dirty="0" err="1"/>
              <a:t>AckNum</a:t>
            </a:r>
            <a:r>
              <a:rPr lang="ru-RU" dirty="0"/>
              <a:t> = 101, хотя полезная нагрузка равна 0 байт?</a:t>
            </a:r>
          </a:p>
        </p:txBody>
      </p:sp>
    </p:spTree>
    <p:extLst>
      <p:ext uri="{BB962C8B-B14F-4D97-AF65-F5344CB8AC3E}">
        <p14:creationId xmlns:p14="http://schemas.microsoft.com/office/powerpoint/2010/main" val="3093943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Причина появления номеров кадров в </a:t>
            </a:r>
            <a:r>
              <a:rPr lang="ru-RU" b="1" dirty="0" err="1"/>
              <a:t>Stop-and-Wait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Какую </a:t>
            </a:r>
            <a:r>
              <a:rPr lang="ru-RU" dirty="0"/>
              <a:t>критическую проблему решает введение даже 1-битного порядкового номера (0 и 1) в простейшем алгоритме </a:t>
            </a:r>
            <a:r>
              <a:rPr lang="ru-RU" dirty="0" err="1"/>
              <a:t>Stop-and-Wait</a:t>
            </a:r>
            <a:r>
              <a:rPr lang="ru-RU" dirty="0"/>
              <a:t>?</a:t>
            </a:r>
          </a:p>
          <a:p>
            <a:r>
              <a:rPr lang="ru-RU" dirty="0"/>
              <a:t>А) Ускорение передачи данных в 2 раза.</a:t>
            </a:r>
          </a:p>
          <a:p>
            <a:r>
              <a:rPr lang="ru-RU" dirty="0"/>
              <a:t>Б) Распознавание ситуации, когда подтверждение (ACK) потерялось, и повторно присланный сегмент является </a:t>
            </a:r>
            <a:r>
              <a:rPr lang="ru-RU" b="1" dirty="0"/>
              <a:t>дубликатом</a:t>
            </a:r>
            <a:r>
              <a:rPr lang="ru-RU" dirty="0"/>
              <a:t>, а не новым пакетом.</a:t>
            </a:r>
          </a:p>
          <a:p>
            <a:r>
              <a:rPr lang="ru-RU" dirty="0"/>
              <a:t>В) Управление размером окна на стороне получателя.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1476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Попадание в окно приёма (Задача-ситуация)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Получатель ожидает сегменты в режиме скользящего окна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Номер последнего непрерывно полученного байта (LSR) = 100</a:t>
            </a:r>
          </a:p>
          <a:p>
            <a:r>
              <a:rPr lang="ru-RU" dirty="0"/>
              <a:t>Размер окна приёма (RWS) = 50</a:t>
            </a:r>
          </a:p>
          <a:p>
            <a:r>
              <a:rPr lang="ru-RU" dirty="0"/>
              <a:t>Соответственно, наибольший допустимый байт (LAS) = 150</a:t>
            </a:r>
          </a:p>
          <a:p>
            <a:pPr marL="0" indent="0">
              <a:buNone/>
            </a:pPr>
            <a:r>
              <a:rPr lang="ru-RU" dirty="0"/>
              <a:t>К получателю приходит сегмент с байтами 110–120. Сегменты 101–109 ещё не пришли. Что сделает получатель</a:t>
            </a:r>
            <a:r>
              <a:rPr lang="ru-RU" dirty="0" smtClean="0"/>
              <a:t>?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А) Отбросит сегмент 110–120, так как нарушен строгий порядок.</a:t>
            </a:r>
          </a:p>
          <a:p>
            <a:pPr marL="0" indent="0">
              <a:buNone/>
            </a:pPr>
            <a:r>
              <a:rPr lang="ru-RU" dirty="0"/>
              <a:t>Б) Сохранит сегмент 110–120 в буфер, но кумулятивный ACK пока не сдвинет дальше 100.</a:t>
            </a:r>
          </a:p>
          <a:p>
            <a:pPr marL="0" indent="0">
              <a:buNone/>
            </a:pPr>
            <a:r>
              <a:rPr lang="ru-RU" dirty="0"/>
              <a:t>В) Отправит подтверждение </a:t>
            </a:r>
            <a:r>
              <a:rPr lang="ru-RU" dirty="0" err="1"/>
              <a:t>AckNum</a:t>
            </a:r>
            <a:r>
              <a:rPr lang="ru-RU" dirty="0"/>
              <a:t> = 121.</a:t>
            </a:r>
          </a:p>
        </p:txBody>
      </p:sp>
    </p:spTree>
    <p:extLst>
      <p:ext uri="{BB962C8B-B14F-4D97-AF65-F5344CB8AC3E}">
        <p14:creationId xmlns:p14="http://schemas.microsoft.com/office/powerpoint/2010/main" val="2567949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TCP SACK и Head-of-Line Blocking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Выберите все верные утверждения о механизме TCP </a:t>
            </a:r>
            <a:r>
              <a:rPr lang="ru-RU" dirty="0" err="1"/>
              <a:t>Selective</a:t>
            </a:r>
            <a:r>
              <a:rPr lang="ru-RU" dirty="0"/>
              <a:t> </a:t>
            </a:r>
            <a:r>
              <a:rPr lang="ru-RU" dirty="0" err="1"/>
              <a:t>Acknowledgment</a:t>
            </a:r>
            <a:r>
              <a:rPr lang="ru-RU" dirty="0"/>
              <a:t> (SACK</a:t>
            </a:r>
            <a:r>
              <a:rPr lang="ru-RU" dirty="0" smtClean="0"/>
              <a:t>):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 А) Позволяет передавать в заголовке TCP блоки с номерами диапазонов байт, которые уже приняты не по порядку.</a:t>
            </a:r>
          </a:p>
          <a:p>
            <a:pPr marL="0" indent="0">
              <a:buNone/>
            </a:pPr>
            <a:r>
              <a:rPr lang="ru-RU" dirty="0"/>
              <a:t> Б) Полностью заменяет собой стандартный заголовок TCP, уменьшая накладные расходы.</a:t>
            </a:r>
          </a:p>
          <a:p>
            <a:pPr marL="0" indent="0">
              <a:buNone/>
            </a:pPr>
            <a:r>
              <a:rPr lang="ru-RU" dirty="0"/>
              <a:t> В) Предотвращает ненужную повторную отправку тех сегментов, которые уже успешно дошли, устраняя задержки из-за блокировки головы очереди.</a:t>
            </a:r>
          </a:p>
          <a:p>
            <a:pPr marL="0" indent="0">
              <a:buNone/>
            </a:pPr>
            <a:r>
              <a:rPr lang="ru-RU" dirty="0"/>
              <a:t> Г) Может быть включен в любой момент сессии без предварительного согласования в SYN-пакетах.</a:t>
            </a:r>
          </a:p>
        </p:txBody>
      </p:sp>
    </p:spTree>
    <p:extLst>
      <p:ext uri="{BB962C8B-B14F-4D97-AF65-F5344CB8AC3E}">
        <p14:creationId xmlns:p14="http://schemas.microsoft.com/office/powerpoint/2010/main" val="3980470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/>
            <a:r>
              <a:rPr lang="ru-RU" dirty="0"/>
              <a:t>Расчёт эффективного окна отправки (</a:t>
            </a:r>
            <a:r>
              <a:rPr lang="ru-RU" dirty="0" err="1"/>
              <a:t>Flow</a:t>
            </a:r>
            <a:r>
              <a:rPr lang="ru-RU" dirty="0"/>
              <a:t> </a:t>
            </a:r>
            <a:r>
              <a:rPr lang="ru-RU" dirty="0" err="1"/>
              <a:t>Control</a:t>
            </a:r>
            <a:r>
              <a:rPr lang="ru-RU" dirty="0"/>
              <a:t> </a:t>
            </a:r>
            <a:r>
              <a:rPr lang="ru-RU" dirty="0" err="1"/>
              <a:t>vs</a:t>
            </a:r>
            <a:r>
              <a:rPr lang="ru-RU" dirty="0"/>
              <a:t> </a:t>
            </a:r>
            <a:r>
              <a:rPr lang="ru-RU" dirty="0" err="1"/>
              <a:t>Congestion</a:t>
            </a:r>
            <a:r>
              <a:rPr lang="ru-RU" dirty="0"/>
              <a:t> </a:t>
            </a:r>
            <a:r>
              <a:rPr lang="ru-RU" dirty="0" err="1"/>
              <a:t>Control</a:t>
            </a:r>
            <a:r>
              <a:rPr lang="ru-RU" dirty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smtClean="0"/>
              <a:t>Отправитель </a:t>
            </a:r>
            <a:r>
              <a:rPr lang="ru-RU" dirty="0"/>
              <a:t>собирается передать данные в сеть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/>
              <a:t>Окно получателя (буфер приёмника, RWND) = 64 КБ</a:t>
            </a:r>
          </a:p>
          <a:p>
            <a:r>
              <a:rPr lang="ru-RU" dirty="0"/>
              <a:t>Окно перегрузки сети (оценка канала отправителем, CWND) = 16 КБ</a:t>
            </a:r>
          </a:p>
          <a:p>
            <a:pPr marL="0" indent="0">
              <a:buNone/>
            </a:pPr>
            <a:r>
              <a:rPr lang="ru-RU" dirty="0"/>
              <a:t>Вопрос: Какой максимальный объем неподтвержденных данных отправитель имеет право отправить в сеть в данный момент</a:t>
            </a:r>
            <a:r>
              <a:rPr lang="ru-RU" dirty="0" smtClean="0"/>
              <a:t>?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А) 64 КБ</a:t>
            </a:r>
          </a:p>
          <a:p>
            <a:pPr marL="0" indent="0">
              <a:buNone/>
            </a:pPr>
            <a:r>
              <a:rPr lang="ru-RU" dirty="0"/>
              <a:t>Б) 80 КБ (64 + 16)</a:t>
            </a:r>
          </a:p>
          <a:p>
            <a:pPr marL="0" indent="0">
              <a:buNone/>
            </a:pPr>
            <a:r>
              <a:rPr lang="ru-RU" dirty="0"/>
              <a:t>В) 16 КБ</a:t>
            </a:r>
          </a:p>
          <a:p>
            <a:pPr marL="0" indent="0">
              <a:buNone/>
            </a:pPr>
            <a:r>
              <a:rPr lang="ru-RU" dirty="0"/>
              <a:t>Г) 48 КБ (64 - 16)</a:t>
            </a:r>
          </a:p>
        </p:txBody>
      </p:sp>
    </p:spTree>
    <p:extLst>
      <p:ext uri="{BB962C8B-B14F-4D97-AF65-F5344CB8AC3E}">
        <p14:creationId xmlns:p14="http://schemas.microsoft.com/office/powerpoint/2010/main" val="3323604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TCP Window </a:t>
            </a:r>
            <a:r>
              <a:rPr lang="af-ZA" b="1" dirty="0" smtClean="0"/>
              <a:t>Scaling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Поле </a:t>
            </a:r>
            <a:r>
              <a:rPr lang="ru-RU" dirty="0" err="1"/>
              <a:t>Window</a:t>
            </a:r>
            <a:r>
              <a:rPr lang="ru-RU" dirty="0"/>
              <a:t> </a:t>
            </a:r>
            <a:r>
              <a:rPr lang="ru-RU" dirty="0" err="1"/>
              <a:t>Size</a:t>
            </a:r>
            <a:r>
              <a:rPr lang="ru-RU" dirty="0"/>
              <a:t> в заголовке TCP имеет фиксированный размер 16 бит (максимум ~65 КБ). Почему этого стало не хватать в современных сетях</a:t>
            </a:r>
            <a:r>
              <a:rPr lang="ru-RU" dirty="0" smtClean="0"/>
              <a:t>?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А) Увеличился BDP (</a:t>
            </a:r>
            <a:r>
              <a:rPr lang="ru-RU" dirty="0" err="1"/>
              <a:t>Bandwidth-Delay</a:t>
            </a:r>
            <a:r>
              <a:rPr lang="ru-RU" dirty="0"/>
              <a:t> </a:t>
            </a:r>
            <a:r>
              <a:rPr lang="ru-RU" dirty="0" err="1"/>
              <a:t>Product</a:t>
            </a:r>
            <a:r>
              <a:rPr lang="ru-RU" dirty="0"/>
              <a:t>) — пропускная способность и задержка каналов требуют держать в "трубе" мегабайты неподтвержденных данных.</a:t>
            </a:r>
          </a:p>
          <a:p>
            <a:pPr marL="0" indent="0">
              <a:buNone/>
            </a:pPr>
            <a:r>
              <a:rPr lang="ru-RU" dirty="0"/>
              <a:t>Б) В интернете закончились свободные IP-адреса.</a:t>
            </a:r>
          </a:p>
          <a:p>
            <a:pPr marL="0" indent="0">
              <a:buNone/>
            </a:pPr>
            <a:r>
              <a:rPr lang="ru-RU" dirty="0"/>
              <a:t>В) Сегменты стали дробиться на уровне IP.</a:t>
            </a:r>
          </a:p>
        </p:txBody>
      </p:sp>
    </p:spTree>
    <p:extLst>
      <p:ext uri="{BB962C8B-B14F-4D97-AF65-F5344CB8AC3E}">
        <p14:creationId xmlns:p14="http://schemas.microsoft.com/office/powerpoint/2010/main" val="3560264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b="1" dirty="0"/>
              <a:t>TCP </a:t>
            </a:r>
            <a:r>
              <a:rPr lang="ru-RU" b="1" dirty="0"/>
              <a:t>или </a:t>
            </a:r>
            <a:r>
              <a:rPr lang="af-ZA" b="1" dirty="0"/>
              <a:t>UDP</a:t>
            </a:r>
            <a:r>
              <a:rPr lang="af-ZA" b="1" dirty="0" smtClean="0"/>
              <a:t>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Выберите наиболее подходящий транспортный протокол для каждого кейса</a:t>
            </a:r>
            <a:r>
              <a:rPr lang="ru-RU" dirty="0" smtClean="0"/>
              <a:t>: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Онлайн-</a:t>
            </a:r>
            <a:r>
              <a:rPr lang="ru-RU" dirty="0" err="1"/>
              <a:t>шутер</a:t>
            </a:r>
            <a:r>
              <a:rPr lang="ru-RU" dirty="0"/>
              <a:t> от первого лица (критически важен минимальный </a:t>
            </a:r>
            <a:r>
              <a:rPr lang="ru-RU" dirty="0" err="1"/>
              <a:t>пинг</a:t>
            </a:r>
            <a:r>
              <a:rPr lang="ru-RU" dirty="0"/>
              <a:t> обновления позиций игроков): [ TCP / UDP ]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Перевод денег через банковский API (потеря или дублирование запроса недопустимы): [ TCP / UDP ]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Загрузка ISO-образа операционной системы размером 4 ГБ: [ TCP / UDP ]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Быстрый </a:t>
            </a:r>
            <a:r>
              <a:rPr lang="ru-RU" dirty="0" err="1"/>
              <a:t>резолвинг</a:t>
            </a:r>
            <a:r>
              <a:rPr lang="ru-RU" dirty="0"/>
              <a:t> доменного имени (DNS) в 1 пакет «запрос-ответ»: [ TCP / UDP ]</a:t>
            </a:r>
          </a:p>
        </p:txBody>
      </p:sp>
    </p:spTree>
    <p:extLst>
      <p:ext uri="{BB962C8B-B14F-4D97-AF65-F5344CB8AC3E}">
        <p14:creationId xmlns:p14="http://schemas.microsoft.com/office/powerpoint/2010/main" val="240313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/>
            <a:r>
              <a:rPr lang="ru-RU" dirty="0"/>
              <a:t>Зависание передачи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Получатель </a:t>
            </a:r>
            <a:r>
              <a:rPr lang="ru-RU" dirty="0"/>
              <a:t>отправил сегмент с </a:t>
            </a:r>
            <a:r>
              <a:rPr lang="ru-RU" dirty="0" err="1"/>
              <a:t>Window</a:t>
            </a:r>
            <a:r>
              <a:rPr lang="ru-RU" dirty="0"/>
              <a:t> </a:t>
            </a:r>
            <a:r>
              <a:rPr lang="ru-RU" dirty="0" err="1"/>
              <a:t>Size</a:t>
            </a:r>
            <a:r>
              <a:rPr lang="ru-RU" dirty="0"/>
              <a:t> = 0 (буфер переполнен). Через некоторое время процесс на стороне получателя вычитал данные из буфера, и окно снова открылось, но сегмент с новым </a:t>
            </a:r>
            <a:r>
              <a:rPr lang="ru-RU" dirty="0" err="1"/>
              <a:t>Window</a:t>
            </a:r>
            <a:r>
              <a:rPr lang="ru-RU" dirty="0"/>
              <a:t> </a:t>
            </a:r>
            <a:r>
              <a:rPr lang="ru-RU" dirty="0" err="1"/>
              <a:t>Size</a:t>
            </a:r>
            <a:r>
              <a:rPr lang="ru-RU" dirty="0"/>
              <a:t> &gt; 0 потерялся по дороге к отправителю.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Что произойдет в базовом протоколе, если нет специальных мер, и как отправитель выходит из этого «клинча»?</a:t>
            </a:r>
          </a:p>
        </p:txBody>
      </p:sp>
    </p:spTree>
    <p:extLst>
      <p:ext uri="{BB962C8B-B14F-4D97-AF65-F5344CB8AC3E}">
        <p14:creationId xmlns:p14="http://schemas.microsoft.com/office/powerpoint/2010/main" val="2294111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3112</TotalTime>
  <Words>1593</Words>
  <Application>Microsoft Office PowerPoint</Application>
  <PresentationFormat>Широкоэкранный</PresentationFormat>
  <Paragraphs>230</Paragraphs>
  <Slides>44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49" baseType="lpstr">
      <vt:lpstr>Arial</vt:lpstr>
      <vt:lpstr>Calibri</vt:lpstr>
      <vt:lpstr>Calibri Light</vt:lpstr>
      <vt:lpstr>Google Sans</vt:lpstr>
      <vt:lpstr>Тема Office</vt:lpstr>
      <vt:lpstr>Транспортный уровень модели OSI/TCP-IP</vt:lpstr>
      <vt:lpstr>Проблематика и задачи транспортного уровня</vt:lpstr>
      <vt:lpstr>Демультиплексирование</vt:lpstr>
      <vt:lpstr>TCP, общие сведения </vt:lpstr>
      <vt:lpstr>UDP, общие сведения</vt:lpstr>
      <vt:lpstr>Адресация портов TCP и UDP</vt:lpstr>
      <vt:lpstr>Сокеты</vt:lpstr>
      <vt:lpstr>Известные порты</vt:lpstr>
      <vt:lpstr>TCP. Установление соединения</vt:lpstr>
      <vt:lpstr>TCP. Завершение соединения</vt:lpstr>
      <vt:lpstr>Надежная передача: Stop-and-Wait</vt:lpstr>
      <vt:lpstr>Надежная передача: Stop-and-Wait</vt:lpstr>
      <vt:lpstr>Bandwidth-Delay Product</vt:lpstr>
      <vt:lpstr>Надежная передача: Sliding Window</vt:lpstr>
      <vt:lpstr>Надежная передача: Sliding Window</vt:lpstr>
      <vt:lpstr>Надежная передача: Sliding Window</vt:lpstr>
      <vt:lpstr>Надежная передача: кумулятивной подтверждение</vt:lpstr>
      <vt:lpstr>Надёжная доставка TCP</vt:lpstr>
      <vt:lpstr>Надёжная доставка TCP</vt:lpstr>
      <vt:lpstr>Надёжная доставка TCP</vt:lpstr>
      <vt:lpstr>Надёжная доставка TCP</vt:lpstr>
      <vt:lpstr>Презентация PowerPoint</vt:lpstr>
      <vt:lpstr>TCP заголовок</vt:lpstr>
      <vt:lpstr>TCP Window Scaling</vt:lpstr>
      <vt:lpstr>TCP SACK</vt:lpstr>
      <vt:lpstr>TCP SACK</vt:lpstr>
      <vt:lpstr>TCP Congestion Control</vt:lpstr>
      <vt:lpstr>TCP MSS и MSS Clamping</vt:lpstr>
      <vt:lpstr>UDP</vt:lpstr>
      <vt:lpstr>Установите соответствие: Диапазоны портов</vt:lpstr>
      <vt:lpstr>Анализ сокетов</vt:lpstr>
      <vt:lpstr>Общеизвестные порты</vt:lpstr>
      <vt:lpstr>Заполнение пропусков</vt:lpstr>
      <vt:lpstr>Презентация PowerPoint</vt:lpstr>
      <vt:lpstr>Трёхстороннее рукопожатие (3-way Handshake)</vt:lpstr>
      <vt:lpstr>Презентация PowerPoint</vt:lpstr>
      <vt:lpstr>Презентация PowerPoint</vt:lpstr>
      <vt:lpstr>Причина появления номеров кадров в Stop-and-Wait</vt:lpstr>
      <vt:lpstr>Попадание в окно приёма (Задача-ситуация)</vt:lpstr>
      <vt:lpstr>TCP SACK и Head-of-Line Blocking</vt:lpstr>
      <vt:lpstr>Расчёт эффективного окна отправки (Flow Control vs Congestion Control)</vt:lpstr>
      <vt:lpstr>TCP Window Scaling</vt:lpstr>
      <vt:lpstr>TCP или UDP?</vt:lpstr>
      <vt:lpstr>Зависание передачи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Транспортный уровень модели OSI/TCP-IP</dc:title>
  <dc:creator>Тимур А. Нахтигаль</dc:creator>
  <cp:lastModifiedBy>Тимур А. Нахтигаль</cp:lastModifiedBy>
  <cp:revision>58</cp:revision>
  <dcterms:created xsi:type="dcterms:W3CDTF">2026-08-31T13:10:39Z</dcterms:created>
  <dcterms:modified xsi:type="dcterms:W3CDTF">2026-10-13T07:51:51Z</dcterms:modified>
</cp:coreProperties>
</file>