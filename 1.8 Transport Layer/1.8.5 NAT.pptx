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70" r:id="rId15"/>
    <p:sldId id="271" r:id="rId16"/>
    <p:sldId id="272" r:id="rId17"/>
    <p:sldId id="273" r:id="rId18"/>
    <p:sldId id="274" r:id="rId19"/>
    <p:sldId id="277" r:id="rId20"/>
    <p:sldId id="278" r:id="rId21"/>
    <p:sldId id="279" r:id="rId22"/>
    <p:sldId id="280" r:id="rId23"/>
    <p:sldId id="281" r:id="rId24"/>
    <p:sldId id="275" r:id="rId25"/>
    <p:sldId id="282" r:id="rId26"/>
    <p:sldId id="283" r:id="rId27"/>
    <p:sldId id="284" r:id="rId28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>
      <p:cViewPr varScale="1">
        <p:scale>
          <a:sx n="109" d="100"/>
          <a:sy n="109" d="100"/>
        </p:scale>
        <p:origin x="636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 smtClean="0"/>
              <a:t>Образец подзаголовка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3039562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730403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7497695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033921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5" name="Текст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6" name="Объект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7" name="Дата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8" name="Нижний колонтитул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6168603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4" name="Нижний колонтитул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5724097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3" name="Нижний колонтитул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528558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2380090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Рисунок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 smtClean="0"/>
              <a:t>Образец текста</a:t>
            </a:r>
          </a:p>
        </p:txBody>
      </p:sp>
      <p:sp>
        <p:nvSpPr>
          <p:cNvPr id="5" name="Дата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78797919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03458181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Вертикальный текст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88053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 smtClean="0"/>
              <a:t>Образец заголовка</a:t>
            </a:r>
            <a:endParaRPr lang="ru-RU"/>
          </a:p>
        </p:txBody>
      </p:sp>
      <p:sp>
        <p:nvSpPr>
          <p:cNvPr id="3" name="Текст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 smtClean="0"/>
              <a:t>Образец текста</a:t>
            </a:r>
          </a:p>
          <a:p>
            <a:pPr lvl="1"/>
            <a:r>
              <a:rPr lang="ru-RU" smtClean="0"/>
              <a:t>Второй уровень</a:t>
            </a:r>
          </a:p>
          <a:p>
            <a:pPr lvl="2"/>
            <a:r>
              <a:rPr lang="ru-RU" smtClean="0"/>
              <a:t>Третий уровень</a:t>
            </a:r>
          </a:p>
          <a:p>
            <a:pPr lvl="3"/>
            <a:r>
              <a:rPr lang="ru-RU" smtClean="0"/>
              <a:t>Четвертый уровень</a:t>
            </a:r>
          </a:p>
          <a:p>
            <a:pPr lvl="4"/>
            <a:r>
              <a:rPr lang="ru-RU" smtClean="0"/>
              <a:t>Пятый уровень</a:t>
            </a:r>
            <a:endParaRPr lang="ru-RU"/>
          </a:p>
        </p:txBody>
      </p:sp>
      <p:sp>
        <p:nvSpPr>
          <p:cNvPr id="4" name="Дата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D5C918B-9C96-49F5-960F-F5773254AD7D}" type="datetimeFigureOut">
              <a:rPr lang="ru-RU" smtClean="0"/>
              <a:t>14.10.2026</a:t>
            </a:fld>
            <a:endParaRPr lang="ru-RU"/>
          </a:p>
        </p:txBody>
      </p:sp>
      <p:sp>
        <p:nvSpPr>
          <p:cNvPr id="5" name="Нижний колонтитул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03F191E-B40C-4F9F-A0F9-62925AABA46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64410846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ctrTitle"/>
          </p:nvPr>
        </p:nvSpPr>
        <p:spPr/>
        <p:txBody>
          <a:bodyPr>
            <a:normAutofit fontScale="90000"/>
          </a:bodyPr>
          <a:lstStyle/>
          <a:p>
            <a:r>
              <a:rPr lang="en-US" dirty="0" smtClean="0"/>
              <a:t>NAT </a:t>
            </a:r>
            <a:br>
              <a:rPr lang="en-US" dirty="0" smtClean="0"/>
            </a:br>
            <a:r>
              <a:rPr lang="en-US" dirty="0" smtClean="0"/>
              <a:t>(Network Address Translation)</a:t>
            </a:r>
            <a:endParaRPr lang="ru-RU" dirty="0"/>
          </a:p>
        </p:txBody>
      </p:sp>
      <p:sp>
        <p:nvSpPr>
          <p:cNvPr id="3" name="Подзаголовок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4658713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Access Control Lists (ACLs)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/>
              <a:t>Список контроля доступа (ACL) — это последовательный список разрешающих или запрещающих операторов, называемых записями списка контроля доступа (ACE</a:t>
            </a:r>
            <a:r>
              <a:rPr lang="ru-RU" dirty="0" smtClean="0"/>
              <a:t>).</a:t>
            </a:r>
            <a:endParaRPr lang="en-US" dirty="0" smtClean="0"/>
          </a:p>
          <a:p>
            <a:pPr marL="0" indent="0">
              <a:buNone/>
            </a:pPr>
            <a:r>
              <a:rPr lang="ru-RU" dirty="0" smtClean="0"/>
              <a:t>Задачи </a:t>
            </a:r>
            <a:r>
              <a:rPr lang="en-US" dirty="0" smtClean="0"/>
              <a:t>ACL:</a:t>
            </a:r>
          </a:p>
          <a:p>
            <a:r>
              <a:rPr lang="ru-RU" dirty="0"/>
              <a:t>Ограничение сетевого трафика </a:t>
            </a:r>
            <a:endParaRPr lang="en-US" dirty="0" smtClean="0"/>
          </a:p>
          <a:p>
            <a:r>
              <a:rPr lang="ru-RU" dirty="0"/>
              <a:t>Управление потоком </a:t>
            </a:r>
            <a:r>
              <a:rPr lang="ru-RU" dirty="0" smtClean="0"/>
              <a:t>трафика</a:t>
            </a:r>
            <a:endParaRPr lang="en-US" dirty="0" smtClean="0"/>
          </a:p>
          <a:p>
            <a:r>
              <a:rPr lang="ru-RU" dirty="0"/>
              <a:t>Фильтрация трафика на основе типа </a:t>
            </a:r>
            <a:r>
              <a:rPr lang="ru-RU" dirty="0" smtClean="0"/>
              <a:t>трафика</a:t>
            </a:r>
            <a:endParaRPr lang="en-US" dirty="0" smtClean="0"/>
          </a:p>
          <a:p>
            <a:r>
              <a:rPr lang="ru-RU" dirty="0"/>
              <a:t>Предоставление приоритета определенным классам сетевого трафика</a:t>
            </a:r>
            <a:endParaRPr lang="en-US" dirty="0" smtClean="0"/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5694920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Виды </a:t>
            </a:r>
            <a:r>
              <a:rPr lang="en-US" dirty="0" smtClean="0"/>
              <a:t>ACL </a:t>
            </a:r>
            <a:r>
              <a:rPr lang="ru-RU" dirty="0" smtClean="0"/>
              <a:t>в </a:t>
            </a:r>
            <a:r>
              <a:rPr lang="en-US" dirty="0" smtClean="0"/>
              <a:t>Cisco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sz="4000" dirty="0" smtClean="0"/>
              <a:t>Standard ACL – </a:t>
            </a:r>
            <a:r>
              <a:rPr lang="ru-RU" sz="4000" dirty="0" err="1" smtClean="0"/>
              <a:t>матчит</a:t>
            </a:r>
            <a:r>
              <a:rPr lang="ru-RU" sz="4000" dirty="0" smtClean="0"/>
              <a:t> только по </a:t>
            </a:r>
            <a:r>
              <a:rPr lang="en-US" sz="4000" dirty="0" smtClean="0"/>
              <a:t>IP</a:t>
            </a:r>
            <a:r>
              <a:rPr lang="ru-RU" sz="4000" dirty="0" smtClean="0"/>
              <a:t>-адресу источника.</a:t>
            </a:r>
          </a:p>
          <a:p>
            <a:pPr marL="0" indent="0">
              <a:buNone/>
            </a:pPr>
            <a:endParaRPr lang="ru-RU" sz="4000" dirty="0" smtClean="0"/>
          </a:p>
          <a:p>
            <a:pPr marL="0" indent="0">
              <a:buNone/>
            </a:pPr>
            <a:r>
              <a:rPr lang="ru-RU" sz="4000" dirty="0" err="1"/>
              <a:t>Extended</a:t>
            </a:r>
            <a:r>
              <a:rPr lang="ru-RU" sz="4000" dirty="0"/>
              <a:t> </a:t>
            </a:r>
            <a:r>
              <a:rPr lang="ru-RU" sz="4000" dirty="0" smtClean="0"/>
              <a:t>ACL – </a:t>
            </a:r>
            <a:r>
              <a:rPr lang="ru-RU" sz="4000" dirty="0" err="1"/>
              <a:t>матчит</a:t>
            </a:r>
            <a:r>
              <a:rPr lang="ru-RU" sz="4000" dirty="0"/>
              <a:t> и источник, и назначение, и протокол, и </a:t>
            </a:r>
            <a:r>
              <a:rPr lang="ru-RU" sz="4000" dirty="0" smtClean="0"/>
              <a:t>порты.</a:t>
            </a:r>
          </a:p>
          <a:p>
            <a:pPr marL="0" indent="0">
              <a:buNone/>
            </a:pPr>
            <a:endParaRPr lang="ru-RU" dirty="0"/>
          </a:p>
          <a:p>
            <a:pPr marL="0" indent="0">
              <a:buNone/>
            </a:pP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5512567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Порядок обработки в </a:t>
            </a:r>
            <a:r>
              <a:rPr lang="en-US" dirty="0" smtClean="0"/>
              <a:t>ACL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2740025"/>
            <a:ext cx="10515600" cy="3150821"/>
          </a:xfrm>
        </p:spPr>
        <p:txBody>
          <a:bodyPr>
            <a:normAutofit/>
          </a:bodyPr>
          <a:lstStyle/>
          <a:p>
            <a:pPr marL="514350" indent="-514350">
              <a:buAutoNum type="arabicPeriod"/>
            </a:pPr>
            <a:r>
              <a:rPr lang="ru-RU" dirty="0" smtClean="0"/>
              <a:t>Правила обрабатываются сверху вниз.</a:t>
            </a:r>
          </a:p>
          <a:p>
            <a:pPr marL="514350" indent="-514350">
              <a:buAutoNum type="arabicPeriod"/>
            </a:pPr>
            <a:r>
              <a:rPr lang="ru-RU" dirty="0" smtClean="0"/>
              <a:t>Применяется </a:t>
            </a:r>
            <a:r>
              <a:rPr lang="ru-RU" b="1" dirty="0" smtClean="0"/>
              <a:t>первое</a:t>
            </a:r>
            <a:r>
              <a:rPr lang="ru-RU" dirty="0" smtClean="0"/>
              <a:t> совпавшее правило – все после него не имеют значения.</a:t>
            </a:r>
          </a:p>
          <a:p>
            <a:pPr marL="514350" indent="-514350">
              <a:buAutoNum type="arabicPeriod"/>
            </a:pPr>
            <a:r>
              <a:rPr lang="ru-RU" dirty="0" smtClean="0"/>
              <a:t>В конце любого </a:t>
            </a:r>
            <a:r>
              <a:rPr lang="en-US" dirty="0" smtClean="0"/>
              <a:t>ACL – </a:t>
            </a:r>
            <a:r>
              <a:rPr lang="ru-RU" dirty="0" smtClean="0"/>
              <a:t>неявное </a:t>
            </a:r>
            <a:r>
              <a:rPr lang="en-US" b="1" dirty="0" smtClean="0"/>
              <a:t>deny any </a:t>
            </a:r>
            <a:r>
              <a:rPr lang="en-US" dirty="0" smtClean="0"/>
              <a:t>(</a:t>
            </a:r>
            <a:r>
              <a:rPr lang="ru-RU" dirty="0" smtClean="0"/>
              <a:t>запретить всё).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8579868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Заголовок 3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Порядок правил важен. Более «узкое» правило должно быть выше.</a:t>
            </a:r>
            <a:endParaRPr lang="ru-RU" dirty="0"/>
          </a:p>
        </p:txBody>
      </p:sp>
      <p:sp>
        <p:nvSpPr>
          <p:cNvPr id="5" name="Текст 4"/>
          <p:cNvSpPr>
            <a:spLocks noGrp="1"/>
          </p:cNvSpPr>
          <p:nvPr>
            <p:ph type="body" idx="1"/>
          </p:nvPr>
        </p:nvSpPr>
        <p:spPr>
          <a:xfrm>
            <a:off x="839788" y="2505075"/>
            <a:ext cx="5157787" cy="482844"/>
          </a:xfrm>
        </p:spPr>
        <p:txBody>
          <a:bodyPr/>
          <a:lstStyle/>
          <a:p>
            <a:r>
              <a:rPr lang="ru-RU" dirty="0" smtClean="0"/>
              <a:t>Не сработает</a:t>
            </a:r>
            <a:endParaRPr lang="ru-RU" dirty="0"/>
          </a:p>
        </p:txBody>
      </p:sp>
      <p:sp>
        <p:nvSpPr>
          <p:cNvPr id="6" name="Объект 5"/>
          <p:cNvSpPr>
            <a:spLocks noGrp="1"/>
          </p:cNvSpPr>
          <p:nvPr>
            <p:ph sz="half" idx="2"/>
          </p:nvPr>
        </p:nvSpPr>
        <p:spPr>
          <a:xfrm>
            <a:off x="839788" y="3244361"/>
            <a:ext cx="5157787" cy="2945301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Запретить всё из сети 10.0.0.0/24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Разрешить от 10.0.0.5 на </a:t>
            </a:r>
            <a:r>
              <a:rPr lang="ru-RU" dirty="0"/>
              <a:t>192.168.10.10 </a:t>
            </a:r>
            <a:r>
              <a:rPr lang="ru-RU" dirty="0" smtClean="0"/>
              <a:t>порт 22.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Неявный запрет на всё</a:t>
            </a:r>
            <a:endParaRPr lang="ru-RU" dirty="0"/>
          </a:p>
        </p:txBody>
      </p:sp>
      <p:sp>
        <p:nvSpPr>
          <p:cNvPr id="7" name="Текст 6"/>
          <p:cNvSpPr>
            <a:spLocks noGrp="1"/>
          </p:cNvSpPr>
          <p:nvPr>
            <p:ph type="body" sz="quarter" idx="3"/>
          </p:nvPr>
        </p:nvSpPr>
        <p:spPr>
          <a:xfrm>
            <a:off x="6172200" y="2505075"/>
            <a:ext cx="5183188" cy="482844"/>
          </a:xfrm>
        </p:spPr>
        <p:txBody>
          <a:bodyPr/>
          <a:lstStyle/>
          <a:p>
            <a:r>
              <a:rPr lang="ru-RU" dirty="0" smtClean="0"/>
              <a:t>Сработает</a:t>
            </a:r>
            <a:endParaRPr lang="ru-RU" dirty="0"/>
          </a:p>
        </p:txBody>
      </p:sp>
      <p:sp>
        <p:nvSpPr>
          <p:cNvPr id="8" name="Объект 7"/>
          <p:cNvSpPr>
            <a:spLocks noGrp="1"/>
          </p:cNvSpPr>
          <p:nvPr>
            <p:ph sz="quarter" idx="4"/>
          </p:nvPr>
        </p:nvSpPr>
        <p:spPr>
          <a:xfrm>
            <a:off x="6172200" y="3244361"/>
            <a:ext cx="5183188" cy="2945302"/>
          </a:xfrm>
        </p:spPr>
        <p:txBody>
          <a:bodyPr/>
          <a:lstStyle/>
          <a:p>
            <a:pPr marL="514350" indent="-514350">
              <a:buFont typeface="+mj-lt"/>
              <a:buAutoNum type="arabicPeriod"/>
            </a:pPr>
            <a:r>
              <a:rPr lang="ru-RU" dirty="0" smtClean="0"/>
              <a:t>Разрешить от 10.0.0.5 на </a:t>
            </a:r>
            <a:r>
              <a:rPr lang="ru-RU" dirty="0"/>
              <a:t>192.168.10.10 </a:t>
            </a:r>
            <a:r>
              <a:rPr lang="ru-RU" dirty="0" smtClean="0"/>
              <a:t>порт 22.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Запретить всё из сети 10.0.0.0/24</a:t>
            </a:r>
          </a:p>
          <a:p>
            <a:pPr marL="514350" indent="-514350">
              <a:buFont typeface="+mj-lt"/>
              <a:buAutoNum type="arabicPeriod"/>
            </a:pPr>
            <a:r>
              <a:rPr lang="ru-RU" dirty="0" smtClean="0"/>
              <a:t>Неявный запрет на всё</a:t>
            </a:r>
          </a:p>
          <a:p>
            <a:endParaRPr lang="ru-RU" dirty="0"/>
          </a:p>
        </p:txBody>
      </p:sp>
      <p:sp>
        <p:nvSpPr>
          <p:cNvPr id="9" name="TextBox 8"/>
          <p:cNvSpPr txBox="1"/>
          <p:nvPr/>
        </p:nvSpPr>
        <p:spPr>
          <a:xfrm>
            <a:off x="3130878" y="1786968"/>
            <a:ext cx="668099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 smtClean="0"/>
              <a:t>Пакет: от 10.0.0.5 -</a:t>
            </a:r>
            <a:r>
              <a:rPr lang="en-US" sz="2400" dirty="0" smtClean="0"/>
              <a:t>&gt; </a:t>
            </a:r>
            <a:r>
              <a:rPr lang="ru-RU" sz="2400" dirty="0" smtClean="0"/>
              <a:t>к 192.168.10.10, порт 22 (</a:t>
            </a:r>
            <a:r>
              <a:rPr lang="en-US" sz="2400" dirty="0" smtClean="0"/>
              <a:t>SSH</a:t>
            </a:r>
            <a:r>
              <a:rPr lang="ru-RU" sz="2400" dirty="0" smtClean="0"/>
              <a:t>)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36682110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Куда </a:t>
            </a:r>
            <a:r>
              <a:rPr lang="en-US" dirty="0" smtClean="0"/>
              <a:t>ACL </a:t>
            </a:r>
            <a:r>
              <a:rPr lang="ru-RU" dirty="0" smtClean="0"/>
              <a:t>применяется</a:t>
            </a:r>
            <a:endParaRPr lang="ru-RU" dirty="0"/>
          </a:p>
        </p:txBody>
      </p:sp>
      <p:pic>
        <p:nvPicPr>
          <p:cNvPr id="8" name="Объект 7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200150" y="1690688"/>
            <a:ext cx="9791700" cy="16192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7049869" y="3278799"/>
            <a:ext cx="33250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Исходящий трафик – после маршрутизации.</a:t>
            </a:r>
            <a:endParaRPr lang="ru-RU" sz="2400" dirty="0"/>
          </a:p>
        </p:txBody>
      </p:sp>
      <p:sp>
        <p:nvSpPr>
          <p:cNvPr id="10" name="TextBox 9"/>
          <p:cNvSpPr txBox="1"/>
          <p:nvPr/>
        </p:nvSpPr>
        <p:spPr>
          <a:xfrm>
            <a:off x="1724662" y="3309938"/>
            <a:ext cx="3325054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ru-RU" sz="2400" dirty="0" smtClean="0"/>
              <a:t>Входящий трафик – до маршрутизации.</a:t>
            </a:r>
            <a:endParaRPr lang="ru-RU" sz="2400" dirty="0"/>
          </a:p>
        </p:txBody>
      </p:sp>
      <p:sp>
        <p:nvSpPr>
          <p:cNvPr id="11" name="TextBox 10"/>
          <p:cNvSpPr txBox="1"/>
          <p:nvPr/>
        </p:nvSpPr>
        <p:spPr>
          <a:xfrm>
            <a:off x="528738" y="5236242"/>
            <a:ext cx="11134523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ru-RU" sz="2400" dirty="0" smtClean="0"/>
              <a:t>!!!</a:t>
            </a:r>
            <a:r>
              <a:rPr lang="en-US" sz="2400" dirty="0" smtClean="0"/>
              <a:t>ACL </a:t>
            </a:r>
            <a:r>
              <a:rPr lang="ru-RU" sz="2400" dirty="0" smtClean="0"/>
              <a:t>на интерфейсах не действуют на трафик, который создаёт само устройства!!!</a:t>
            </a:r>
            <a:endParaRPr lang="ru-RU" sz="2400" dirty="0"/>
          </a:p>
        </p:txBody>
      </p:sp>
    </p:spTree>
    <p:extLst>
      <p:ext uri="{BB962C8B-B14F-4D97-AF65-F5344CB8AC3E}">
        <p14:creationId xmlns:p14="http://schemas.microsoft.com/office/powerpoint/2010/main" val="13236934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smtClean="0"/>
              <a:t>Wildcard-</a:t>
            </a:r>
            <a:r>
              <a:rPr lang="ru-RU" dirty="0" smtClean="0"/>
              <a:t>маска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idx="1"/>
          </p:nvPr>
        </p:nvSpPr>
        <p:spPr>
          <a:xfrm>
            <a:off x="838200" y="1561855"/>
            <a:ext cx="10515600" cy="4351338"/>
          </a:xfrm>
        </p:spPr>
        <p:txBody>
          <a:bodyPr/>
          <a:lstStyle/>
          <a:p>
            <a:r>
              <a:rPr lang="ru-RU" sz="2000" b="1" dirty="0"/>
              <a:t>Бит 0 шаблонной маски</a:t>
            </a:r>
            <a:r>
              <a:rPr lang="ru-RU" sz="2000" dirty="0"/>
              <a:t> — </a:t>
            </a:r>
            <a:r>
              <a:rPr lang="ru-RU" sz="2000" dirty="0" smtClean="0"/>
              <a:t>означает «этот бит должен совпадать».</a:t>
            </a:r>
          </a:p>
          <a:p>
            <a:r>
              <a:rPr lang="ru-RU" sz="2000" b="1" dirty="0" smtClean="0"/>
              <a:t>Бит 1 шаблонной маски </a:t>
            </a:r>
            <a:r>
              <a:rPr lang="ru-RU" sz="2000" dirty="0" smtClean="0"/>
              <a:t>— «этот бит не важен, игнорируем»</a:t>
            </a:r>
            <a:endParaRPr lang="ru-RU" dirty="0"/>
          </a:p>
        </p:txBody>
      </p:sp>
      <p:pic>
        <p:nvPicPr>
          <p:cNvPr id="4" name="Рисунок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32942" y="2501411"/>
            <a:ext cx="6726115" cy="38041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5143492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Адресное пространство </a:t>
            </a:r>
            <a:r>
              <a:rPr lang="en-US" dirty="0" smtClean="0"/>
              <a:t>IPv4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838200" y="1825625"/>
            <a:ext cx="5181600" cy="4145280"/>
          </a:xfrm>
          <a:prstGeom prst="rect">
            <a:avLst/>
          </a:prstGeom>
        </p:spPr>
      </p:pic>
      <p:sp>
        <p:nvSpPr>
          <p:cNvPr id="6" name="Объект 5"/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pPr marL="0" indent="0">
              <a:buNone/>
            </a:pPr>
            <a:r>
              <a:rPr lang="ru-RU" dirty="0" smtClean="0"/>
              <a:t>Все может существовать </a:t>
            </a:r>
            <a:r>
              <a:rPr lang="ru-RU" dirty="0"/>
              <a:t> 4 228 250 </a:t>
            </a:r>
            <a:r>
              <a:rPr lang="ru-RU" dirty="0" smtClean="0"/>
              <a:t>625 </a:t>
            </a:r>
            <a:r>
              <a:rPr lang="en-US" dirty="0" smtClean="0"/>
              <a:t>IPv4 </a:t>
            </a:r>
            <a:r>
              <a:rPr lang="ru-RU" dirty="0" smtClean="0"/>
              <a:t>адресов.</a:t>
            </a:r>
          </a:p>
          <a:p>
            <a:pPr marL="0" indent="0">
              <a:buNone/>
            </a:pPr>
            <a:endParaRPr lang="ru-RU" dirty="0" smtClean="0"/>
          </a:p>
          <a:p>
            <a:pPr marL="0" indent="0">
              <a:buNone/>
            </a:pPr>
            <a:r>
              <a:rPr lang="ru-RU" b="1" dirty="0"/>
              <a:t>3 февраля 2011 года</a:t>
            </a:r>
            <a:r>
              <a:rPr lang="ru-RU" dirty="0" smtClean="0"/>
              <a:t> организация IANA официально объявила о выделении последних свободных блоков IPv4 региональным регистраторам.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15292731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Диапазоны приватных </a:t>
            </a:r>
            <a:r>
              <a:rPr lang="en-US" dirty="0" smtClean="0"/>
              <a:t>IP </a:t>
            </a:r>
            <a:r>
              <a:rPr lang="ru-RU" dirty="0" smtClean="0"/>
              <a:t>адресов</a:t>
            </a:r>
            <a:endParaRPr lang="ru-RU" dirty="0"/>
          </a:p>
        </p:txBody>
      </p:sp>
      <p:sp>
        <p:nvSpPr>
          <p:cNvPr id="3" name="Объект 2"/>
          <p:cNvSpPr>
            <a:spLocks noGrp="1"/>
          </p:cNvSpPr>
          <p:nvPr>
            <p:ph sz="half" idx="1"/>
          </p:nvPr>
        </p:nvSpPr>
        <p:spPr/>
        <p:txBody>
          <a:bodyPr>
            <a:normAutofit lnSpcReduction="10000"/>
          </a:bodyPr>
          <a:lstStyle/>
          <a:p>
            <a:endParaRPr lang="ru-RU" dirty="0" smtClean="0"/>
          </a:p>
          <a:p>
            <a:pPr marL="0" indent="0">
              <a:buNone/>
            </a:pPr>
            <a:r>
              <a:rPr lang="en-US" dirty="0" smtClean="0"/>
              <a:t>RFC1918:</a:t>
            </a:r>
            <a:endParaRPr lang="ru-RU" dirty="0"/>
          </a:p>
          <a:p>
            <a:r>
              <a:rPr lang="ru-RU" dirty="0" smtClean="0"/>
              <a:t>10.0.0.0/8	</a:t>
            </a:r>
          </a:p>
          <a:p>
            <a:r>
              <a:rPr lang="ru-RU" dirty="0" smtClean="0"/>
              <a:t>172.16.0.0/12	</a:t>
            </a:r>
          </a:p>
          <a:p>
            <a:r>
              <a:rPr lang="ru-RU" dirty="0" smtClean="0"/>
              <a:t>192.168.0.0/16</a:t>
            </a:r>
            <a:endParaRPr lang="en-US" dirty="0" smtClean="0"/>
          </a:p>
          <a:p>
            <a:pPr marL="0" indent="0">
              <a:buNone/>
            </a:pPr>
            <a:r>
              <a:rPr lang="af-ZA" dirty="0" smtClean="0"/>
              <a:t>RFC6598:</a:t>
            </a:r>
          </a:p>
          <a:p>
            <a:r>
              <a:rPr lang="ru-RU" dirty="0" smtClean="0"/>
              <a:t>100.64.0.0/10</a:t>
            </a:r>
            <a:endParaRPr lang="ru-RU" dirty="0"/>
          </a:p>
        </p:txBody>
      </p:sp>
      <p:sp>
        <p:nvSpPr>
          <p:cNvPr id="4" name="Объект 3"/>
          <p:cNvSpPr>
            <a:spLocks noGrp="1"/>
          </p:cNvSpPr>
          <p:nvPr>
            <p:ph sz="half" idx="2"/>
          </p:nvPr>
        </p:nvSpPr>
        <p:spPr>
          <a:xfrm>
            <a:off x="6096000" y="2335579"/>
            <a:ext cx="5624146" cy="2939806"/>
          </a:xfrm>
        </p:spPr>
        <p:txBody>
          <a:bodyPr>
            <a:normAutofit lnSpcReduction="10000"/>
          </a:bodyPr>
          <a:lstStyle/>
          <a:p>
            <a:r>
              <a:rPr lang="ru-RU" dirty="0" smtClean="0"/>
              <a:t>Могут использоваться кем угодно в локальной сети.</a:t>
            </a:r>
          </a:p>
          <a:p>
            <a:r>
              <a:rPr lang="ru-RU" dirty="0" smtClean="0"/>
              <a:t>Не уникальные.</a:t>
            </a:r>
          </a:p>
          <a:p>
            <a:r>
              <a:rPr lang="ru-RU" dirty="0" smtClean="0"/>
              <a:t>Не маршрутизируются в интернете.</a:t>
            </a:r>
          </a:p>
          <a:p>
            <a:r>
              <a:rPr lang="ru-RU" dirty="0" smtClean="0"/>
              <a:t>Для выхода в Интернет требуется </a:t>
            </a:r>
            <a:r>
              <a:rPr lang="en-US" b="1" dirty="0" smtClean="0"/>
              <a:t>NAT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83734207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dirty="0"/>
              <a:t> NAT. Network Address Translation</a:t>
            </a:r>
            <a:endParaRPr lang="ru-RU" dirty="0"/>
          </a:p>
        </p:txBody>
      </p:sp>
      <p:pic>
        <p:nvPicPr>
          <p:cNvPr id="6" name="Объект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859425"/>
            <a:ext cx="10515600" cy="39847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218113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af-ZA" dirty="0"/>
              <a:t> NAT. Network Address Translation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646508" y="1825625"/>
            <a:ext cx="689898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494055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2191327"/>
            <a:ext cx="10515600" cy="4305734"/>
          </a:xfrm>
          <a:prstGeom prst="rect">
            <a:avLst/>
          </a:prstGeom>
        </p:spPr>
      </p:pic>
      <p:sp>
        <p:nvSpPr>
          <p:cNvPr id="7" name="Прямоугольник 6"/>
          <p:cNvSpPr/>
          <p:nvPr/>
        </p:nvSpPr>
        <p:spPr>
          <a:xfrm>
            <a:off x="3305909" y="1506022"/>
            <a:ext cx="5580182" cy="369332"/>
          </a:xfrm>
          <a:prstGeom prst="rect">
            <a:avLst/>
          </a:prstGeom>
          <a:solidFill>
            <a:schemeClr val="tx1"/>
          </a:solidFill>
        </p:spPr>
        <p:txBody>
          <a:bodyPr wrap="none">
            <a:spAutoFit/>
          </a:bodyPr>
          <a:lstStyle/>
          <a:p>
            <a:r>
              <a:rPr lang="af-ZA" dirty="0">
                <a:solidFill>
                  <a:schemeClr val="bg1"/>
                </a:solidFill>
              </a:rPr>
              <a:t>ip nat inside source static 192.168.10.10 209.165.200.226</a:t>
            </a:r>
            <a:endParaRPr lang="ru-RU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1426401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smtClean="0"/>
              <a:t>NAT</a:t>
            </a:r>
            <a:endParaRPr lang="ru-RU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838200" y="1981505"/>
            <a:ext cx="10515600" cy="40395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2731733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smtClean="0"/>
              <a:t>NAT</a:t>
            </a:r>
            <a:endParaRPr lang="ru-RU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013740" y="1825625"/>
            <a:ext cx="10164520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72448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992208" y="1825625"/>
            <a:ext cx="10207584" cy="43513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2048386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3491" y="1541364"/>
            <a:ext cx="8905017" cy="483782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786604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6738" y="1369453"/>
            <a:ext cx="8698524" cy="494818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847320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4003" y="1514246"/>
            <a:ext cx="8523994" cy="49264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5770858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9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836109" y="1310054"/>
            <a:ext cx="8519781" cy="50163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428205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41564" y="1389587"/>
            <a:ext cx="8908871" cy="50687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094378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653372" y="1350647"/>
            <a:ext cx="8885255" cy="50285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107731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09504" y="1339013"/>
            <a:ext cx="8772992" cy="50313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442422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 smtClean="0"/>
              <a:t>Принцип работы </a:t>
            </a:r>
            <a:r>
              <a:rPr lang="en-US" dirty="0" smtClean="0"/>
              <a:t>NAT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514370" y="1331972"/>
            <a:ext cx="9163259" cy="52142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095017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Терминология </a:t>
            </a:r>
            <a:r>
              <a:rPr lang="af-ZA" b="1" dirty="0" smtClean="0"/>
              <a:t>NAT</a:t>
            </a:r>
            <a:endParaRPr lang="ru-RU" dirty="0"/>
          </a:p>
        </p:txBody>
      </p:sp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87606" y="1291581"/>
            <a:ext cx="7216787" cy="530741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408624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507418" y="365125"/>
            <a:ext cx="7177163" cy="602101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/>
              <a:t>Статический </a:t>
            </a:r>
            <a:r>
              <a:rPr lang="af-ZA" b="1" dirty="0" smtClean="0"/>
              <a:t>NAT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211249038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Объект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1065" y="1027906"/>
            <a:ext cx="7909869" cy="5734830"/>
          </a:xfrm>
          <a:prstGeom prst="rect">
            <a:avLst/>
          </a:prstGeom>
        </p:spPr>
      </p:pic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b="1" dirty="0" smtClean="0"/>
              <a:t>Динамический</a:t>
            </a:r>
            <a:r>
              <a:rPr lang="en-US" b="1" dirty="0" smtClean="0"/>
              <a:t> NAT</a:t>
            </a:r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51840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/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af-ZA" b="1" dirty="0" smtClean="0"/>
              <a:t>Many-to-One</a:t>
            </a:r>
            <a:endParaRPr lang="ru-RU" dirty="0"/>
          </a:p>
        </p:txBody>
      </p:sp>
      <p:pic>
        <p:nvPicPr>
          <p:cNvPr id="5" name="Объект 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377208" y="1365620"/>
            <a:ext cx="7437583" cy="52949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787050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713</TotalTime>
  <Words>304</Words>
  <Application>Microsoft Office PowerPoint</Application>
  <PresentationFormat>Широкоэкранный</PresentationFormat>
  <Paragraphs>68</Paragraphs>
  <Slides>27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3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27</vt:i4>
      </vt:variant>
    </vt:vector>
  </HeadingPairs>
  <TitlesOfParts>
    <vt:vector size="31" baseType="lpstr">
      <vt:lpstr>Arial</vt:lpstr>
      <vt:lpstr>Calibri</vt:lpstr>
      <vt:lpstr>Calibri Light</vt:lpstr>
      <vt:lpstr>Тема Office</vt:lpstr>
      <vt:lpstr>NAT  (Network Address Translation)</vt:lpstr>
      <vt:lpstr>Access Control Lists (ACLs)</vt:lpstr>
      <vt:lpstr>Виды ACL в Cisco</vt:lpstr>
      <vt:lpstr>Порядок обработки в ACL</vt:lpstr>
      <vt:lpstr>Порядок правил важен. Более «узкое» правило должно быть выше.</vt:lpstr>
      <vt:lpstr>Куда ACL применяется</vt:lpstr>
      <vt:lpstr>Wildcard-маска</vt:lpstr>
      <vt:lpstr>Адресное пространство IPv4</vt:lpstr>
      <vt:lpstr>Диапазоны приватных IP адресов</vt:lpstr>
      <vt:lpstr> NAT. Network Address Translation</vt:lpstr>
      <vt:lpstr> NAT. Network Address Translation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Принцип работы NAT</vt:lpstr>
      <vt:lpstr>Терминология NAT</vt:lpstr>
      <vt:lpstr>Статический NAT</vt:lpstr>
      <vt:lpstr>Динамический NAT</vt:lpstr>
      <vt:lpstr>Many-to-One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NAT  (Network Address Translation)</dc:title>
  <dc:creator>Тимур А. Нахтигаль</dc:creator>
  <cp:lastModifiedBy>Тимур А. Нахтигаль</cp:lastModifiedBy>
  <cp:revision>14</cp:revision>
  <dcterms:created xsi:type="dcterms:W3CDTF">2026-10-05T18:01:23Z</dcterms:created>
  <dcterms:modified xsi:type="dcterms:W3CDTF">2026-10-14T19:14:29Z</dcterms:modified>
</cp:coreProperties>
</file>