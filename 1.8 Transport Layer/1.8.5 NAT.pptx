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7" r:id="rId20"/>
    <p:sldId id="278" r:id="rId21"/>
    <p:sldId id="279" r:id="rId22"/>
    <p:sldId id="280" r:id="rId23"/>
    <p:sldId id="281" r:id="rId24"/>
    <p:sldId id="275" r:id="rId25"/>
    <p:sldId id="282" r:id="rId26"/>
    <p:sldId id="283" r:id="rId27"/>
    <p:sldId id="284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395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7304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97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392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686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7240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528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380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979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4581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805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108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NAT </a:t>
            </a:r>
            <a:br>
              <a:rPr lang="en-US" dirty="0" smtClean="0"/>
            </a:br>
            <a:r>
              <a:rPr lang="en-US" dirty="0" smtClean="0"/>
              <a:t>(Network Address Translation)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871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Access Control Lists (ACLs)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Список контроля доступа (ACL) — это последовательный список разрешающих или запрещающих операторов, называемых записями списка контроля доступа (ACE</a:t>
            </a:r>
            <a:r>
              <a:rPr lang="ru-RU" dirty="0" smtClean="0"/>
              <a:t>).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Задачи </a:t>
            </a:r>
            <a:r>
              <a:rPr lang="en-US" dirty="0" smtClean="0"/>
              <a:t>ACL:</a:t>
            </a:r>
          </a:p>
          <a:p>
            <a:r>
              <a:rPr lang="ru-RU" dirty="0"/>
              <a:t>Ограничение сетевого трафика </a:t>
            </a:r>
            <a:endParaRPr lang="en-US" dirty="0" smtClean="0"/>
          </a:p>
          <a:p>
            <a:r>
              <a:rPr lang="ru-RU" dirty="0"/>
              <a:t>Управление потоком </a:t>
            </a:r>
            <a:r>
              <a:rPr lang="ru-RU" dirty="0" smtClean="0"/>
              <a:t>трафика</a:t>
            </a:r>
            <a:endParaRPr lang="en-US" dirty="0" smtClean="0"/>
          </a:p>
          <a:p>
            <a:r>
              <a:rPr lang="ru-RU" dirty="0"/>
              <a:t>Фильтрация трафика на основе типа </a:t>
            </a:r>
            <a:r>
              <a:rPr lang="ru-RU" dirty="0" smtClean="0"/>
              <a:t>трафика</a:t>
            </a:r>
            <a:endParaRPr lang="en-US" dirty="0" smtClean="0"/>
          </a:p>
          <a:p>
            <a:r>
              <a:rPr lang="ru-RU" dirty="0"/>
              <a:t>Предоставление приоритета определенным классам сетевого трафика</a:t>
            </a:r>
            <a:endParaRPr lang="en-US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949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Виды </a:t>
            </a:r>
            <a:r>
              <a:rPr lang="en-US" dirty="0" smtClean="0"/>
              <a:t>ACL </a:t>
            </a:r>
            <a:r>
              <a:rPr lang="ru-RU" dirty="0" smtClean="0"/>
              <a:t>в </a:t>
            </a:r>
            <a:r>
              <a:rPr lang="en-US" dirty="0" smtClean="0"/>
              <a:t>Cisco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4000" dirty="0" smtClean="0"/>
              <a:t>Standard ACL – </a:t>
            </a:r>
            <a:r>
              <a:rPr lang="ru-RU" sz="4000" dirty="0" err="1" smtClean="0"/>
              <a:t>матчит</a:t>
            </a:r>
            <a:r>
              <a:rPr lang="ru-RU" sz="4000" dirty="0" smtClean="0"/>
              <a:t> только по </a:t>
            </a:r>
            <a:r>
              <a:rPr lang="en-US" sz="4000" dirty="0" smtClean="0"/>
              <a:t>IP</a:t>
            </a:r>
            <a:r>
              <a:rPr lang="ru-RU" sz="4000" dirty="0" smtClean="0"/>
              <a:t>-адресу источника.</a:t>
            </a:r>
          </a:p>
          <a:p>
            <a:pPr marL="0" indent="0">
              <a:buNone/>
            </a:pPr>
            <a:endParaRPr lang="ru-RU" sz="4000" dirty="0" smtClean="0"/>
          </a:p>
          <a:p>
            <a:pPr marL="0" indent="0">
              <a:buNone/>
            </a:pPr>
            <a:r>
              <a:rPr lang="ru-RU" sz="4000" dirty="0" err="1"/>
              <a:t>Extended</a:t>
            </a:r>
            <a:r>
              <a:rPr lang="ru-RU" sz="4000" dirty="0"/>
              <a:t> </a:t>
            </a:r>
            <a:r>
              <a:rPr lang="ru-RU" sz="4000" dirty="0" smtClean="0"/>
              <a:t>ACL – </a:t>
            </a:r>
            <a:r>
              <a:rPr lang="ru-RU" sz="4000" dirty="0" err="1"/>
              <a:t>матчит</a:t>
            </a:r>
            <a:r>
              <a:rPr lang="ru-RU" sz="4000" dirty="0"/>
              <a:t> и источник, и назначение, и протокол, и </a:t>
            </a:r>
            <a:r>
              <a:rPr lang="ru-RU" sz="4000" dirty="0" smtClean="0"/>
              <a:t>порты.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51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Порядок обработки в </a:t>
            </a:r>
            <a:r>
              <a:rPr lang="en-US" dirty="0" smtClean="0"/>
              <a:t>ACL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740025"/>
            <a:ext cx="10515600" cy="3150821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ru-RU" dirty="0" smtClean="0"/>
              <a:t>Правила обрабатываются сверху вниз.</a:t>
            </a:r>
          </a:p>
          <a:p>
            <a:pPr marL="514350" indent="-514350">
              <a:buAutoNum type="arabicPeriod"/>
            </a:pPr>
            <a:r>
              <a:rPr lang="ru-RU" dirty="0" smtClean="0"/>
              <a:t>Применяется </a:t>
            </a:r>
            <a:r>
              <a:rPr lang="ru-RU" b="1" dirty="0" smtClean="0"/>
              <a:t>первое</a:t>
            </a:r>
            <a:r>
              <a:rPr lang="ru-RU" dirty="0" smtClean="0"/>
              <a:t> совпавшее правило – все после него не имеют значения.</a:t>
            </a:r>
          </a:p>
          <a:p>
            <a:pPr marL="514350" indent="-514350">
              <a:buAutoNum type="arabicPeriod"/>
            </a:pPr>
            <a:r>
              <a:rPr lang="ru-RU" dirty="0" smtClean="0"/>
              <a:t>В конце любого </a:t>
            </a:r>
            <a:r>
              <a:rPr lang="en-US" dirty="0" smtClean="0"/>
              <a:t>ACL – </a:t>
            </a:r>
            <a:r>
              <a:rPr lang="ru-RU" dirty="0" smtClean="0"/>
              <a:t>неявное </a:t>
            </a:r>
            <a:r>
              <a:rPr lang="en-US" b="1" dirty="0" smtClean="0"/>
              <a:t>deny any </a:t>
            </a:r>
            <a:r>
              <a:rPr lang="en-US" dirty="0" smtClean="0"/>
              <a:t>(</a:t>
            </a:r>
            <a:r>
              <a:rPr lang="ru-RU" dirty="0" smtClean="0"/>
              <a:t>запретить всё).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579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Порядок правил важен. Более «узкое» правило должно быть выше.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>
          <a:xfrm>
            <a:off x="839788" y="2505075"/>
            <a:ext cx="5157787" cy="482844"/>
          </a:xfrm>
        </p:spPr>
        <p:txBody>
          <a:bodyPr/>
          <a:lstStyle/>
          <a:p>
            <a:r>
              <a:rPr lang="ru-RU" dirty="0" smtClean="0"/>
              <a:t>Не сработает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839788" y="3244361"/>
            <a:ext cx="5157787" cy="294530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Запретить всё из сети 10.0.0.0/24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Разрешить от 10.0.0.5 на </a:t>
            </a:r>
            <a:r>
              <a:rPr lang="ru-RU" dirty="0"/>
              <a:t>192.168.10.10 </a:t>
            </a:r>
            <a:r>
              <a:rPr lang="ru-RU" dirty="0" smtClean="0"/>
              <a:t>порт 22.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Неявный запрет на всё</a:t>
            </a:r>
            <a:endParaRPr lang="ru-RU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3"/>
          </p:nvPr>
        </p:nvSpPr>
        <p:spPr>
          <a:xfrm>
            <a:off x="6172200" y="2505075"/>
            <a:ext cx="5183188" cy="482844"/>
          </a:xfrm>
        </p:spPr>
        <p:txBody>
          <a:bodyPr/>
          <a:lstStyle/>
          <a:p>
            <a:r>
              <a:rPr lang="ru-RU" dirty="0" smtClean="0"/>
              <a:t>Сработает</a:t>
            </a:r>
            <a:endParaRPr lang="ru-RU" dirty="0"/>
          </a:p>
        </p:txBody>
      </p:sp>
      <p:sp>
        <p:nvSpPr>
          <p:cNvPr id="8" name="Объект 7"/>
          <p:cNvSpPr>
            <a:spLocks noGrp="1"/>
          </p:cNvSpPr>
          <p:nvPr>
            <p:ph sz="quarter" idx="4"/>
          </p:nvPr>
        </p:nvSpPr>
        <p:spPr>
          <a:xfrm>
            <a:off x="6172200" y="3244361"/>
            <a:ext cx="5183188" cy="29453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Разрешить от 10.0.0.5 на </a:t>
            </a:r>
            <a:r>
              <a:rPr lang="ru-RU" dirty="0"/>
              <a:t>192.168.10.10 </a:t>
            </a:r>
            <a:r>
              <a:rPr lang="ru-RU" dirty="0" smtClean="0"/>
              <a:t>порт 22.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Запретить всё из сети 10.0.0.0/24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Неявный запрет на всё</a:t>
            </a:r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30878" y="1786968"/>
            <a:ext cx="6680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Пакет: от 10.0.0.5 -</a:t>
            </a:r>
            <a:r>
              <a:rPr lang="en-US" sz="2400" dirty="0" smtClean="0"/>
              <a:t>&gt; </a:t>
            </a:r>
            <a:r>
              <a:rPr lang="ru-RU" sz="2400" dirty="0" smtClean="0"/>
              <a:t>к 192.168.10.10, порт 22 (</a:t>
            </a:r>
            <a:r>
              <a:rPr lang="en-US" sz="2400" dirty="0" smtClean="0"/>
              <a:t>SSH</a:t>
            </a:r>
            <a:r>
              <a:rPr lang="ru-RU" sz="2400" dirty="0" smtClean="0"/>
              <a:t>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668211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Куда </a:t>
            </a:r>
            <a:r>
              <a:rPr lang="en-US" dirty="0" smtClean="0"/>
              <a:t>ACL </a:t>
            </a:r>
            <a:r>
              <a:rPr lang="ru-RU" dirty="0" smtClean="0"/>
              <a:t>применяется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0150" y="1690688"/>
            <a:ext cx="9791700" cy="1619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9869" y="3278799"/>
            <a:ext cx="33250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Исходящий трафик – после маршрутизации.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1724662" y="3309938"/>
            <a:ext cx="33250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Входящий трафик – до маршрутизации.</a:t>
            </a:r>
            <a:endParaRPr lang="ru-RU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528738" y="5236242"/>
            <a:ext cx="11134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!!!</a:t>
            </a:r>
            <a:r>
              <a:rPr lang="en-US" sz="2400" dirty="0" smtClean="0"/>
              <a:t>ACL </a:t>
            </a:r>
            <a:r>
              <a:rPr lang="ru-RU" sz="2400" dirty="0" smtClean="0"/>
              <a:t>на интерфейсах не действуют на трафик, который создаёт само устройства!!!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3236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Wildcard-</a:t>
            </a:r>
            <a:r>
              <a:rPr lang="ru-RU" dirty="0" smtClean="0"/>
              <a:t>маска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61855"/>
            <a:ext cx="10515600" cy="4351338"/>
          </a:xfrm>
        </p:spPr>
        <p:txBody>
          <a:bodyPr/>
          <a:lstStyle/>
          <a:p>
            <a:r>
              <a:rPr lang="ru-RU" sz="2000" b="1" dirty="0"/>
              <a:t>Бит 0 шаблонной маски</a:t>
            </a:r>
            <a:r>
              <a:rPr lang="ru-RU" sz="2000" dirty="0"/>
              <a:t> — </a:t>
            </a:r>
            <a:r>
              <a:rPr lang="ru-RU" sz="2000" dirty="0" smtClean="0"/>
              <a:t>означает «этот бит должен совпадать».</a:t>
            </a:r>
          </a:p>
          <a:p>
            <a:r>
              <a:rPr lang="ru-RU" sz="2000" b="1" dirty="0" smtClean="0"/>
              <a:t>Бит 1 шаблонной маски </a:t>
            </a:r>
            <a:r>
              <a:rPr lang="ru-RU" sz="2000" dirty="0" smtClean="0"/>
              <a:t>— «этот бит не важен, игнорируем»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942" y="2501411"/>
            <a:ext cx="6726115" cy="3804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434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Адресное пространство </a:t>
            </a:r>
            <a:r>
              <a:rPr lang="en-US" dirty="0" smtClean="0"/>
              <a:t>IPv4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414528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Все может существовать </a:t>
            </a:r>
            <a:r>
              <a:rPr lang="ru-RU" dirty="0"/>
              <a:t> 4 228 250 </a:t>
            </a:r>
            <a:r>
              <a:rPr lang="ru-RU" dirty="0" smtClean="0"/>
              <a:t>625 </a:t>
            </a:r>
            <a:r>
              <a:rPr lang="en-US" dirty="0" smtClean="0"/>
              <a:t>IPv4 </a:t>
            </a:r>
            <a:r>
              <a:rPr lang="ru-RU" dirty="0" smtClean="0"/>
              <a:t>адресов.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/>
              <a:t>3 февраля 2011 года</a:t>
            </a:r>
            <a:r>
              <a:rPr lang="ru-RU" dirty="0" smtClean="0"/>
              <a:t> организация IANA официально объявила о выделении последних свободных блоков IPv4 региональным регистраторам.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9273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Диапазоны приватных </a:t>
            </a:r>
            <a:r>
              <a:rPr lang="en-US" dirty="0" smtClean="0"/>
              <a:t>IP </a:t>
            </a:r>
            <a:r>
              <a:rPr lang="ru-RU" dirty="0" smtClean="0"/>
              <a:t>адресов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RFC1918:</a:t>
            </a:r>
            <a:endParaRPr lang="ru-RU" dirty="0"/>
          </a:p>
          <a:p>
            <a:r>
              <a:rPr lang="ru-RU" dirty="0" smtClean="0"/>
              <a:t>10.0.0.0/8	</a:t>
            </a:r>
          </a:p>
          <a:p>
            <a:r>
              <a:rPr lang="ru-RU" dirty="0" smtClean="0"/>
              <a:t>172.16.0.0/12	</a:t>
            </a:r>
          </a:p>
          <a:p>
            <a:r>
              <a:rPr lang="ru-RU" dirty="0" smtClean="0"/>
              <a:t>192.168.0.0/16</a:t>
            </a:r>
            <a:endParaRPr lang="en-US" dirty="0" smtClean="0"/>
          </a:p>
          <a:p>
            <a:pPr marL="0" indent="0">
              <a:buNone/>
            </a:pPr>
            <a:r>
              <a:rPr lang="af-ZA" dirty="0" smtClean="0"/>
              <a:t>RFC6598:</a:t>
            </a:r>
          </a:p>
          <a:p>
            <a:r>
              <a:rPr lang="ru-RU" dirty="0" smtClean="0"/>
              <a:t>100.64.0.0/10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096000" y="2335579"/>
            <a:ext cx="5624146" cy="2939806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Могут использоваться кем угодно в локальной сети.</a:t>
            </a:r>
          </a:p>
          <a:p>
            <a:r>
              <a:rPr lang="ru-RU" dirty="0" smtClean="0"/>
              <a:t>Не уникальные.</a:t>
            </a:r>
          </a:p>
          <a:p>
            <a:r>
              <a:rPr lang="ru-RU" dirty="0" smtClean="0"/>
              <a:t>Не маршрутизируются в интернете.</a:t>
            </a:r>
          </a:p>
          <a:p>
            <a:r>
              <a:rPr lang="ru-RU" dirty="0" smtClean="0"/>
              <a:t>Для выхода в Интернет требуется </a:t>
            </a:r>
            <a:r>
              <a:rPr lang="en-US" b="1" dirty="0" smtClean="0"/>
              <a:t>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37342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 NAT. Network Address Translation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9425"/>
            <a:ext cx="10515600" cy="398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81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 NAT. Network Address Translation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6508" y="1825625"/>
            <a:ext cx="68989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05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91327"/>
            <a:ext cx="10515600" cy="4305734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3305909" y="1506022"/>
            <a:ext cx="5580182" cy="369332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r>
              <a:rPr lang="af-ZA" dirty="0">
                <a:solidFill>
                  <a:schemeClr val="bg1"/>
                </a:solidFill>
              </a:rPr>
              <a:t>ip nat inside source static 192.168.10.10 209.165.200.226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426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smtClean="0"/>
              <a:t>NAT</a:t>
            </a:r>
            <a:endParaRPr lang="ru-RU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81505"/>
            <a:ext cx="10515600" cy="403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1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smtClean="0"/>
              <a:t>NAT</a:t>
            </a:r>
            <a:endParaRPr lang="ru-RU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3740" y="1825625"/>
            <a:ext cx="101645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244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2208" y="1825625"/>
            <a:ext cx="102075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483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3491" y="1541364"/>
            <a:ext cx="8905017" cy="48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866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6738" y="1369453"/>
            <a:ext cx="8698524" cy="494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47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4003" y="1514246"/>
            <a:ext cx="8523994" cy="492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08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9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6109" y="1310054"/>
            <a:ext cx="8519781" cy="501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820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1564" y="1389587"/>
            <a:ext cx="8908871" cy="506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37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3372" y="1350647"/>
            <a:ext cx="8885255" cy="502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077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9504" y="1339013"/>
            <a:ext cx="8772992" cy="503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424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4370" y="1331972"/>
            <a:ext cx="9163259" cy="521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950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Терминология </a:t>
            </a:r>
            <a:r>
              <a:rPr lang="af-ZA" b="1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87606" y="1291581"/>
            <a:ext cx="7216787" cy="5307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8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7418" y="365125"/>
            <a:ext cx="7177163" cy="602101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Статический </a:t>
            </a:r>
            <a:r>
              <a:rPr lang="af-ZA" b="1" dirty="0" smtClean="0"/>
              <a:t>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249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1065" y="1027906"/>
            <a:ext cx="7909869" cy="573483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Динамический</a:t>
            </a:r>
            <a:r>
              <a:rPr lang="en-US" b="1" dirty="0" smtClean="0"/>
              <a:t> 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1840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af-ZA" b="1" dirty="0" smtClean="0"/>
              <a:t>Many-to-One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7208" y="1365620"/>
            <a:ext cx="7437583" cy="529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870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304</Words>
  <Application>Microsoft Office PowerPoint</Application>
  <PresentationFormat>Широкоэкранный</PresentationFormat>
  <Paragraphs>68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Тема Office</vt:lpstr>
      <vt:lpstr>NAT  (Network Address Translation)</vt:lpstr>
      <vt:lpstr>Access Control Lists (ACLs)</vt:lpstr>
      <vt:lpstr>Виды ACL в Cisco</vt:lpstr>
      <vt:lpstr>Порядок обработки в ACL</vt:lpstr>
      <vt:lpstr>Порядок правил важен. Более «узкое» правило должно быть выше.</vt:lpstr>
      <vt:lpstr>Куда ACL применяется</vt:lpstr>
      <vt:lpstr>Wildcard-маска</vt:lpstr>
      <vt:lpstr>Адресное пространство IPv4</vt:lpstr>
      <vt:lpstr>Диапазоны приватных IP адресов</vt:lpstr>
      <vt:lpstr> NAT. Network Address Translation</vt:lpstr>
      <vt:lpstr> NAT. Network Address Translation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Терминология NAT</vt:lpstr>
      <vt:lpstr>Статический NAT</vt:lpstr>
      <vt:lpstr>Динамический NAT</vt:lpstr>
      <vt:lpstr>Many-to-One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 (Network Address Translation)</dc:title>
  <dc:creator>Тимур А. Нахтигаль</dc:creator>
  <cp:lastModifiedBy>Тимур А. Нахтигаль</cp:lastModifiedBy>
  <cp:revision>14</cp:revision>
  <dcterms:created xsi:type="dcterms:W3CDTF">2026-10-05T18:01:23Z</dcterms:created>
  <dcterms:modified xsi:type="dcterms:W3CDTF">2026-10-14T20:13:18Z</dcterms:modified>
</cp:coreProperties>
</file>