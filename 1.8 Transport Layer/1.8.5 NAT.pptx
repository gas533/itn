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2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39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30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97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392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68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24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28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80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97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58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05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C918B-9C96-49F5-960F-F5773254AD7D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F191E-B40C-4F9F-A0F9-62925AABA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10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NAT </a:t>
            </a:r>
            <a:br>
              <a:rPr lang="en-US" dirty="0" smtClean="0"/>
            </a:br>
            <a:r>
              <a:rPr lang="en-US" dirty="0" smtClean="0"/>
              <a:t>(Network Address Translation)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87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Control Lists (ACLs)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Список контроля доступа (ACL) — это последовательный список разрешающих или запрещающих операторов, называемых записями списка контроля доступа (ACE</a:t>
            </a:r>
            <a:r>
              <a:rPr lang="ru-RU" dirty="0" smtClean="0"/>
              <a:t>).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Задачи </a:t>
            </a:r>
            <a:r>
              <a:rPr lang="en-US" dirty="0" smtClean="0"/>
              <a:t>ACL:</a:t>
            </a:r>
          </a:p>
          <a:p>
            <a:r>
              <a:rPr lang="ru-RU" dirty="0"/>
              <a:t>Ограничение сетевого трафика </a:t>
            </a:r>
            <a:endParaRPr lang="en-US" dirty="0" smtClean="0"/>
          </a:p>
          <a:p>
            <a:r>
              <a:rPr lang="ru-RU" dirty="0"/>
              <a:t>Управление потоком </a:t>
            </a:r>
            <a:r>
              <a:rPr lang="ru-RU" dirty="0" smtClean="0"/>
              <a:t>трафика</a:t>
            </a:r>
            <a:endParaRPr lang="en-US" dirty="0" smtClean="0"/>
          </a:p>
          <a:p>
            <a:r>
              <a:rPr lang="ru-RU" dirty="0"/>
              <a:t>Фильтрация трафика на основе типа </a:t>
            </a:r>
            <a:r>
              <a:rPr lang="ru-RU" dirty="0" smtClean="0"/>
              <a:t>трафика</a:t>
            </a:r>
            <a:endParaRPr lang="en-US" dirty="0" smtClean="0"/>
          </a:p>
          <a:p>
            <a:r>
              <a:rPr lang="ru-RU" dirty="0"/>
              <a:t>Предоставление приоритета определенным классам сетевого трафика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49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</a:t>
            </a:r>
            <a:r>
              <a:rPr lang="en-US" dirty="0" smtClean="0"/>
              <a:t>ACL </a:t>
            </a:r>
            <a:r>
              <a:rPr lang="ru-RU" dirty="0" smtClean="0"/>
              <a:t>в </a:t>
            </a:r>
            <a:r>
              <a:rPr lang="en-US" dirty="0" smtClean="0"/>
              <a:t>Cisco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 smtClean="0"/>
              <a:t>Standard ACL – </a:t>
            </a:r>
            <a:r>
              <a:rPr lang="ru-RU" sz="4000" dirty="0" err="1" smtClean="0"/>
              <a:t>матчит</a:t>
            </a:r>
            <a:r>
              <a:rPr lang="ru-RU" sz="4000" dirty="0" smtClean="0"/>
              <a:t> только по </a:t>
            </a:r>
            <a:r>
              <a:rPr lang="en-US" sz="4000" dirty="0" smtClean="0"/>
              <a:t>IP</a:t>
            </a:r>
            <a:r>
              <a:rPr lang="ru-RU" sz="4000" dirty="0" smtClean="0"/>
              <a:t>-адресу источника.</a:t>
            </a:r>
          </a:p>
          <a:p>
            <a:pPr marL="0" indent="0">
              <a:buNone/>
            </a:pPr>
            <a:endParaRPr lang="ru-RU" sz="4000" dirty="0" smtClean="0"/>
          </a:p>
          <a:p>
            <a:pPr marL="0" indent="0">
              <a:buNone/>
            </a:pPr>
            <a:r>
              <a:rPr lang="ru-RU" sz="4000" dirty="0" err="1"/>
              <a:t>Extended</a:t>
            </a:r>
            <a:r>
              <a:rPr lang="ru-RU" sz="4000" dirty="0"/>
              <a:t> </a:t>
            </a:r>
            <a:r>
              <a:rPr lang="ru-RU" sz="4000" dirty="0" smtClean="0"/>
              <a:t>ACL – </a:t>
            </a:r>
            <a:r>
              <a:rPr lang="ru-RU" sz="4000" dirty="0" err="1"/>
              <a:t>матчит</a:t>
            </a:r>
            <a:r>
              <a:rPr lang="ru-RU" sz="4000" dirty="0"/>
              <a:t> и источник, и назначение, и протокол, и </a:t>
            </a:r>
            <a:r>
              <a:rPr lang="ru-RU" sz="4000" dirty="0" smtClean="0"/>
              <a:t>порты.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12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Порядок обработки в </a:t>
            </a:r>
            <a:r>
              <a:rPr lang="en-US" dirty="0" smtClean="0"/>
              <a:t>ACL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740025"/>
            <a:ext cx="10515600" cy="315082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 smtClean="0"/>
              <a:t>Правила обрабатываются сверху вниз.</a:t>
            </a:r>
          </a:p>
          <a:p>
            <a:pPr marL="514350" indent="-514350">
              <a:buAutoNum type="arabicPeriod"/>
            </a:pPr>
            <a:r>
              <a:rPr lang="ru-RU" dirty="0" smtClean="0"/>
              <a:t>Применяется </a:t>
            </a:r>
            <a:r>
              <a:rPr lang="ru-RU" b="1" dirty="0" smtClean="0"/>
              <a:t>первое</a:t>
            </a:r>
            <a:r>
              <a:rPr lang="ru-RU" dirty="0" smtClean="0"/>
              <a:t> совпавшее правило – все после него не имеют значения.</a:t>
            </a:r>
          </a:p>
          <a:p>
            <a:pPr marL="514350" indent="-514350">
              <a:buAutoNum type="arabicPeriod"/>
            </a:pPr>
            <a:r>
              <a:rPr lang="ru-RU" dirty="0" smtClean="0"/>
              <a:t>В конце любого </a:t>
            </a:r>
            <a:r>
              <a:rPr lang="en-US" dirty="0" smtClean="0"/>
              <a:t>ACL – </a:t>
            </a:r>
            <a:r>
              <a:rPr lang="ru-RU" dirty="0" smtClean="0"/>
              <a:t>неявное </a:t>
            </a:r>
            <a:r>
              <a:rPr lang="en-US" b="1" dirty="0" smtClean="0"/>
              <a:t>deny any </a:t>
            </a:r>
            <a:r>
              <a:rPr lang="en-US" dirty="0" smtClean="0"/>
              <a:t>(</a:t>
            </a:r>
            <a:r>
              <a:rPr lang="ru-RU" dirty="0" smtClean="0"/>
              <a:t>запретить всё).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79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Порядок правил важен. Более «узкое» правило должно быть выше.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839788" y="2505075"/>
            <a:ext cx="5157787" cy="482844"/>
          </a:xfrm>
        </p:spPr>
        <p:txBody>
          <a:bodyPr/>
          <a:lstStyle/>
          <a:p>
            <a:r>
              <a:rPr lang="ru-RU" dirty="0" smtClean="0"/>
              <a:t>Не сработает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839788" y="3244361"/>
            <a:ext cx="5157787" cy="294530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Запретить всё из сети 10.0.0.0/24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Разрешить от 10.0.0.5 на </a:t>
            </a:r>
            <a:r>
              <a:rPr lang="ru-RU" dirty="0"/>
              <a:t>192.168.10.10 </a:t>
            </a:r>
            <a:r>
              <a:rPr lang="ru-RU" dirty="0" smtClean="0"/>
              <a:t>порт 22.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Неявный запрет на всё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6172200" y="2505075"/>
            <a:ext cx="5183188" cy="482844"/>
          </a:xfrm>
        </p:spPr>
        <p:txBody>
          <a:bodyPr/>
          <a:lstStyle/>
          <a:p>
            <a:r>
              <a:rPr lang="ru-RU" dirty="0" smtClean="0"/>
              <a:t>Сработает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6172200" y="3244361"/>
            <a:ext cx="5183188" cy="294530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Разрешить от 10.0.0.5 на </a:t>
            </a:r>
            <a:r>
              <a:rPr lang="ru-RU" dirty="0"/>
              <a:t>192.168.10.10 </a:t>
            </a:r>
            <a:r>
              <a:rPr lang="ru-RU" dirty="0" smtClean="0"/>
              <a:t>порт 22.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Запретить всё из сети 10.0.0.0/24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Неявный запрет на всё</a:t>
            </a:r>
          </a:p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130878" y="1786968"/>
            <a:ext cx="6680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Пакет: от 10.0.0.5 -</a:t>
            </a:r>
            <a:r>
              <a:rPr lang="en-US" sz="2400" dirty="0" smtClean="0"/>
              <a:t>&gt; </a:t>
            </a:r>
            <a:r>
              <a:rPr lang="ru-RU" sz="2400" dirty="0" smtClean="0"/>
              <a:t>к 192.168.10.10, порт 22 (</a:t>
            </a:r>
            <a:r>
              <a:rPr lang="en-US" sz="2400" dirty="0" smtClean="0"/>
              <a:t>SSH</a:t>
            </a:r>
            <a:r>
              <a:rPr lang="ru-RU" sz="2400" dirty="0" smtClean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6821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Куда </a:t>
            </a:r>
            <a:r>
              <a:rPr lang="en-US" dirty="0" smtClean="0"/>
              <a:t>ACL </a:t>
            </a:r>
            <a:r>
              <a:rPr lang="ru-RU" dirty="0" smtClean="0"/>
              <a:t>применяется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150" y="1690688"/>
            <a:ext cx="9791700" cy="1619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9869" y="3278799"/>
            <a:ext cx="3325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Исходящий трафик – после маршрутизации.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724662" y="3309938"/>
            <a:ext cx="3325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Входящий трафик – до маршрутизации.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28738" y="5236242"/>
            <a:ext cx="11134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!!!</a:t>
            </a:r>
            <a:r>
              <a:rPr lang="en-US" sz="2400" dirty="0" smtClean="0"/>
              <a:t>ACL </a:t>
            </a:r>
            <a:r>
              <a:rPr lang="ru-RU" sz="2400" dirty="0" smtClean="0"/>
              <a:t>на интерфейсах не действуют на трафик, который создаёт само устройства!!!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2369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Wildcard-</a:t>
            </a:r>
            <a:r>
              <a:rPr lang="ru-RU" dirty="0" smtClean="0"/>
              <a:t>маска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1855"/>
            <a:ext cx="10515600" cy="4351338"/>
          </a:xfrm>
        </p:spPr>
        <p:txBody>
          <a:bodyPr/>
          <a:lstStyle/>
          <a:p>
            <a:r>
              <a:rPr lang="ru-RU" sz="2000" b="1" dirty="0"/>
              <a:t>Бит 0 шаблонной маски</a:t>
            </a:r>
            <a:r>
              <a:rPr lang="ru-RU" sz="2000" dirty="0"/>
              <a:t> — </a:t>
            </a:r>
            <a:r>
              <a:rPr lang="ru-RU" sz="2000" dirty="0" smtClean="0"/>
              <a:t>означает «этот бит должен совпадать».</a:t>
            </a:r>
          </a:p>
          <a:p>
            <a:r>
              <a:rPr lang="ru-RU" sz="2000" b="1" dirty="0" smtClean="0"/>
              <a:t>Бит 1 шаблонной маски </a:t>
            </a:r>
            <a:r>
              <a:rPr lang="ru-RU" sz="2000" dirty="0" smtClean="0"/>
              <a:t>— «этот бит не важен, игнорируем»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942" y="2501411"/>
            <a:ext cx="6726115" cy="38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3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Адресное пространство </a:t>
            </a:r>
            <a:r>
              <a:rPr lang="en-US" dirty="0" smtClean="0"/>
              <a:t>IPv4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4145280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Все может существовать </a:t>
            </a:r>
            <a:r>
              <a:rPr lang="ru-RU" dirty="0"/>
              <a:t> 4 228 250 </a:t>
            </a:r>
            <a:r>
              <a:rPr lang="ru-RU" dirty="0" smtClean="0"/>
              <a:t>625 </a:t>
            </a:r>
            <a:r>
              <a:rPr lang="en-US" dirty="0" smtClean="0"/>
              <a:t>IPv4 </a:t>
            </a:r>
            <a:r>
              <a:rPr lang="ru-RU" dirty="0" smtClean="0"/>
              <a:t>адресов.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/>
              <a:t>3 февраля 2011 года</a:t>
            </a:r>
            <a:r>
              <a:rPr lang="ru-RU" dirty="0" smtClean="0"/>
              <a:t> организация IANA официально объявила о выделении последних свободных блоков IPv4 региональным регистраторам.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27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Диапазоны приватных </a:t>
            </a:r>
            <a:r>
              <a:rPr lang="en-US" dirty="0" smtClean="0"/>
              <a:t>IP </a:t>
            </a:r>
            <a:r>
              <a:rPr lang="ru-RU" dirty="0" smtClean="0"/>
              <a:t>адресов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RFC1918:</a:t>
            </a:r>
            <a:endParaRPr lang="ru-RU" dirty="0"/>
          </a:p>
          <a:p>
            <a:r>
              <a:rPr lang="ru-RU" dirty="0" smtClean="0"/>
              <a:t>10.0.0.0/8	</a:t>
            </a:r>
          </a:p>
          <a:p>
            <a:r>
              <a:rPr lang="ru-RU" dirty="0" smtClean="0"/>
              <a:t>172.16.0.0/12	</a:t>
            </a:r>
          </a:p>
          <a:p>
            <a:r>
              <a:rPr lang="ru-RU" dirty="0" smtClean="0"/>
              <a:t>192.168.0.0/16</a:t>
            </a:r>
            <a:endParaRPr lang="en-US" dirty="0" smtClean="0"/>
          </a:p>
          <a:p>
            <a:pPr marL="0" indent="0">
              <a:buNone/>
            </a:pPr>
            <a:r>
              <a:rPr lang="af-ZA" dirty="0" smtClean="0"/>
              <a:t>RFC6598:</a:t>
            </a:r>
          </a:p>
          <a:p>
            <a:r>
              <a:rPr lang="ru-RU" dirty="0" smtClean="0"/>
              <a:t>100.64.0.0/10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0" y="2335579"/>
            <a:ext cx="5624146" cy="2939806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Могут использоваться кем угодно в локальной сети.</a:t>
            </a:r>
          </a:p>
          <a:p>
            <a:r>
              <a:rPr lang="ru-RU" dirty="0" smtClean="0"/>
              <a:t>Не уникальные.</a:t>
            </a:r>
          </a:p>
          <a:p>
            <a:r>
              <a:rPr lang="ru-RU" dirty="0" smtClean="0"/>
              <a:t>Не маршрутизируются в интернете.</a:t>
            </a:r>
          </a:p>
          <a:p>
            <a:r>
              <a:rPr lang="ru-RU" dirty="0" smtClean="0"/>
              <a:t>Для выхода в Интернет требуется </a:t>
            </a:r>
            <a:r>
              <a:rPr lang="en-US" b="1" dirty="0" smtClean="0"/>
              <a:t>NAT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734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 NAT. Network Address Translation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9425"/>
            <a:ext cx="10515600" cy="398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8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 NAT. Network Address Translation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6508" y="1825625"/>
            <a:ext cx="68989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0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26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254</Words>
  <Application>Microsoft Office PowerPoint</Application>
  <PresentationFormat>Широкоэкранный</PresentationFormat>
  <Paragraphs>51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NAT  (Network Address Translation)</vt:lpstr>
      <vt:lpstr>Access Control Lists (ACLs)</vt:lpstr>
      <vt:lpstr>Виды ACL в Cisco</vt:lpstr>
      <vt:lpstr>Порядок обработки в ACL</vt:lpstr>
      <vt:lpstr>Порядок правил важен. Более «узкое» правило должно быть выше.</vt:lpstr>
      <vt:lpstr>Куда ACL применяется</vt:lpstr>
      <vt:lpstr>Wildcard-маска</vt:lpstr>
      <vt:lpstr>Адресное пространство IPv4</vt:lpstr>
      <vt:lpstr>Диапазоны приватных IP адресов</vt:lpstr>
      <vt:lpstr> NAT. Network Address Translation</vt:lpstr>
      <vt:lpstr> NAT. Network Address Translation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 (Network Address Translation)</dc:title>
  <dc:creator>Тимур А. Нахтигаль</dc:creator>
  <cp:lastModifiedBy>Тимур А. Нахтигаль</cp:lastModifiedBy>
  <cp:revision>8</cp:revision>
  <dcterms:created xsi:type="dcterms:W3CDTF">2026-10-05T18:01:23Z</dcterms:created>
  <dcterms:modified xsi:type="dcterms:W3CDTF">2026-10-06T05:27:03Z</dcterms:modified>
</cp:coreProperties>
</file>