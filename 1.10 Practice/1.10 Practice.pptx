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71" r:id="rId7"/>
    <p:sldId id="273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144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788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546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748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1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851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386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0827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9007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114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D376EB-5FF0-47A5-9975-500A3B41E1BB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71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8599" y="365125"/>
            <a:ext cx="11755315" cy="1325563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af-ZA" sz="16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Router(config)# </a:t>
            </a:r>
            <a:r>
              <a:rPr lang="af-ZA" sz="1600" b="1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 route </a:t>
            </a:r>
            <a:r>
              <a:rPr lang="af-ZA" sz="16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network-address subnet-mask { ip-address | exit-intf [ip-address]} [distance]</a:t>
            </a:r>
            <a:endParaRPr lang="ru-RU" sz="16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6931576"/>
              </p:ext>
            </p:extLst>
          </p:nvPr>
        </p:nvGraphicFramePr>
        <p:xfrm>
          <a:off x="838200" y="1916418"/>
          <a:ext cx="10515600" cy="4477429"/>
        </p:xfrm>
        <a:graphic>
          <a:graphicData uri="http://schemas.openxmlformats.org/drawingml/2006/table">
            <a:tbl>
              <a:tblPr/>
              <a:tblGrid>
                <a:gridCol w="1720362">
                  <a:extLst>
                    <a:ext uri="{9D8B030D-6E8A-4147-A177-3AD203B41FA5}">
                      <a16:colId xmlns:a16="http://schemas.microsoft.com/office/drawing/2014/main" val="1019399457"/>
                    </a:ext>
                  </a:extLst>
                </a:gridCol>
                <a:gridCol w="8795238">
                  <a:extLst>
                    <a:ext uri="{9D8B030D-6E8A-4147-A177-3AD203B41FA5}">
                      <a16:colId xmlns:a16="http://schemas.microsoft.com/office/drawing/2014/main" val="4266885806"/>
                    </a:ext>
                  </a:extLst>
                </a:gridCol>
              </a:tblGrid>
              <a:tr h="147873">
                <a:tc>
                  <a:txBody>
                    <a:bodyPr/>
                    <a:lstStyle/>
                    <a:p>
                      <a:pPr algn="l"/>
                      <a:r>
                        <a:rPr lang="ru-RU" sz="1400" b="0" dirty="0">
                          <a:effectLst/>
                          <a:latin typeface="quote-cjk-patch"/>
                        </a:rPr>
                        <a:t>Параметр</a:t>
                      </a: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  <a:latin typeface="quote-cjk-patch"/>
                        </a:rPr>
                        <a:t>Описание</a:t>
                      </a:r>
                    </a:p>
                  </a:txBody>
                  <a:tcPr marL="48483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141075"/>
                  </a:ext>
                </a:extLst>
              </a:tr>
              <a:tr h="409680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network-address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Определяет сетевой адрес назначения IPv4 удалённой сети, чтобы добавить в таблицу маршрутизации.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005171"/>
                  </a:ext>
                </a:extLst>
              </a:tr>
              <a:tr h="584219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subnet-mask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Определяет маску подсети удалённой сети. Маска подсети может быть изменена при объединении группы сетей и создаёт суммарный статический маршрут.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86346"/>
                  </a:ext>
                </a:extLst>
              </a:tr>
              <a:tr h="933295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ip-address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Определяет адрес IPv4 маршрутизатора следующего прыжка. Обычно используется с широковещательными сетями (например,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Ethernet</a:t>
                      </a:r>
                      <a:r>
                        <a:rPr lang="ru-RU" sz="1400" b="0" dirty="0">
                          <a:effectLst/>
                          <a:latin typeface="quote-cjk-patch"/>
                        </a:rPr>
                        <a:t>). Может создать рекурсивный статический маршрут, где маршрутизатор выполняет дополнительный поиск, чтобы найти интерфейс выхода.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402954"/>
                  </a:ext>
                </a:extLst>
              </a:tr>
              <a:tr h="671488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exit-intf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Определяет интерфейс выхода для пересылки пакетов. Статический маршрут с прямым подключением. Обычно используется при подключении к сети в конфигурации «точка-точка».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6992068"/>
                  </a:ext>
                </a:extLst>
              </a:tr>
              <a:tr h="496949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  <a:latin typeface="quote-cjk-patch"/>
                        </a:rPr>
                        <a:t>exit-intf ip-address</a:t>
                      </a:r>
                      <a:endParaRPr lang="af-ZA" sz="1400" b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Создаёт полностью определённый статический маршрут, поскольку он указывает выход и адрес IPv4 следующего перехода.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203692"/>
                  </a:ext>
                </a:extLst>
              </a:tr>
              <a:tr h="1107834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  <a:latin typeface="quote-cjk-patch"/>
                        </a:rPr>
                        <a:t>distance</a:t>
                      </a:r>
                      <a:endParaRPr lang="af-ZA" sz="1400" b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Опциональная команда, которая может использоваться для назначения административного расстояния значение от 1 до 255. Обычно используется для настройки плавающего статического маршрута, административное расстояние которого выше, чем динамически изученный маршрут.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2577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0409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8599" y="365125"/>
            <a:ext cx="11755315" cy="1920875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S1(config)#username admin privilege 15 secret cisco</a:t>
            </a:r>
            <a:b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0 4</a:t>
            </a:r>
            <a:b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-line)#login local</a:t>
            </a:r>
            <a:b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-line)#end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228599" y="2583358"/>
            <a:ext cx="11542058" cy="34361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0" rIns="91440" bIns="11109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username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команда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admin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имя пользователя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privilege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15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ключевое слово и атрибут, задающие права доступа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secret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ключевое слово, задающее пароль пользователя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cisco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пароль пользователя</a:t>
            </a:r>
            <a:endParaRPr kumimoji="0" lang="en-US" altLang="ru-RU" sz="2400" b="0" i="0" u="none" strike="noStrike" cap="none" normalizeH="0" baseline="0" dirty="0" smtClean="0">
              <a:ln>
                <a:noFill/>
              </a:ln>
              <a:effectLst/>
              <a:latin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ru-RU" sz="2400" dirty="0">
              <a:latin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lang="en-US" altLang="ru-RU" sz="2400" dirty="0">
                <a:latin typeface="Consolas" panose="020B0609020204030204" pitchFamily="49" charset="0"/>
              </a:rPr>
              <a:t>line </a:t>
            </a:r>
            <a:r>
              <a:rPr lang="en-US" altLang="ru-RU" sz="2400" dirty="0" err="1">
                <a:latin typeface="Consolas" panose="020B0609020204030204" pitchFamily="49" charset="0"/>
              </a:rPr>
              <a:t>vty</a:t>
            </a:r>
            <a:r>
              <a:rPr lang="en-US" altLang="ru-RU" sz="2400" dirty="0">
                <a:latin typeface="Consolas" panose="020B0609020204030204" pitchFamily="49" charset="0"/>
              </a:rPr>
              <a:t> 0 4 </a:t>
            </a:r>
            <a:r>
              <a:rPr kumimoji="0" lang="en-US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– 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переход в режим конфигурации виртуальных линий управления</a:t>
            </a:r>
            <a:r>
              <a:rPr kumimoji="0" lang="ru-RU" altLang="ru-RU" sz="2400" b="0" i="0" u="none" strike="noStrike" cap="none" normalizeH="0" dirty="0" smtClean="0">
                <a:ln>
                  <a:noFill/>
                </a:ln>
                <a:effectLst/>
                <a:latin typeface="-apple-system"/>
              </a:rPr>
              <a:t> устройством (отвечают за протоколы удаленного доступа)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-apple-system"/>
              </a:rPr>
              <a:t> </a:t>
            </a:r>
            <a:r>
              <a:rPr lang="en-US" altLang="ru-RU" sz="2400" dirty="0">
                <a:latin typeface="Consolas" panose="020B0609020204030204" pitchFamily="49" charset="0"/>
              </a:rPr>
              <a:t>login local </a:t>
            </a:r>
            <a:r>
              <a:rPr lang="en-US" altLang="ru-RU" sz="2400" dirty="0" smtClean="0">
                <a:latin typeface="-apple-system"/>
              </a:rPr>
              <a:t>– </a:t>
            </a:r>
            <a:r>
              <a:rPr lang="ru-RU" altLang="ru-RU" sz="2400" dirty="0" smtClean="0">
                <a:latin typeface="-apple-system"/>
              </a:rPr>
              <a:t>включение аутентификации по локальной базе пользователей</a:t>
            </a:r>
            <a:endParaRPr kumimoji="0" lang="ru-RU" altLang="ru-RU" sz="2400" b="0" i="0" u="none" strike="noStrike" cap="none" normalizeH="0" baseline="0" dirty="0" smtClean="0">
              <a:ln>
                <a:noFill/>
              </a:ln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848195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1" y="101356"/>
            <a:ext cx="10515600" cy="725121"/>
          </a:xfrm>
        </p:spPr>
        <p:txBody>
          <a:bodyPr/>
          <a:lstStyle/>
          <a:p>
            <a:r>
              <a:rPr lang="ru-RU" dirty="0" smtClean="0"/>
              <a:t>Настройка </a:t>
            </a:r>
            <a:r>
              <a:rPr lang="en-US" dirty="0" smtClean="0"/>
              <a:t>SSH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1" y="826477"/>
            <a:ext cx="11755315" cy="21045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S1(config)#ip domain-name example.lan</a:t>
            </a:r>
            <a:b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crypto key generate 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rsa</a:t>
            </a:r>
            <a:endParaRPr lang="en-US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version 2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0 4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-line)#transport input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-line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)#login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local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220361"/>
              </p:ext>
            </p:extLst>
          </p:nvPr>
        </p:nvGraphicFramePr>
        <p:xfrm>
          <a:off x="347317" y="3056549"/>
          <a:ext cx="11626338" cy="3621840"/>
        </p:xfrm>
        <a:graphic>
          <a:graphicData uri="http://schemas.openxmlformats.org/drawingml/2006/table">
            <a:tbl>
              <a:tblPr/>
              <a:tblGrid>
                <a:gridCol w="2589314">
                  <a:extLst>
                    <a:ext uri="{9D8B030D-6E8A-4147-A177-3AD203B41FA5}">
                      <a16:colId xmlns:a16="http://schemas.microsoft.com/office/drawing/2014/main" val="1071594344"/>
                    </a:ext>
                  </a:extLst>
                </a:gridCol>
                <a:gridCol w="9037024">
                  <a:extLst>
                    <a:ext uri="{9D8B030D-6E8A-4147-A177-3AD203B41FA5}">
                      <a16:colId xmlns:a16="http://schemas.microsoft.com/office/drawing/2014/main" val="105974424"/>
                    </a:ext>
                  </a:extLst>
                </a:gridCol>
              </a:tblGrid>
              <a:tr h="23689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effectLst/>
                          <a:latin typeface="quote-cjk-patch"/>
                        </a:rPr>
                        <a:t>Команда / параметр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effectLst/>
                          <a:latin typeface="quote-cjk-patch"/>
                        </a:rPr>
                        <a:t>Пояснение</a:t>
                      </a:r>
                    </a:p>
                  </a:txBody>
                  <a:tcPr marL="94594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352765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ip domain-name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команда задания доменного имени устройства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73879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example.lan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имя домена (нужно для генерации RSA-ключей)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047553"/>
                  </a:ext>
                </a:extLst>
              </a:tr>
              <a:tr h="516510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crypto key generate rsa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генерация пары RSA-ключей (открытый/закрытый), необходима для работы SSH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36554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ip ssh version 2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выбор версии протокола SSH (2 — более безопасная)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817870"/>
                  </a:ext>
                </a:extLst>
              </a:tr>
              <a:tr h="656318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line vty 0 4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переход в режим конфигурации виртуальных линий (0–4), отвечающих за удалённый доступ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222510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transport input ssh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разрешить на VTY-линиях только SSH (telnet запрещён)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59981"/>
                  </a:ext>
                </a:extLst>
              </a:tr>
              <a:tr h="656318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login local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effectLst/>
                          <a:latin typeface="quote-cjk-patch"/>
                        </a:rPr>
                        <a:t>аутентификация по локальной базе пользователей (созданной ранее через </a:t>
                      </a:r>
                      <a:r>
                        <a:rPr lang="ru-RU" sz="1100" b="0" dirty="0" err="1">
                          <a:effectLst/>
                          <a:latin typeface="quote-cjk-patch"/>
                        </a:rPr>
                        <a:t>username</a:t>
                      </a:r>
                      <a:r>
                        <a:rPr lang="ru-RU" sz="1100" b="0" dirty="0">
                          <a:effectLst/>
                          <a:latin typeface="quote-cjk-patch"/>
                        </a:rPr>
                        <a:t>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072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459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1" y="395654"/>
            <a:ext cx="11755315" cy="164416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S1#sh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SSH Enabled - version 1.99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Authentication timeout: 120 secs; Authentication retries: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Заголовок 3"/>
          <p:cNvSpPr txBox="1">
            <a:spLocks/>
          </p:cNvSpPr>
          <p:nvPr/>
        </p:nvSpPr>
        <p:spPr>
          <a:xfrm>
            <a:off x="218340" y="2209800"/>
            <a:ext cx="11755315" cy="45339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C:\&gt;telnet 192.168.1.2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Trying 192.168.1.2 ...Open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[Connection to 192.168.1.2 closed by foreign host]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C:\&gt;ssh -l admin 192.168.1.2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Password: 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S1#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2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1" y="589085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helper-address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СЕРВЕРА_НАЗНАЧЕНИЯ&gt;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5123" y="105508"/>
            <a:ext cx="5787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Настройка агента ретрансляции </a:t>
            </a:r>
            <a:r>
              <a:rPr lang="en-US" dirty="0" smtClean="0"/>
              <a:t>DHCP (DHCP Relay Agent)</a:t>
            </a:r>
            <a:endParaRPr lang="ru-RU" dirty="0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218341" y="2004591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address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5123" y="1521014"/>
            <a:ext cx="5953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Получение адреса интерфейсом </a:t>
            </a:r>
            <a:r>
              <a:rPr lang="ru-RU" dirty="0" smtClean="0"/>
              <a:t>маршрутизатора</a:t>
            </a:r>
            <a:r>
              <a:rPr lang="en-US" dirty="0" smtClean="0"/>
              <a:t> </a:t>
            </a:r>
            <a:r>
              <a:rPr lang="ru-RU" dirty="0" smtClean="0"/>
              <a:t>по </a:t>
            </a:r>
            <a:r>
              <a:rPr lang="en-US" dirty="0" smtClean="0"/>
              <a:t>DCHP</a:t>
            </a:r>
            <a:endParaRPr lang="ru-RU" dirty="0"/>
          </a:p>
        </p:txBody>
      </p:sp>
      <p:sp>
        <p:nvSpPr>
          <p:cNvPr id="8" name="Заголовок 3"/>
          <p:cNvSpPr txBox="1">
            <a:spLocks/>
          </p:cNvSpPr>
          <p:nvPr/>
        </p:nvSpPr>
        <p:spPr>
          <a:xfrm>
            <a:off x="218341" y="3420096"/>
            <a:ext cx="11755315" cy="32796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! Исключение одного адреса или диапазона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excluded-address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&lt;IP&gt;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Создание пула и параметров аренды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pool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network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АДРЕС_СЕТИ&gt; &lt;МАСКА_ПОДСЕТИ&gt;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default-router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ШЛЮЗА&gt;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dns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-server &lt;IP_DNS_1&gt; [&lt;IP_DNS_2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&gt;]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5123" y="2936520"/>
            <a:ext cx="42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Конфигурация локального </a:t>
            </a:r>
            <a:r>
              <a:rPr lang="af-ZA" dirty="0"/>
              <a:t>DHCP-</a:t>
            </a:r>
            <a:r>
              <a:rPr lang="ru-RU" dirty="0"/>
              <a:t>сервера</a:t>
            </a:r>
          </a:p>
        </p:txBody>
      </p:sp>
    </p:spTree>
    <p:extLst>
      <p:ext uri="{BB962C8B-B14F-4D97-AF65-F5344CB8AC3E}">
        <p14:creationId xmlns:p14="http://schemas.microsoft.com/office/powerpoint/2010/main" val="2635534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3"/>
          <p:cNvSpPr txBox="1">
            <a:spLocks/>
          </p:cNvSpPr>
          <p:nvPr/>
        </p:nvSpPr>
        <p:spPr>
          <a:xfrm>
            <a:off x="279887" y="1881442"/>
            <a:ext cx="11755315" cy="32796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R1(config)# ip dhcp excluded-address 192.168.10.1 192.168.10.9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R1(config)# ip dhcp excluded-address 192.168.10.254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R1(config)# ip dhcp pool LAN-POOL-1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R1(dhcp-config)# network 192.168.10.0 255.255.255.0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R1(dhcp-config)# default-router 192.168.10.1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R1(dhcp-config)# dns-server 192.168.11.5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R1(dhcp-config)# domain-name example.com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R1(dhcp-config)# end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9887" y="1318736"/>
            <a:ext cx="42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Конфигурация локального </a:t>
            </a:r>
            <a:r>
              <a:rPr lang="af-ZA" dirty="0"/>
              <a:t>DHCP-</a:t>
            </a:r>
            <a:r>
              <a:rPr lang="ru-RU" dirty="0"/>
              <a:t>сервера</a:t>
            </a:r>
          </a:p>
        </p:txBody>
      </p:sp>
    </p:spTree>
    <p:extLst>
      <p:ext uri="{BB962C8B-B14F-4D97-AF65-F5344CB8AC3E}">
        <p14:creationId xmlns:p14="http://schemas.microsoft.com/office/powerpoint/2010/main" val="2940011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3"/>
          <p:cNvSpPr txBox="1">
            <a:spLocks/>
          </p:cNvSpPr>
          <p:nvPr/>
        </p:nvSpPr>
        <p:spPr>
          <a:xfrm>
            <a:off x="279887" y="1881442"/>
            <a:ext cx="11755315" cy="39918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! Отображает команды DHCPv4, настроенные на маршрутизаторе.</a:t>
            </a:r>
          </a:p>
          <a:p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show </a:t>
            </a:r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running-config | section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! Отображает список всех привязок IPv4 к MAC-адресам, предоставляемых сервисом DHCPv4</a:t>
            </a:r>
            <a:r>
              <a:rPr lang="ru-RU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show ip dhcp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binding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! Данная команда отображает информацию о количестве принятых и отправленных сообщений DHCPv4.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show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server statistics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9887" y="1318736"/>
            <a:ext cx="374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Команды проверки </a:t>
            </a:r>
            <a:r>
              <a:rPr lang="en-US" dirty="0" smtClean="0"/>
              <a:t>DHCPv4 </a:t>
            </a:r>
            <a:r>
              <a:rPr lang="ru-RU" dirty="0" smtClean="0"/>
              <a:t>сервера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1313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Стандартные списки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993532"/>
            <a:ext cx="11755315" cy="559190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?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&lt;1-99&gt;       Standard IP access-list number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&lt;1300-1999&gt;  Standard IP access-list number (expanded range)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WORD         Access-list name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МАСКА&gt;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host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Router#show ip access-lists 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248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Стандартные списки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652955"/>
            <a:ext cx="11755315" cy="42115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)#permit 192.168.10.0 0.0.0.255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)#deny 172.16.0.0 0.0.127.255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)#end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</a:t>
            </a:r>
          </a:p>
          <a:p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Router#show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access-lists 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Standard IP access list 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  permit 192.168.10.0 0.0.0.255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  deny 172.16.0.0 0.0.127.255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971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Расширенные списки доступа</a:t>
            </a:r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424355"/>
            <a:ext cx="11755315" cy="46071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?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&lt;100-199&gt;    Extended IP access-list number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&lt;2000-2699&gt;  Extended IP access-list number (expanded range)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WORD         Access-list name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ПРОТОКОЛ&gt; \</a:t>
            </a: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    &lt;ИСТОЧНИК&gt;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 [ОПЕРАТОР ПОРТ_ИСТОЧНИКА] \</a:t>
            </a: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    &lt;НАЗНАЧЕНИЕ&gt;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НАЗНАЧЕНИЯ&gt; [ОПЕРАТОР ПОРТ_НАЗНАЧЕНИЯ]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313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Операторы портов в </a:t>
            </a:r>
            <a:r>
              <a:rPr lang="en-US" dirty="0" smtClean="0"/>
              <a:t>Extended ACL</a:t>
            </a:r>
            <a:endParaRPr lang="ru-RU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2437105"/>
            <a:ext cx="10835402" cy="312838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none" lIns="91440" tIns="0" rIns="91440" bIns="11109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eq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номер|имя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строгое равенство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equal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neq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номер|имя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все, кроме указанного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not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equal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gt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&lt;номер&gt;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 больше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greater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than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lt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&lt;номер&gt;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 меньше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less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than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range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&lt;старт&gt; &lt;конец&gt;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диапазон портов.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20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Расширенные списки доступа</a:t>
            </a:r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993532"/>
            <a:ext cx="11755315" cy="559190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EXTENDED_ACL</a:t>
            </a:r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Разрешить весь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трафик из сети 10.10.0.0/16 в сеть 172.16.5.0/24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10.10.0.0 0.0.255.255 172.16.5.0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0.0.0.255</a:t>
            </a:r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Разрешить весь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TCP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к хосту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на порт 443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any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443</a:t>
            </a:r>
          </a:p>
          <a:p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>
                <a:solidFill>
                  <a:schemeClr val="bg1"/>
                </a:solidFill>
                <a:latin typeface="Consolas" panose="020B0609020204030204" pitchFamily="49" charset="0"/>
              </a:rPr>
              <a:t>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от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с </a:t>
            </a:r>
            <a:r>
              <a:rPr lang="en-US" sz="20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SrcPort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= 80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80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UDP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с </a:t>
            </a:r>
            <a:r>
              <a:rPr lang="en-US" sz="20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SrcPort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= 53 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udp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domain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ICMP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из 10.0.0.0/8 к хосту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icmp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10.0.0.0 0.255.255.255 host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2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6231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списков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09549" y="1407638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access-group &lt;ИМЯ_ACL&gt; &lt;in | out&gt;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6331" y="924061"/>
            <a:ext cx="4716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Применение ACL на физические интерфейсы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938411"/>
              </p:ext>
            </p:extLst>
          </p:nvPr>
        </p:nvGraphicFramePr>
        <p:xfrm>
          <a:off x="209547" y="2437498"/>
          <a:ext cx="11755317" cy="1352550"/>
        </p:xfrm>
        <a:graphic>
          <a:graphicData uri="http://schemas.openxmlformats.org/drawingml/2006/table">
            <a:tbl>
              <a:tblPr/>
              <a:tblGrid>
                <a:gridCol w="2006115">
                  <a:extLst>
                    <a:ext uri="{9D8B030D-6E8A-4147-A177-3AD203B41FA5}">
                      <a16:colId xmlns:a16="http://schemas.microsoft.com/office/drawing/2014/main" val="207901487"/>
                    </a:ext>
                  </a:extLst>
                </a:gridCol>
                <a:gridCol w="5231423">
                  <a:extLst>
                    <a:ext uri="{9D8B030D-6E8A-4147-A177-3AD203B41FA5}">
                      <a16:colId xmlns:a16="http://schemas.microsoft.com/office/drawing/2014/main" val="50644823"/>
                    </a:ext>
                  </a:extLst>
                </a:gridCol>
                <a:gridCol w="4517779">
                  <a:extLst>
                    <a:ext uri="{9D8B030D-6E8A-4147-A177-3AD203B41FA5}">
                      <a16:colId xmlns:a16="http://schemas.microsoft.com/office/drawing/2014/main" val="3264033052"/>
                    </a:ext>
                  </a:extLst>
                </a:gridCol>
              </a:tblGrid>
              <a:tr h="252310"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Направление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Момент проверки пакета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Типичное применение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823367"/>
                  </a:ext>
                </a:extLst>
              </a:tr>
              <a:tr h="426746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</a:rPr>
                        <a:t>in</a:t>
                      </a:r>
                      <a:r>
                        <a:rPr lang="af-ZA" sz="1400">
                          <a:effectLst/>
                        </a:rPr>
                        <a:t> (</a:t>
                      </a:r>
                      <a:r>
                        <a:rPr lang="ru-RU" sz="1400">
                          <a:effectLst/>
                        </a:rPr>
                        <a:t>входящий)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До обработки таблицей маршрутизации (</a:t>
                      </a:r>
                      <a:r>
                        <a:rPr lang="ru-RU" sz="1400" dirty="0" err="1">
                          <a:effectLst/>
                        </a:rPr>
                        <a:t>Pre-routing</a:t>
                      </a:r>
                      <a:r>
                        <a:rPr lang="ru-RU" sz="1400" dirty="0">
                          <a:effectLst/>
                        </a:rPr>
                        <a:t>).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Быстрая блокировка нежелательного трафика на периметре.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0888680"/>
                  </a:ext>
                </a:extLst>
              </a:tr>
              <a:tr h="426746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</a:rPr>
                        <a:t>out</a:t>
                      </a:r>
                      <a:r>
                        <a:rPr lang="af-ZA" sz="1400" dirty="0">
                          <a:effectLst/>
                        </a:rPr>
                        <a:t> (</a:t>
                      </a:r>
                      <a:r>
                        <a:rPr lang="ru-RU" sz="1400" dirty="0">
                          <a:effectLst/>
                        </a:rPr>
                        <a:t>исходящий)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После принятия решения о маршрутизации и определения выходного порта (</a:t>
                      </a:r>
                      <a:r>
                        <a:rPr lang="ru-RU" sz="1400" dirty="0" err="1">
                          <a:effectLst/>
                        </a:rPr>
                        <a:t>Post-routing</a:t>
                      </a:r>
                      <a:r>
                        <a:rPr lang="ru-RU" sz="1400" dirty="0">
                          <a:effectLst/>
                        </a:rPr>
                        <a:t>).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Контроль трафика, покидающего данный сегмент / направляющегося к подключенным серверам.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935532"/>
                  </a:ext>
                </a:extLst>
              </a:tr>
            </a:tbl>
          </a:graphicData>
        </a:graphic>
      </p:graphicFrame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09328" y="2437498"/>
            <a:ext cx="135495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209549" y="4391161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НАЧАЛО&gt; &lt;КОНЕЦ&gt;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 access-class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ACL&gt; in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6331" y="3907584"/>
            <a:ext cx="6523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Применение для фильтрации сессий управления (</a:t>
            </a:r>
            <a:r>
              <a:rPr lang="ru-RU" b="1" dirty="0" smtClean="0"/>
              <a:t>VTY</a:t>
            </a:r>
            <a:r>
              <a:rPr lang="ru-RU" dirty="0"/>
              <a:t/>
            </a:r>
            <a:br>
              <a:rPr lang="ru-RU" dirty="0"/>
            </a:br>
            <a:endParaRPr lang="ru-RU" b="1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177485"/>
              </p:ext>
            </p:extLst>
          </p:nvPr>
        </p:nvGraphicFramePr>
        <p:xfrm>
          <a:off x="216875" y="5336931"/>
          <a:ext cx="11747988" cy="1187932"/>
        </p:xfrm>
        <a:graphic>
          <a:graphicData uri="http://schemas.openxmlformats.org/drawingml/2006/table">
            <a:tbl>
              <a:tblPr/>
              <a:tblGrid>
                <a:gridCol w="1383325">
                  <a:extLst>
                    <a:ext uri="{9D8B030D-6E8A-4147-A177-3AD203B41FA5}">
                      <a16:colId xmlns:a16="http://schemas.microsoft.com/office/drawing/2014/main" val="1326741074"/>
                    </a:ext>
                  </a:extLst>
                </a:gridCol>
                <a:gridCol w="4615962">
                  <a:extLst>
                    <a:ext uri="{9D8B030D-6E8A-4147-A177-3AD203B41FA5}">
                      <a16:colId xmlns:a16="http://schemas.microsoft.com/office/drawing/2014/main" val="3271294546"/>
                    </a:ext>
                  </a:extLst>
                </a:gridCol>
                <a:gridCol w="5748701">
                  <a:extLst>
                    <a:ext uri="{9D8B030D-6E8A-4147-A177-3AD203B41FA5}">
                      <a16:colId xmlns:a16="http://schemas.microsoft.com/office/drawing/2014/main" val="14207614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effectLst/>
                          <a:latin typeface="quote-cjk-patch"/>
                        </a:rPr>
                        <a:t>Направление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effectLst/>
                          <a:latin typeface="quote-cjk-patch"/>
                        </a:rPr>
                        <a:t>Что фильтрует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effectLst/>
                          <a:latin typeface="quote-cjk-patch"/>
                        </a:rPr>
                        <a:t>Какой адрес в ACL проверяется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656784"/>
                  </a:ext>
                </a:extLst>
              </a:tr>
              <a:tr h="363698">
                <a:tc>
                  <a:txBody>
                    <a:bodyPr/>
                    <a:lstStyle/>
                    <a:p>
                      <a:r>
                        <a:rPr lang="af-ZA" sz="1200" b="1">
                          <a:effectLst/>
                          <a:latin typeface="quote-cjk-patch"/>
                        </a:rPr>
                        <a:t>in</a:t>
                      </a:r>
                      <a:endParaRPr lang="af-ZA" sz="1200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Входящие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</a:t>
                      </a:r>
                      <a:r>
                        <a:rPr lang="af-ZA" sz="1200" b="0">
                          <a:effectLst/>
                          <a:latin typeface="quote-cjk-patch"/>
                        </a:rPr>
                        <a:t>SSH/Telnet-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подключения </a:t>
                      </a:r>
                      <a:r>
                        <a:rPr lang="ru-RU" sz="1200" b="1">
                          <a:effectLst/>
                          <a:latin typeface="quote-cjk-patch"/>
                        </a:rPr>
                        <a:t>к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устройству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Source Address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(откуда пришел клиент)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26315"/>
                  </a:ext>
                </a:extLst>
              </a:tr>
              <a:tr h="441172">
                <a:tc>
                  <a:txBody>
                    <a:bodyPr/>
                    <a:lstStyle/>
                    <a:p>
                      <a:r>
                        <a:rPr lang="af-ZA" sz="1200" b="1">
                          <a:effectLst/>
                          <a:latin typeface="quote-cjk-patch"/>
                        </a:rPr>
                        <a:t>out</a:t>
                      </a:r>
                      <a:endParaRPr lang="af-ZA" sz="1200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Исходящие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подключения </a:t>
                      </a:r>
                      <a:r>
                        <a:rPr lang="ru-RU" sz="1200" b="1">
                          <a:effectLst/>
                          <a:latin typeface="quote-cjk-patch"/>
                        </a:rPr>
                        <a:t>с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этого VTY к другим устройствам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 dirty="0" err="1">
                          <a:effectLst/>
                          <a:latin typeface="quote-cjk-patch"/>
                        </a:rPr>
                        <a:t>Destination</a:t>
                      </a:r>
                      <a:r>
                        <a:rPr lang="ru-RU" sz="1200" b="1" dirty="0">
                          <a:effectLst/>
                          <a:latin typeface="quote-cjk-patch"/>
                        </a:rPr>
                        <a:t> </a:t>
                      </a:r>
                      <a:r>
                        <a:rPr lang="ru-RU" sz="1200" b="1" dirty="0" err="1">
                          <a:effectLst/>
                          <a:latin typeface="quote-cjk-patch"/>
                        </a:rPr>
                        <a:t>Address</a:t>
                      </a:r>
                      <a:r>
                        <a:rPr lang="ru-RU" sz="1200" b="0" dirty="0">
                          <a:effectLst/>
                          <a:latin typeface="quote-cjk-patch"/>
                        </a:rPr>
                        <a:t> (куда пытается подключиться пользователь)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784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136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154110"/>
            <a:ext cx="10515600" cy="610821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Настройка </a:t>
            </a:r>
            <a:r>
              <a:rPr lang="en-US" dirty="0" smtClean="0"/>
              <a:t>NAT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134263"/>
            <a:ext cx="11755315" cy="13798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1900" dirty="0">
                <a:solidFill>
                  <a:schemeClr val="bg1"/>
                </a:solidFill>
                <a:latin typeface="Consolas" panose="020B0609020204030204" pitchFamily="49" charset="0"/>
              </a:rPr>
              <a:t>Подключение к локальной (частной) сети</a:t>
            </a: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9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-if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inside   </a:t>
            </a:r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1900" dirty="0">
                <a:solidFill>
                  <a:schemeClr val="bg1"/>
                </a:solidFill>
                <a:latin typeface="Consolas" panose="020B0609020204030204" pitchFamily="49" charset="0"/>
              </a:rPr>
              <a:t>Подключение к внешней (публичной) </a:t>
            </a:r>
            <a:r>
              <a:rPr lang="ru-RU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сети</a:t>
            </a:r>
            <a:endParaRPr lang="en-US" sz="19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9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-if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outside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5124" y="764931"/>
            <a:ext cx="35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Определение ролей интерфейсов</a:t>
            </a: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218339" y="4611455"/>
            <a:ext cx="11755315" cy="5321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inside source list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 interface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ВНЕШНИЙ_ИНТЕРФЕЙС&gt; </a:t>
            </a:r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overload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7752" y="4070954"/>
            <a:ext cx="4855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Трансляция с перегрузкой в адрес интерфейса</a:t>
            </a:r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218339" y="5785339"/>
            <a:ext cx="11755315" cy="8001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pool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 &lt;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START_IP&gt; &lt;END_IP&gt;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netmask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МАСКА_СЕТИ&gt;</a:t>
            </a:r>
          </a:p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inside source list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 pool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 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overload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5124" y="5310569"/>
            <a:ext cx="6081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Трансляция с перегрузкой с использованием пула адресов</a:t>
            </a:r>
          </a:p>
        </p:txBody>
      </p:sp>
      <p:sp>
        <p:nvSpPr>
          <p:cNvPr id="12" name="Заголовок 3"/>
          <p:cNvSpPr txBox="1">
            <a:spLocks/>
          </p:cNvSpPr>
          <p:nvPr/>
        </p:nvSpPr>
        <p:spPr>
          <a:xfrm>
            <a:off x="218339" y="3241510"/>
            <a:ext cx="11755315" cy="61109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</a:t>
            </a:r>
          </a:p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permit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СЕТЬ_ИСТОЧНИКА&gt; &lt;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МАСКА&gt;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753" y="2653827"/>
            <a:ext cx="502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Создание списка доступа для «отбора» трафика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34925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134262"/>
            <a:ext cx="11755315" cy="24354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#show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translations 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Load for five secs: 7%/2%; one minute: 8%; five minutes: 8%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Time source is NTP, 14:55:25.043 MSK Fri Oct 2 2026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Pro  Inside global         Inside local          Outside local         Outside global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icmp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80.79.176.44:9002     172.22.18.35:9002     159.138.205.143:9002  159.138.205.143:9002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31.10.13.250:80       172.24.136.178:80     193.243.190.165:35513 193.243.190.165:35513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31.10.12.129:80       172.24.218.130:80     184.169.158.254:42573 184.169.158.254:42573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80.79.176.44:62541    172.22.13.195:62541   151.236.102.200:443   151.236.102.200:443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udp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31.10.12.66:53        172.19.65.250:53      212.119.203.226:63327 212.119.203.226:63327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217.21.104.146:52420  10.70.2.22:3389       77.83.38.37:63008     77.83.38.37:63008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80.79.176.44:38454    172.19.8.83:38454     188.166.140.47:554    188.166.140.47:554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217.21.96.19:9192     10.1.34.164:32840     62.115.252.160:443    62.115.252.160:443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5124" y="764931"/>
            <a:ext cx="404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Просмотр информации о трансляциях</a:t>
            </a:r>
            <a:endParaRPr lang="ru-RU" b="1" dirty="0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218342" y="4106062"/>
            <a:ext cx="11755315" cy="262884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Router(config)#ntp server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ru-RU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-сервера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#show </a:t>
            </a:r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ntp associations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Load for five secs: 7%/2%; one minute: 8%; five minutes: 8%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Time source is NTP, 14:57:42.444 MSK Fri Oct 2 2026</a:t>
            </a:r>
          </a:p>
          <a:p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 address         ref clock       st   when   poll reach  delay  offset   disp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~94.198.132.184  .STEP.          16   128d   1024     0  0.000   0.000 15937.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~127.127.1.1     .LOCL.           2     14     16   377  0.000   0.000 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1.204</a:t>
            </a:r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5124" y="3653203"/>
            <a:ext cx="2705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Настройка и отладка </a:t>
            </a:r>
            <a:r>
              <a:rPr lang="en-US" b="1" smtClean="0"/>
              <a:t>NTP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073884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1234</Words>
  <Application>Microsoft Office PowerPoint</Application>
  <PresentationFormat>Широкоэкранный</PresentationFormat>
  <Paragraphs>222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-apple-system</vt:lpstr>
      <vt:lpstr>Arial</vt:lpstr>
      <vt:lpstr>Calibri</vt:lpstr>
      <vt:lpstr>Calibri Light</vt:lpstr>
      <vt:lpstr>Consolas</vt:lpstr>
      <vt:lpstr>quote-cjk-patch</vt:lpstr>
      <vt:lpstr>Тема Office</vt:lpstr>
      <vt:lpstr>Router(config)# ip route network-address subnet-mask { ip-address | exit-intf [ip-address]} [distance]</vt:lpstr>
      <vt:lpstr>S1(config)#username admin privilege 15 secret cisco S1(config)#line vty 0 4 S1(config-line)#login local S1(config-line)#end</vt:lpstr>
      <vt:lpstr>Настройка SSH</vt:lpstr>
      <vt:lpstr>Презентация PowerPoint</vt:lpstr>
      <vt:lpstr>Презентация PowerPoint</vt:lpstr>
      <vt:lpstr>Презентация PowerPoint</vt:lpstr>
      <vt:lpstr>Презентация PowerPoint</vt:lpstr>
      <vt:lpstr>Стандартные списки доступа</vt:lpstr>
      <vt:lpstr>Стандартные списки доступа</vt:lpstr>
      <vt:lpstr>Расширенные списки доступа</vt:lpstr>
      <vt:lpstr>Операторы портов в Extended ACL</vt:lpstr>
      <vt:lpstr>Расширенные списки доступа</vt:lpstr>
      <vt:lpstr>Использование списков доступа</vt:lpstr>
      <vt:lpstr>Настройка NAT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Тимур А. Нахтигаль</dc:creator>
  <cp:lastModifiedBy>Тимур А. Нахтигаль</cp:lastModifiedBy>
  <cp:revision>17</cp:revision>
  <dcterms:created xsi:type="dcterms:W3CDTF">2026-09-30T20:05:04Z</dcterms:created>
  <dcterms:modified xsi:type="dcterms:W3CDTF">2026-10-07T11:14:39Z</dcterms:modified>
</cp:coreProperties>
</file>