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376EB-5FF0-47A5-9975-500A3B41E1B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F403-E3CB-4F2E-A0D3-925FBC7F6D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614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376EB-5FF0-47A5-9975-500A3B41E1B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F403-E3CB-4F2E-A0D3-925FBC7F6D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7788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376EB-5FF0-47A5-9975-500A3B41E1B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F403-E3CB-4F2E-A0D3-925FBC7F6D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5460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376EB-5FF0-47A5-9975-500A3B41E1B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F403-E3CB-4F2E-A0D3-925FBC7F6D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1748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376EB-5FF0-47A5-9975-500A3B41E1B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F403-E3CB-4F2E-A0D3-925FBC7F6D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1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376EB-5FF0-47A5-9975-500A3B41E1B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F403-E3CB-4F2E-A0D3-925FBC7F6D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4851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376EB-5FF0-47A5-9975-500A3B41E1B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F403-E3CB-4F2E-A0D3-925FBC7F6D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386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376EB-5FF0-47A5-9975-500A3B41E1B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F403-E3CB-4F2E-A0D3-925FBC7F6D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827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376EB-5FF0-47A5-9975-500A3B41E1B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F403-E3CB-4F2E-A0D3-925FBC7F6D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9007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376EB-5FF0-47A5-9975-500A3B41E1B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F403-E3CB-4F2E-A0D3-925FBC7F6D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114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376EB-5FF0-47A5-9975-500A3B41E1B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2F403-E3CB-4F2E-A0D3-925FBC7F6D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376EB-5FF0-47A5-9975-500A3B41E1BB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F2F403-E3CB-4F2E-A0D3-925FBC7F6D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9711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28599" y="365125"/>
            <a:ext cx="11755315" cy="1325563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af-ZA" sz="16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Router(config)# </a:t>
            </a:r>
            <a:r>
              <a:rPr lang="af-ZA" sz="1600" b="1" dirty="0" smtClean="0">
                <a:solidFill>
                  <a:schemeClr val="bg1"/>
                </a:solidFill>
                <a:latin typeface="Consolas" panose="020B0609020204030204" pitchFamily="49" charset="0"/>
              </a:rPr>
              <a:t>ip route </a:t>
            </a:r>
            <a:r>
              <a:rPr lang="af-ZA" sz="16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network-address subnet-mask { ip-address | exit-intf [ip-address]} [distance]</a:t>
            </a:r>
            <a:endParaRPr lang="ru-RU" sz="1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0" name="Объект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6931576"/>
              </p:ext>
            </p:extLst>
          </p:nvPr>
        </p:nvGraphicFramePr>
        <p:xfrm>
          <a:off x="838200" y="1916418"/>
          <a:ext cx="10515600" cy="4477429"/>
        </p:xfrm>
        <a:graphic>
          <a:graphicData uri="http://schemas.openxmlformats.org/drawingml/2006/table">
            <a:tbl>
              <a:tblPr/>
              <a:tblGrid>
                <a:gridCol w="1720362">
                  <a:extLst>
                    <a:ext uri="{9D8B030D-6E8A-4147-A177-3AD203B41FA5}">
                      <a16:colId xmlns:a16="http://schemas.microsoft.com/office/drawing/2014/main" val="1019399457"/>
                    </a:ext>
                  </a:extLst>
                </a:gridCol>
                <a:gridCol w="8795238">
                  <a:extLst>
                    <a:ext uri="{9D8B030D-6E8A-4147-A177-3AD203B41FA5}">
                      <a16:colId xmlns:a16="http://schemas.microsoft.com/office/drawing/2014/main" val="4266885806"/>
                    </a:ext>
                  </a:extLst>
                </a:gridCol>
              </a:tblGrid>
              <a:tr h="147873"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effectLst/>
                          <a:latin typeface="quote-cjk-patch"/>
                        </a:rPr>
                        <a:t>Параметр</a:t>
                      </a:r>
                    </a:p>
                  </a:txBody>
                  <a:tcPr marL="29090" marR="48483" marT="30302" marB="30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>
                          <a:effectLst/>
                          <a:latin typeface="quote-cjk-patch"/>
                        </a:rPr>
                        <a:t>Описание</a:t>
                      </a:r>
                    </a:p>
                  </a:txBody>
                  <a:tcPr marL="48483" marR="48483" marT="30302" marB="30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141075"/>
                  </a:ext>
                </a:extLst>
              </a:tr>
              <a:tr h="409680">
                <a:tc>
                  <a:txBody>
                    <a:bodyPr/>
                    <a:lstStyle/>
                    <a:p>
                      <a:r>
                        <a:rPr lang="af-ZA" sz="1400" b="1" dirty="0">
                          <a:effectLst/>
                          <a:latin typeface="quote-cjk-patch"/>
                        </a:rPr>
                        <a:t>network-address</a:t>
                      </a:r>
                      <a:endParaRPr lang="af-ZA" sz="1400" b="0" dirty="0">
                        <a:effectLst/>
                        <a:latin typeface="quote-cjk-patch"/>
                      </a:endParaRPr>
                    </a:p>
                  </a:txBody>
                  <a:tcPr marL="29090" marR="48483" marT="30302" marB="30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Определяет сетевой адрес назначения IPv4 удалённой сети, чтобы добавить в таблицу маршрутизации.</a:t>
                      </a:r>
                    </a:p>
                  </a:txBody>
                  <a:tcPr marL="48483" marR="29090" marT="30302" marB="30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005171"/>
                  </a:ext>
                </a:extLst>
              </a:tr>
              <a:tr h="584219">
                <a:tc>
                  <a:txBody>
                    <a:bodyPr/>
                    <a:lstStyle/>
                    <a:p>
                      <a:r>
                        <a:rPr lang="af-ZA" sz="1400" b="1" dirty="0">
                          <a:effectLst/>
                          <a:latin typeface="quote-cjk-patch"/>
                        </a:rPr>
                        <a:t>subnet-mask</a:t>
                      </a:r>
                      <a:endParaRPr lang="af-ZA" sz="1400" b="0" dirty="0">
                        <a:effectLst/>
                        <a:latin typeface="quote-cjk-patch"/>
                      </a:endParaRPr>
                    </a:p>
                  </a:txBody>
                  <a:tcPr marL="29090" marR="48483" marT="30302" marB="30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>
                          <a:effectLst/>
                          <a:latin typeface="quote-cjk-patch"/>
                        </a:rPr>
                        <a:t>Определяет маску подсети удалённой сети. Маска подсети может быть изменена при объединении группы сетей и создаёт суммарный статический маршрут.</a:t>
                      </a:r>
                    </a:p>
                  </a:txBody>
                  <a:tcPr marL="48483" marR="29090" marT="30302" marB="30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6346"/>
                  </a:ext>
                </a:extLst>
              </a:tr>
              <a:tr h="933295">
                <a:tc>
                  <a:txBody>
                    <a:bodyPr/>
                    <a:lstStyle/>
                    <a:p>
                      <a:r>
                        <a:rPr lang="af-ZA" sz="1400" b="1" dirty="0">
                          <a:effectLst/>
                          <a:latin typeface="quote-cjk-patch"/>
                        </a:rPr>
                        <a:t>ip-address</a:t>
                      </a:r>
                      <a:endParaRPr lang="af-ZA" sz="1400" b="0" dirty="0">
                        <a:effectLst/>
                        <a:latin typeface="quote-cjk-patch"/>
                      </a:endParaRPr>
                    </a:p>
                  </a:txBody>
                  <a:tcPr marL="29090" marR="48483" marT="30302" marB="30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Определяет адрес IPv4 маршрутизатора следующего прыжка. Обычно используется с широковещательными сетями (например, </a:t>
                      </a:r>
                      <a:r>
                        <a:rPr lang="ru-RU" sz="1400" b="0" dirty="0" err="1">
                          <a:effectLst/>
                          <a:latin typeface="quote-cjk-patch"/>
                        </a:rPr>
                        <a:t>Ethernet</a:t>
                      </a:r>
                      <a:r>
                        <a:rPr lang="ru-RU" sz="1400" b="0" dirty="0">
                          <a:effectLst/>
                          <a:latin typeface="quote-cjk-patch"/>
                        </a:rPr>
                        <a:t>). Может создать рекурсивный статический маршрут, где маршрутизатор выполняет дополнительный поиск, чтобы найти интерфейс выхода.</a:t>
                      </a:r>
                    </a:p>
                  </a:txBody>
                  <a:tcPr marL="48483" marR="29090" marT="30302" marB="30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402954"/>
                  </a:ext>
                </a:extLst>
              </a:tr>
              <a:tr h="671488">
                <a:tc>
                  <a:txBody>
                    <a:bodyPr/>
                    <a:lstStyle/>
                    <a:p>
                      <a:r>
                        <a:rPr lang="af-ZA" sz="1400" b="1" dirty="0">
                          <a:effectLst/>
                          <a:latin typeface="quote-cjk-patch"/>
                        </a:rPr>
                        <a:t>exit-intf</a:t>
                      </a:r>
                      <a:endParaRPr lang="af-ZA" sz="1400" b="0" dirty="0">
                        <a:effectLst/>
                        <a:latin typeface="quote-cjk-patch"/>
                      </a:endParaRPr>
                    </a:p>
                  </a:txBody>
                  <a:tcPr marL="29090" marR="48483" marT="30302" marB="30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Определяет интерфейс выхода для пересылки пакетов. Статический маршрут с прямым подключением. Обычно используется при подключении к сети в конфигурации «точка-точка».</a:t>
                      </a:r>
                    </a:p>
                  </a:txBody>
                  <a:tcPr marL="48483" marR="29090" marT="30302" marB="30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992068"/>
                  </a:ext>
                </a:extLst>
              </a:tr>
              <a:tr h="496949">
                <a:tc>
                  <a:txBody>
                    <a:bodyPr/>
                    <a:lstStyle/>
                    <a:p>
                      <a:r>
                        <a:rPr lang="af-ZA" sz="1400" b="1">
                          <a:effectLst/>
                          <a:latin typeface="quote-cjk-patch"/>
                        </a:rPr>
                        <a:t>exit-intf ip-address</a:t>
                      </a:r>
                      <a:endParaRPr lang="af-ZA" sz="1400" b="0">
                        <a:effectLst/>
                        <a:latin typeface="quote-cjk-patch"/>
                      </a:endParaRPr>
                    </a:p>
                  </a:txBody>
                  <a:tcPr marL="29090" marR="48483" marT="30302" marB="30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Создаёт полностью определённый статический маршрут, поскольку он указывает выход и адрес IPv4 следующего перехода.</a:t>
                      </a:r>
                    </a:p>
                  </a:txBody>
                  <a:tcPr marL="48483" marR="29090" marT="30302" marB="30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203692"/>
                  </a:ext>
                </a:extLst>
              </a:tr>
              <a:tr h="1107834">
                <a:tc>
                  <a:txBody>
                    <a:bodyPr/>
                    <a:lstStyle/>
                    <a:p>
                      <a:r>
                        <a:rPr lang="af-ZA" sz="1400" b="1">
                          <a:effectLst/>
                          <a:latin typeface="quote-cjk-patch"/>
                        </a:rPr>
                        <a:t>distance</a:t>
                      </a:r>
                      <a:endParaRPr lang="af-ZA" sz="1400" b="0">
                        <a:effectLst/>
                        <a:latin typeface="quote-cjk-patch"/>
                      </a:endParaRPr>
                    </a:p>
                  </a:txBody>
                  <a:tcPr marL="29090" marR="48483" marT="30302" marB="30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effectLst/>
                          <a:latin typeface="quote-cjk-patch"/>
                        </a:rPr>
                        <a:t>Опциональная команда, которая может использоваться для назначения административного расстояния значение от 1 до 255. Обычно используется для настройки плавающего статического маршрута, административное расстояние которого выше, чем динамически изученный маршрут.</a:t>
                      </a:r>
                    </a:p>
                  </a:txBody>
                  <a:tcPr marL="48483" marR="29090" marT="30302" marB="303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577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40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228599" y="365125"/>
            <a:ext cx="11755315" cy="1325563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af-ZA" sz="2400" dirty="0" smtClean="0">
                <a:solidFill>
                  <a:schemeClr val="bg1"/>
                </a:solidFill>
                <a:latin typeface="Consolas" panose="020B0609020204030204" pitchFamily="49" charset="0"/>
              </a:rPr>
              <a:t>S1(config)#username admin privilege 15 secret cisco</a:t>
            </a:r>
            <a:endParaRPr lang="ru-RU" sz="2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00319" y="3084630"/>
            <a:ext cx="11542058" cy="195883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0" rIns="91440" bIns="11109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effectLst/>
                <a:latin typeface="Consolas" panose="020B0609020204030204" pitchFamily="49" charset="0"/>
              </a:rPr>
              <a:t>username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-apple-system"/>
              </a:rPr>
              <a:t> - команда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effectLst/>
                <a:latin typeface="Consolas" panose="020B0609020204030204" pitchFamily="49" charset="0"/>
              </a:rPr>
              <a:t>admin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-apple-system"/>
              </a:rPr>
              <a:t> - имя пользователя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effectLst/>
                <a:latin typeface="Consolas" panose="020B0609020204030204" pitchFamily="49" charset="0"/>
              </a:rPr>
              <a:t>privilege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Consolas" panose="020B0609020204030204" pitchFamily="49" charset="0"/>
              </a:rPr>
              <a:t> 15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-apple-system"/>
              </a:rPr>
              <a:t> - ключевое слово и атрибут, задающие права доступа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effectLst/>
                <a:latin typeface="Consolas" panose="020B0609020204030204" pitchFamily="49" charset="0"/>
              </a:rPr>
              <a:t>secret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-apple-system"/>
              </a:rPr>
              <a:t> - ключевое слово, задающее пароль пользователя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err="1" smtClean="0">
                <a:ln>
                  <a:noFill/>
                </a:ln>
                <a:effectLst/>
                <a:latin typeface="Consolas" panose="020B0609020204030204" pitchFamily="49" charset="0"/>
              </a:rPr>
              <a:t>cisco</a:t>
            </a:r>
            <a:r>
              <a:rPr kumimoji="0" lang="ru-RU" altLang="ru-RU" sz="2400" b="0" i="0" u="none" strike="noStrike" cap="none" normalizeH="0" baseline="0" dirty="0" smtClean="0">
                <a:ln>
                  <a:noFill/>
                </a:ln>
                <a:effectLst/>
                <a:latin typeface="-apple-system"/>
              </a:rPr>
              <a:t> - пароль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1848195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177</Words>
  <Application>Microsoft Office PowerPoint</Application>
  <PresentationFormat>Широкоэкранный</PresentationFormat>
  <Paragraphs>21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9" baseType="lpstr">
      <vt:lpstr>-apple-system</vt:lpstr>
      <vt:lpstr>Arial</vt:lpstr>
      <vt:lpstr>Calibri</vt:lpstr>
      <vt:lpstr>Calibri Light</vt:lpstr>
      <vt:lpstr>Consolas</vt:lpstr>
      <vt:lpstr>quote-cjk-patch</vt:lpstr>
      <vt:lpstr>Тема Office</vt:lpstr>
      <vt:lpstr>Router(config)# ip route network-address subnet-mask { ip-address | exit-intf [ip-address]} [distance]</vt:lpstr>
      <vt:lpstr>S1(config)#username admin privilege 15 secret cisco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Тимур А. Нахтигаль</dc:creator>
  <cp:lastModifiedBy>Тимур А. Нахтигаль</cp:lastModifiedBy>
  <cp:revision>6</cp:revision>
  <dcterms:created xsi:type="dcterms:W3CDTF">2026-09-30T20:05:04Z</dcterms:created>
  <dcterms:modified xsi:type="dcterms:W3CDTF">2026-09-30T20:19:49Z</dcterms:modified>
</cp:coreProperties>
</file>