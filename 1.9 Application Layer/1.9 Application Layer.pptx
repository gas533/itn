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5" r:id="rId8"/>
    <p:sldId id="262" r:id="rId9"/>
    <p:sldId id="263" r:id="rId10"/>
    <p:sldId id="264" r:id="rId11"/>
    <p:sldId id="266" r:id="rId12"/>
    <p:sldId id="267" r:id="rId13"/>
    <p:sldId id="268" r:id="rId14"/>
    <p:sldId id="269" r:id="rId15"/>
    <p:sldId id="271" r:id="rId16"/>
    <p:sldId id="272" r:id="rId17"/>
    <p:sldId id="270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5" r:id="rId49"/>
    <p:sldId id="303" r:id="rId50"/>
    <p:sldId id="304" r:id="rId51"/>
    <p:sldId id="306" r:id="rId52"/>
    <p:sldId id="307" r:id="rId53"/>
    <p:sldId id="308" r:id="rId54"/>
    <p:sldId id="310" r:id="rId55"/>
    <p:sldId id="311" r:id="rId56"/>
    <p:sldId id="309" r:id="rId57"/>
    <p:sldId id="312" r:id="rId5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1914" y="8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793A2-010F-4B7F-8BDD-EB257A174DB4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75F2B-4341-4571-9577-061D1B0C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63428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793A2-010F-4B7F-8BDD-EB257A174DB4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75F2B-4341-4571-9577-061D1B0C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40587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793A2-010F-4B7F-8BDD-EB257A174DB4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75F2B-4341-4571-9577-061D1B0C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72156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793A2-010F-4B7F-8BDD-EB257A174DB4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75F2B-4341-4571-9577-061D1B0C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84098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793A2-010F-4B7F-8BDD-EB257A174DB4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75F2B-4341-4571-9577-061D1B0C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20936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793A2-010F-4B7F-8BDD-EB257A174DB4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75F2B-4341-4571-9577-061D1B0C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14606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793A2-010F-4B7F-8BDD-EB257A174DB4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75F2B-4341-4571-9577-061D1B0C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82318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793A2-010F-4B7F-8BDD-EB257A174DB4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75F2B-4341-4571-9577-061D1B0C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81002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793A2-010F-4B7F-8BDD-EB257A174DB4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75F2B-4341-4571-9577-061D1B0C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31924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793A2-010F-4B7F-8BDD-EB257A174DB4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75F2B-4341-4571-9577-061D1B0C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57806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A793A2-010F-4B7F-8BDD-EB257A174DB4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75F2B-4341-4571-9577-061D1B0C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90325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A793A2-010F-4B7F-8BDD-EB257A174DB4}" type="datetimeFigureOut">
              <a:rPr lang="ru-RU" smtClean="0"/>
              <a:t>02.10.2026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975F2B-4341-4571-9577-061D1B0C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07559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 smtClean="0"/>
              <a:t>Уровень приложений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62382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Модель взаимодействия</a:t>
            </a:r>
            <a:endParaRPr lang="ru-RU" dirty="0"/>
          </a:p>
        </p:txBody>
      </p:sp>
      <p:pic>
        <p:nvPicPr>
          <p:cNvPr id="1030" name="Picture 6" descr="https://habrastorage.org/r/w1560/getpro/habr/upload_files/3c1/bcf/dd9/3c1bcfdd99bd0869f223fb451cdf9ec8.png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012767"/>
            <a:ext cx="10515600" cy="3977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66855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Система доменных имён (</a:t>
            </a:r>
            <a:r>
              <a:rPr lang="en-US" dirty="0" smtClean="0"/>
              <a:t>DNS)</a:t>
            </a:r>
            <a:endParaRPr lang="ru-RU" dirty="0"/>
          </a:p>
        </p:txBody>
      </p:sp>
      <p:pic>
        <p:nvPicPr>
          <p:cNvPr id="2052" name="Picture 4" descr="ARPANET | Definition, Map, Cold War, First Message, &amp; History | Britannica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2546" y="1503485"/>
            <a:ext cx="5411233" cy="3407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3779" y="2699605"/>
            <a:ext cx="6010275" cy="3762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52316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ru-RU" sz="2800" dirty="0" smtClean="0"/>
              <a:t>DNS</a:t>
            </a:r>
            <a:r>
              <a:rPr lang="en-US" sz="2800" dirty="0" smtClean="0"/>
              <a:t> </a:t>
            </a:r>
            <a:r>
              <a:rPr lang="ru-RU" sz="2800" dirty="0" smtClean="0"/>
              <a:t>— компьютерная распределённая система для получения информации о доменах. Чаще всего используется для получения IP-адреса по имени</a:t>
            </a:r>
            <a:r>
              <a:rPr lang="en-US" sz="2800" dirty="0"/>
              <a:t>.</a:t>
            </a:r>
            <a:endParaRPr lang="ru-RU" sz="2800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57525" y="1848644"/>
            <a:ext cx="6076950" cy="4305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7323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66346" y="365125"/>
            <a:ext cx="11529646" cy="1325563"/>
          </a:xfrm>
        </p:spPr>
        <p:txBody>
          <a:bodyPr>
            <a:noAutofit/>
          </a:bodyPr>
          <a:lstStyle/>
          <a:p>
            <a:r>
              <a:rPr lang="ru-RU" sz="3200" dirty="0" smtClean="0"/>
              <a:t>DNS-зона - выделенный сегмент доменного пространства, объединяющий ресурсы под общим управлением. Это административная единица, за которую отвечает конкретный сервер (или группа серверов)</a:t>
            </a:r>
            <a:endParaRPr lang="ru-RU" sz="3200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10454" y="1988940"/>
            <a:ext cx="6843346" cy="4801314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366346" y="1988940"/>
            <a:ext cx="3845169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1" dirty="0">
                <a:latin typeface="Google Sans"/>
              </a:rPr>
              <a:t>Авторитетный DNS-сервер</a:t>
            </a:r>
            <a:r>
              <a:rPr lang="ru-RU" dirty="0">
                <a:latin typeface="Google Sans"/>
              </a:rPr>
              <a:t> — сервер, отвечающий за какую-либо зону.</a:t>
            </a:r>
          </a:p>
          <a:p>
            <a:endParaRPr lang="ru-RU" b="1" u="none" strike="noStrike" dirty="0" smtClean="0">
              <a:effectLst/>
              <a:latin typeface="Google Sans"/>
            </a:endParaRPr>
          </a:p>
          <a:p>
            <a:r>
              <a:rPr lang="ru-RU" b="1" u="none" strike="noStrike" dirty="0" err="1" smtClean="0">
                <a:effectLst/>
                <a:latin typeface="Google Sans"/>
              </a:rPr>
              <a:t>Master</a:t>
            </a:r>
            <a:r>
              <a:rPr lang="ru-RU" b="1" u="none" strike="noStrike" dirty="0" smtClean="0">
                <a:effectLst/>
                <a:latin typeface="Google Sans"/>
              </a:rPr>
              <a:t> (главный, первичный)</a:t>
            </a:r>
            <a:r>
              <a:rPr lang="ru-RU" b="0" u="none" strike="noStrike" dirty="0" smtClean="0">
                <a:effectLst/>
                <a:latin typeface="Google Sans"/>
              </a:rPr>
              <a:t> — авторитетный сервер, на котором создается и хранится оригинальный файл зоны домена. Один для всей зоны.</a:t>
            </a:r>
          </a:p>
          <a:p>
            <a:endParaRPr lang="ru-RU" dirty="0">
              <a:latin typeface="Google Sans"/>
            </a:endParaRPr>
          </a:p>
          <a:p>
            <a:r>
              <a:rPr lang="en-US" b="1" dirty="0" smtClean="0">
                <a:latin typeface="Google Sans"/>
              </a:rPr>
              <a:t>Slave (</a:t>
            </a:r>
            <a:r>
              <a:rPr lang="ru-RU" b="1" dirty="0" smtClean="0">
                <a:latin typeface="Google Sans"/>
              </a:rPr>
              <a:t>вторичный)</a:t>
            </a:r>
            <a:r>
              <a:rPr lang="ru-RU" dirty="0" smtClean="0">
                <a:latin typeface="Google Sans"/>
              </a:rPr>
              <a:t> – авторитетный сервер, хранит точную копию файла зоны, не имеет права на внесение изменений. В отличии от мастер-сервера, их может быть несколько.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639113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Глобальная система </a:t>
            </a:r>
            <a:r>
              <a:rPr lang="en-US" dirty="0" smtClean="0"/>
              <a:t>DNS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14145" y="1825625"/>
            <a:ext cx="10163709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01169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Доменное имя – Инструкция – База знаний JustHost.ru"/>
          <p:cNvPicPr>
            <a:picLocks noGrp="1" noChangeAspect="1" noChangeArrowheads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5675" y="140678"/>
            <a:ext cx="5822417" cy="6558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Объект 4"/>
          <p:cNvSpPr>
            <a:spLocks noGrp="1"/>
          </p:cNvSpPr>
          <p:nvPr>
            <p:ph sz="half" idx="2"/>
          </p:nvPr>
        </p:nvSpPr>
        <p:spPr>
          <a:xfrm>
            <a:off x="6274190" y="689317"/>
            <a:ext cx="5079609" cy="5487646"/>
          </a:xfrm>
        </p:spPr>
        <p:txBody>
          <a:bodyPr/>
          <a:lstStyle/>
          <a:p>
            <a:r>
              <a:rPr lang="ru-RU" dirty="0" smtClean="0"/>
              <a:t>Корень</a:t>
            </a:r>
          </a:p>
          <a:p>
            <a:endParaRPr lang="ru-RU" dirty="0"/>
          </a:p>
          <a:p>
            <a:r>
              <a:rPr lang="en-US" dirty="0" smtClean="0"/>
              <a:t>TLD (Top Level Domain)</a:t>
            </a:r>
          </a:p>
          <a:p>
            <a:endParaRPr lang="en-US" dirty="0" smtClean="0"/>
          </a:p>
          <a:p>
            <a:endParaRPr lang="en-US" dirty="0"/>
          </a:p>
          <a:p>
            <a:r>
              <a:rPr lang="en-US" dirty="0" smtClean="0"/>
              <a:t>SLD (Second Level Domain)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6351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15108" y="444256"/>
            <a:ext cx="10934700" cy="2298944"/>
          </a:xfrm>
        </p:spPr>
        <p:txBody>
          <a:bodyPr>
            <a:normAutofit/>
          </a:bodyPr>
          <a:lstStyle/>
          <a:p>
            <a:r>
              <a:rPr lang="en-US" sz="3200" dirty="0" smtClean="0"/>
              <a:t>DNS</a:t>
            </a:r>
            <a:r>
              <a:rPr lang="ru-RU" sz="3200" dirty="0" smtClean="0"/>
              <a:t>-сервер – поддерживает распределенную базу данных.</a:t>
            </a:r>
            <a:br>
              <a:rPr lang="ru-RU" sz="3200" dirty="0" smtClean="0"/>
            </a:br>
            <a:r>
              <a:rPr lang="en-US" sz="3200" dirty="0" smtClean="0"/>
              <a:t>DNS-</a:t>
            </a:r>
            <a:r>
              <a:rPr lang="ru-RU" sz="3200" dirty="0" smtClean="0"/>
              <a:t>клиент – обращается к северу с запросами.</a:t>
            </a:r>
            <a:br>
              <a:rPr lang="ru-RU" sz="3200" dirty="0" smtClean="0"/>
            </a:br>
            <a:r>
              <a:rPr lang="ru-RU" sz="3200" dirty="0" err="1" smtClean="0"/>
              <a:t>Резолвер</a:t>
            </a:r>
            <a:r>
              <a:rPr lang="ru-RU" sz="3200" dirty="0" smtClean="0"/>
              <a:t> – ПО, реализующее функционал клиента.</a:t>
            </a:r>
            <a:endParaRPr lang="ru-RU" sz="3200" dirty="0"/>
          </a:p>
        </p:txBody>
      </p:sp>
      <p:pic>
        <p:nvPicPr>
          <p:cNvPr id="6" name="Объект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51723" y="2646483"/>
            <a:ext cx="4351500" cy="3882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0968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Структура доменного имени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2495226" y="510085"/>
            <a:ext cx="7872663" cy="4306413"/>
          </a:xfrm>
          <a:prstGeom prst="rect">
            <a:avLst/>
          </a:prstGeom>
        </p:spPr>
      </p:pic>
      <p:sp>
        <p:nvSpPr>
          <p:cNvPr id="5" name="Объект 4"/>
          <p:cNvSpPr>
            <a:spLocks noGrp="1"/>
          </p:cNvSpPr>
          <p:nvPr>
            <p:ph sz="half" idx="2"/>
          </p:nvPr>
        </p:nvSpPr>
        <p:spPr>
          <a:xfrm>
            <a:off x="305971" y="4327416"/>
            <a:ext cx="11609363" cy="2411009"/>
          </a:xfrm>
        </p:spPr>
        <p:txBody>
          <a:bodyPr/>
          <a:lstStyle/>
          <a:p>
            <a:r>
              <a:rPr lang="ru-RU" dirty="0" smtClean="0"/>
              <a:t>Краткое имя – имя конечного узла.</a:t>
            </a:r>
          </a:p>
          <a:p>
            <a:r>
              <a:rPr lang="en-US" dirty="0" smtClean="0"/>
              <a:t>PQDN (</a:t>
            </a:r>
            <a:r>
              <a:rPr lang="ru-RU" dirty="0" smtClean="0"/>
              <a:t>относительное имя) – составное имя, которое начинается с одного из уровней иерархии.</a:t>
            </a:r>
          </a:p>
          <a:p>
            <a:r>
              <a:rPr lang="en-US" dirty="0" smtClean="0"/>
              <a:t>FQDN (</a:t>
            </a:r>
            <a:r>
              <a:rPr lang="ru-RU" dirty="0" smtClean="0"/>
              <a:t>полное имя) – включает все уровни с краткого до корневой точки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690267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Текст 6"/>
          <p:cNvSpPr>
            <a:spLocks noGrp="1"/>
          </p:cNvSpPr>
          <p:nvPr>
            <p:ph type="body" idx="1"/>
          </p:nvPr>
        </p:nvSpPr>
        <p:spPr>
          <a:xfrm>
            <a:off x="839785" y="109538"/>
            <a:ext cx="5157787" cy="509440"/>
          </a:xfrm>
        </p:spPr>
        <p:txBody>
          <a:bodyPr/>
          <a:lstStyle/>
          <a:p>
            <a:pPr algn="ctr"/>
            <a:r>
              <a:rPr lang="ru-RU" dirty="0" smtClean="0"/>
              <a:t>Рекурсивные запросы</a:t>
            </a:r>
            <a:endParaRPr lang="ru-RU" dirty="0"/>
          </a:p>
        </p:txBody>
      </p:sp>
      <p:sp>
        <p:nvSpPr>
          <p:cNvPr id="9" name="Текст 8"/>
          <p:cNvSpPr>
            <a:spLocks noGrp="1"/>
          </p:cNvSpPr>
          <p:nvPr>
            <p:ph type="body" sz="quarter" idx="3"/>
          </p:nvPr>
        </p:nvSpPr>
        <p:spPr>
          <a:xfrm>
            <a:off x="6172200" y="109538"/>
            <a:ext cx="5183188" cy="509440"/>
          </a:xfrm>
        </p:spPr>
        <p:txBody>
          <a:bodyPr/>
          <a:lstStyle/>
          <a:p>
            <a:pPr algn="ctr"/>
            <a:r>
              <a:rPr lang="ru-RU" dirty="0" smtClean="0"/>
              <a:t>Итеративные запросы</a:t>
            </a:r>
            <a:endParaRPr lang="ru-RU" dirty="0"/>
          </a:p>
        </p:txBody>
      </p:sp>
      <p:pic>
        <p:nvPicPr>
          <p:cNvPr id="12" name="Объект 11"/>
          <p:cNvPicPr>
            <a:picLocks noGrp="1" noChangeAspect="1"/>
          </p:cNvPicPr>
          <p:nvPr>
            <p:ph sz="quarter" idx="4"/>
          </p:nvPr>
        </p:nvPicPr>
        <p:blipFill>
          <a:blip r:embed="rId2"/>
          <a:stretch>
            <a:fillRect/>
          </a:stretch>
        </p:blipFill>
        <p:spPr>
          <a:xfrm>
            <a:off x="7058086" y="712060"/>
            <a:ext cx="3411415" cy="5989680"/>
          </a:xfrm>
          <a:prstGeom prst="rect">
            <a:avLst/>
          </a:prstGeom>
        </p:spPr>
      </p:pic>
      <p:pic>
        <p:nvPicPr>
          <p:cNvPr id="14" name="Объект 13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5652" y="712060"/>
            <a:ext cx="5006548" cy="5984299"/>
          </a:xfrm>
        </p:spPr>
      </p:pic>
    </p:spTree>
    <p:extLst>
      <p:ext uri="{BB962C8B-B14F-4D97-AF65-F5344CB8AC3E}">
        <p14:creationId xmlns:p14="http://schemas.microsoft.com/office/powerpoint/2010/main" val="38995725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/>
          <p:cNvSpPr>
            <a:spLocks noGrp="1"/>
          </p:cNvSpPr>
          <p:nvPr>
            <p:ph type="title"/>
          </p:nvPr>
        </p:nvSpPr>
        <p:spPr>
          <a:xfrm>
            <a:off x="838200" y="268410"/>
            <a:ext cx="10515600" cy="575652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Смешанная схема с кэширующим сервером</a:t>
            </a:r>
            <a:endParaRPr lang="ru-RU" dirty="0"/>
          </a:p>
        </p:txBody>
      </p:sp>
      <p:pic>
        <p:nvPicPr>
          <p:cNvPr id="9" name="Объект 8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05604" y="844062"/>
            <a:ext cx="4580792" cy="5812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2410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Ресурсные записи</a:t>
            </a:r>
            <a:endParaRPr lang="ru-RU" dirty="0"/>
          </a:p>
        </p:txBody>
      </p:sp>
      <p:sp>
        <p:nvSpPr>
          <p:cNvPr id="7" name="Объект 6"/>
          <p:cNvSpPr>
            <a:spLocks noGrp="1"/>
          </p:cNvSpPr>
          <p:nvPr>
            <p:ph idx="1"/>
          </p:nvPr>
        </p:nvSpPr>
        <p:spPr>
          <a:xfrm>
            <a:off x="1959512" y="2444604"/>
            <a:ext cx="8267149" cy="678424"/>
          </a:xfrm>
        </p:spPr>
        <p:txBody>
          <a:bodyPr/>
          <a:lstStyle/>
          <a:p>
            <a:pPr marL="0" indent="0">
              <a:buNone/>
            </a:pPr>
            <a:r>
              <a:rPr lang="ru-RU" dirty="0" smtClean="0"/>
              <a:t>А (</a:t>
            </a:r>
            <a:r>
              <a:rPr lang="en-US" dirty="0" smtClean="0"/>
              <a:t>address record) – IPv4 </a:t>
            </a:r>
            <a:r>
              <a:rPr lang="ru-RU" dirty="0" smtClean="0"/>
              <a:t>адрес конечного устройства</a:t>
            </a:r>
            <a:r>
              <a:rPr lang="en-US" dirty="0" smtClean="0"/>
              <a:t>.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2011681" y="3418449"/>
            <a:ext cx="8162812" cy="1477328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Consolas" panose="020B0609020204030204" pitchFamily="49" charset="0"/>
              </a:rPr>
              <a:t>;; QUESTION SECTION:</a:t>
            </a:r>
          </a:p>
          <a:p>
            <a:r>
              <a:rPr lang="en-US" dirty="0" smtClean="0">
                <a:solidFill>
                  <a:schemeClr val="bg1"/>
                </a:solidFill>
                <a:latin typeface="Consolas" panose="020B0609020204030204" pitchFamily="49" charset="0"/>
              </a:rPr>
              <a:t>;google.com.                    IN      A</a:t>
            </a:r>
          </a:p>
          <a:p>
            <a:endParaRPr lang="en-US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dirty="0" smtClean="0">
                <a:solidFill>
                  <a:schemeClr val="bg1"/>
                </a:solidFill>
                <a:latin typeface="Consolas" panose="020B0609020204030204" pitchFamily="49" charset="0"/>
              </a:rPr>
              <a:t>;; ANSWER SECTION:</a:t>
            </a:r>
          </a:p>
          <a:p>
            <a:r>
              <a:rPr lang="en-US" dirty="0" smtClean="0">
                <a:solidFill>
                  <a:schemeClr val="bg1"/>
                </a:solidFill>
                <a:latin typeface="Consolas" panose="020B0609020204030204" pitchFamily="49" charset="0"/>
              </a:rPr>
              <a:t>google.com.             139     IN      A       142.251.143.142</a:t>
            </a:r>
          </a:p>
        </p:txBody>
      </p:sp>
    </p:spTree>
    <p:extLst>
      <p:ext uri="{BB962C8B-B14F-4D97-AF65-F5344CB8AC3E}">
        <p14:creationId xmlns:p14="http://schemas.microsoft.com/office/powerpoint/2010/main" val="1961077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Ресурсные записи</a:t>
            </a:r>
            <a:endParaRPr lang="ru-RU" dirty="0"/>
          </a:p>
        </p:txBody>
      </p:sp>
      <p:sp>
        <p:nvSpPr>
          <p:cNvPr id="7" name="Объект 6"/>
          <p:cNvSpPr>
            <a:spLocks noGrp="1"/>
          </p:cNvSpPr>
          <p:nvPr>
            <p:ph idx="1"/>
          </p:nvPr>
        </p:nvSpPr>
        <p:spPr>
          <a:xfrm>
            <a:off x="1959512" y="2444604"/>
            <a:ext cx="8267149" cy="678424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ru-RU" dirty="0" smtClean="0"/>
              <a:t>А</a:t>
            </a:r>
            <a:r>
              <a:rPr lang="en-US" dirty="0" smtClean="0"/>
              <a:t>AAA</a:t>
            </a:r>
            <a:r>
              <a:rPr lang="ru-RU" dirty="0" smtClean="0"/>
              <a:t> (</a:t>
            </a:r>
            <a:r>
              <a:rPr lang="en-US" dirty="0" smtClean="0"/>
              <a:t>address record) – IPv6 </a:t>
            </a:r>
            <a:r>
              <a:rPr lang="ru-RU" dirty="0" smtClean="0"/>
              <a:t>адрес конечного устройства</a:t>
            </a:r>
            <a:r>
              <a:rPr lang="en-US" dirty="0" smtClean="0"/>
              <a:t>.</a:t>
            </a:r>
            <a:endParaRPr lang="ru-RU" dirty="0"/>
          </a:p>
        </p:txBody>
      </p:sp>
      <p:sp>
        <p:nvSpPr>
          <p:cNvPr id="8" name="TextBox 7"/>
          <p:cNvSpPr txBox="1"/>
          <p:nvPr/>
        </p:nvSpPr>
        <p:spPr>
          <a:xfrm>
            <a:off x="1441812" y="3446584"/>
            <a:ext cx="9302547" cy="1477328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Consolas" panose="020B0609020204030204" pitchFamily="49" charset="0"/>
              </a:rPr>
              <a:t>;; QUESTION SECTION:</a:t>
            </a:r>
          </a:p>
          <a:p>
            <a:r>
              <a:rPr lang="en-US" dirty="0" smtClean="0">
                <a:solidFill>
                  <a:schemeClr val="bg1"/>
                </a:solidFill>
                <a:latin typeface="Consolas" panose="020B0609020204030204" pitchFamily="49" charset="0"/>
              </a:rPr>
              <a:t>;google.com.                    IN      AAAA</a:t>
            </a:r>
          </a:p>
          <a:p>
            <a:endParaRPr lang="en-US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dirty="0" smtClean="0">
                <a:solidFill>
                  <a:schemeClr val="bg1"/>
                </a:solidFill>
                <a:latin typeface="Consolas" panose="020B0609020204030204" pitchFamily="49" charset="0"/>
              </a:rPr>
              <a:t>;; ANSWER SECTION:</a:t>
            </a:r>
          </a:p>
          <a:p>
            <a:r>
              <a:rPr lang="en-US" dirty="0" smtClean="0">
                <a:solidFill>
                  <a:schemeClr val="bg1"/>
                </a:solidFill>
                <a:latin typeface="Consolas" panose="020B0609020204030204" pitchFamily="49" charset="0"/>
              </a:rPr>
              <a:t>google.com.             158     IN      AAAA    2a00:1450:400f:806::200e</a:t>
            </a:r>
          </a:p>
        </p:txBody>
      </p:sp>
    </p:spTree>
    <p:extLst>
      <p:ext uri="{BB962C8B-B14F-4D97-AF65-F5344CB8AC3E}">
        <p14:creationId xmlns:p14="http://schemas.microsoft.com/office/powerpoint/2010/main" val="14424992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Ресурсные записи</a:t>
            </a:r>
            <a:endParaRPr lang="ru-RU" dirty="0"/>
          </a:p>
        </p:txBody>
      </p:sp>
      <p:sp>
        <p:nvSpPr>
          <p:cNvPr id="7" name="Объект 6"/>
          <p:cNvSpPr>
            <a:spLocks noGrp="1"/>
          </p:cNvSpPr>
          <p:nvPr>
            <p:ph idx="1"/>
          </p:nvPr>
        </p:nvSpPr>
        <p:spPr>
          <a:xfrm>
            <a:off x="1441812" y="2229424"/>
            <a:ext cx="9302547" cy="678424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 smtClean="0"/>
              <a:t>CNAME </a:t>
            </a:r>
            <a:r>
              <a:rPr lang="ru-RU" dirty="0" smtClean="0"/>
              <a:t>(</a:t>
            </a:r>
            <a:r>
              <a:rPr lang="en-US" dirty="0" smtClean="0"/>
              <a:t>Canonical Name) – </a:t>
            </a:r>
            <a:r>
              <a:rPr lang="ru-RU" dirty="0"/>
              <a:t> создаёт псевдоним для домена. Перенаправляет с одного доменного имени на другое.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81547" y="3446584"/>
            <a:ext cx="7023076" cy="1477328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Consolas" panose="020B0609020204030204" pitchFamily="49" charset="0"/>
              </a:rPr>
              <a:t>;; QUESTION SECTION:</a:t>
            </a:r>
          </a:p>
          <a:p>
            <a:r>
              <a:rPr lang="en-US" dirty="0" smtClean="0">
                <a:solidFill>
                  <a:schemeClr val="bg1"/>
                </a:solidFill>
                <a:latin typeface="Consolas" panose="020B0609020204030204" pitchFamily="49" charset="0"/>
              </a:rPr>
              <a:t>;www.ya.ru.                     IN      CNAME</a:t>
            </a:r>
          </a:p>
          <a:p>
            <a:endParaRPr lang="en-US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dirty="0" smtClean="0">
                <a:solidFill>
                  <a:schemeClr val="bg1"/>
                </a:solidFill>
                <a:latin typeface="Consolas" panose="020B0609020204030204" pitchFamily="49" charset="0"/>
              </a:rPr>
              <a:t>;; ANSWER SECTION:</a:t>
            </a:r>
          </a:p>
          <a:p>
            <a:r>
              <a:rPr lang="en-US" dirty="0" smtClean="0">
                <a:solidFill>
                  <a:schemeClr val="bg1"/>
                </a:solidFill>
                <a:latin typeface="Consolas" panose="020B0609020204030204" pitchFamily="49" charset="0"/>
              </a:rPr>
              <a:t>www.ya.ru.              600     IN      CNAME   ya.ru.</a:t>
            </a:r>
          </a:p>
        </p:txBody>
      </p:sp>
    </p:spTree>
    <p:extLst>
      <p:ext uri="{BB962C8B-B14F-4D97-AF65-F5344CB8AC3E}">
        <p14:creationId xmlns:p14="http://schemas.microsoft.com/office/powerpoint/2010/main" val="22512599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Ресурсные записи</a:t>
            </a:r>
            <a:endParaRPr lang="ru-RU" dirty="0"/>
          </a:p>
        </p:txBody>
      </p:sp>
      <p:sp>
        <p:nvSpPr>
          <p:cNvPr id="7" name="Объект 6"/>
          <p:cNvSpPr>
            <a:spLocks noGrp="1"/>
          </p:cNvSpPr>
          <p:nvPr>
            <p:ph idx="1"/>
          </p:nvPr>
        </p:nvSpPr>
        <p:spPr>
          <a:xfrm>
            <a:off x="1441812" y="2229423"/>
            <a:ext cx="9390311" cy="102021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ru-RU" dirty="0"/>
              <a:t>MX (</a:t>
            </a:r>
            <a:r>
              <a:rPr lang="ru-RU" dirty="0" err="1"/>
              <a:t>mail</a:t>
            </a:r>
            <a:r>
              <a:rPr lang="ru-RU" dirty="0"/>
              <a:t> </a:t>
            </a:r>
            <a:r>
              <a:rPr lang="ru-RU" dirty="0" err="1"/>
              <a:t>exchange</a:t>
            </a:r>
            <a:r>
              <a:rPr lang="ru-RU" dirty="0"/>
              <a:t>) - отвечает за маршрутизацию электронной почты. Указывает почтовый сервер, который будет принимать письма для домена.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3615396"/>
            <a:ext cx="10695557" cy="2585323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Consolas" panose="020B0609020204030204" pitchFamily="49" charset="0"/>
              </a:rPr>
              <a:t>;; QUESTION SECTION:</a:t>
            </a:r>
          </a:p>
          <a:p>
            <a:r>
              <a:rPr lang="en-US" dirty="0" smtClean="0">
                <a:solidFill>
                  <a:schemeClr val="bg1"/>
                </a:solidFill>
                <a:latin typeface="Consolas" panose="020B0609020204030204" pitchFamily="49" charset="0"/>
              </a:rPr>
              <a:t>;gmail.com.                     IN      MX</a:t>
            </a:r>
          </a:p>
          <a:p>
            <a:endParaRPr lang="en-US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dirty="0" smtClean="0">
                <a:solidFill>
                  <a:schemeClr val="bg1"/>
                </a:solidFill>
                <a:latin typeface="Consolas" panose="020B0609020204030204" pitchFamily="49" charset="0"/>
              </a:rPr>
              <a:t>;; ANSWER SECTION:</a:t>
            </a:r>
          </a:p>
          <a:p>
            <a:r>
              <a:rPr lang="en-US" dirty="0" smtClean="0">
                <a:solidFill>
                  <a:schemeClr val="bg1"/>
                </a:solidFill>
                <a:latin typeface="Consolas" panose="020B0609020204030204" pitchFamily="49" charset="0"/>
              </a:rPr>
              <a:t>gmail.com.              3600    IN      MX      40 alt4.gmail-smtp-in.l.google.com.</a:t>
            </a:r>
          </a:p>
          <a:p>
            <a:r>
              <a:rPr lang="en-US" dirty="0" smtClean="0">
                <a:solidFill>
                  <a:schemeClr val="bg1"/>
                </a:solidFill>
                <a:latin typeface="Consolas" panose="020B0609020204030204" pitchFamily="49" charset="0"/>
              </a:rPr>
              <a:t>gmail.com.              3600    IN      MX      10 alt1.gmail-smtp-in.l.google.com.</a:t>
            </a:r>
          </a:p>
          <a:p>
            <a:r>
              <a:rPr lang="en-US" dirty="0" smtClean="0">
                <a:solidFill>
                  <a:schemeClr val="bg1"/>
                </a:solidFill>
                <a:latin typeface="Consolas" panose="020B0609020204030204" pitchFamily="49" charset="0"/>
              </a:rPr>
              <a:t>gmail.com.              3600    IN      MX      20 alt2.gmail-smtp-in.l.google.com.</a:t>
            </a:r>
          </a:p>
          <a:p>
            <a:r>
              <a:rPr lang="en-US" dirty="0" smtClean="0">
                <a:solidFill>
                  <a:schemeClr val="bg1"/>
                </a:solidFill>
                <a:latin typeface="Consolas" panose="020B0609020204030204" pitchFamily="49" charset="0"/>
              </a:rPr>
              <a:t>gmail.com.              3600    IN      MX      30 alt3.gmail-smtp-in.l.google.com.</a:t>
            </a:r>
          </a:p>
          <a:p>
            <a:r>
              <a:rPr lang="en-US" dirty="0" smtClean="0">
                <a:solidFill>
                  <a:schemeClr val="bg1"/>
                </a:solidFill>
                <a:latin typeface="Consolas" panose="020B0609020204030204" pitchFamily="49" charset="0"/>
              </a:rPr>
              <a:t>gmail.com.              3600    IN      MX      5 gmail-smtp-in.l.google.com.</a:t>
            </a:r>
          </a:p>
        </p:txBody>
      </p:sp>
    </p:spTree>
    <p:extLst>
      <p:ext uri="{BB962C8B-B14F-4D97-AF65-F5344CB8AC3E}">
        <p14:creationId xmlns:p14="http://schemas.microsoft.com/office/powerpoint/2010/main" val="646138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Ресурсные записи</a:t>
            </a:r>
            <a:endParaRPr lang="ru-RU" dirty="0"/>
          </a:p>
        </p:txBody>
      </p:sp>
      <p:sp>
        <p:nvSpPr>
          <p:cNvPr id="7" name="Объект 6"/>
          <p:cNvSpPr>
            <a:spLocks noGrp="1"/>
          </p:cNvSpPr>
          <p:nvPr>
            <p:ph idx="1"/>
          </p:nvPr>
        </p:nvSpPr>
        <p:spPr>
          <a:xfrm>
            <a:off x="1400843" y="1464016"/>
            <a:ext cx="9390311" cy="10202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NS (</a:t>
            </a:r>
            <a:r>
              <a:rPr lang="ru-RU" dirty="0" err="1"/>
              <a:t>name</a:t>
            </a:r>
            <a:r>
              <a:rPr lang="ru-RU" dirty="0"/>
              <a:t> </a:t>
            </a:r>
            <a:r>
              <a:rPr lang="ru-RU" dirty="0" err="1"/>
              <a:t>server</a:t>
            </a:r>
            <a:r>
              <a:rPr lang="ru-RU" dirty="0"/>
              <a:t>) - Указывает, какие именно DNS-серверы отвечают (являются авторитетными) за домен.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4593" y="2653041"/>
            <a:ext cx="8162812" cy="3970318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  <a:latin typeface="Consolas" panose="020B0609020204030204" pitchFamily="49" charset="0"/>
              </a:rPr>
              <a:t>;; QUESTION SECTION:</a:t>
            </a:r>
          </a:p>
          <a:p>
            <a:r>
              <a:rPr lang="en-US" dirty="0" smtClean="0">
                <a:solidFill>
                  <a:schemeClr val="bg1"/>
                </a:solidFill>
                <a:latin typeface="Consolas" panose="020B0609020204030204" pitchFamily="49" charset="0"/>
              </a:rPr>
              <a:t>;google.com.                    IN      NS</a:t>
            </a:r>
          </a:p>
          <a:p>
            <a:endParaRPr lang="en-US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dirty="0" smtClean="0">
                <a:solidFill>
                  <a:schemeClr val="bg1"/>
                </a:solidFill>
                <a:latin typeface="Consolas" panose="020B0609020204030204" pitchFamily="49" charset="0"/>
              </a:rPr>
              <a:t>;; ANSWER SECTION:</a:t>
            </a:r>
          </a:p>
          <a:p>
            <a:r>
              <a:rPr lang="en-US" dirty="0" smtClean="0">
                <a:solidFill>
                  <a:schemeClr val="bg1"/>
                </a:solidFill>
                <a:latin typeface="Consolas" panose="020B0609020204030204" pitchFamily="49" charset="0"/>
              </a:rPr>
              <a:t>google.com.             20217   IN      NS      ns4.google.com.</a:t>
            </a:r>
          </a:p>
          <a:p>
            <a:r>
              <a:rPr lang="en-US" dirty="0" smtClean="0">
                <a:solidFill>
                  <a:schemeClr val="bg1"/>
                </a:solidFill>
                <a:latin typeface="Consolas" panose="020B0609020204030204" pitchFamily="49" charset="0"/>
              </a:rPr>
              <a:t>google.com.             20217   IN      NS      ns1.google.com.</a:t>
            </a:r>
          </a:p>
          <a:p>
            <a:r>
              <a:rPr lang="en-US" dirty="0" smtClean="0">
                <a:solidFill>
                  <a:schemeClr val="bg1"/>
                </a:solidFill>
                <a:latin typeface="Consolas" panose="020B0609020204030204" pitchFamily="49" charset="0"/>
              </a:rPr>
              <a:t>google.com.             20217   IN      NS      ns2.google.com.</a:t>
            </a:r>
          </a:p>
          <a:p>
            <a:r>
              <a:rPr lang="en-US" dirty="0" smtClean="0">
                <a:solidFill>
                  <a:schemeClr val="bg1"/>
                </a:solidFill>
                <a:latin typeface="Consolas" panose="020B0609020204030204" pitchFamily="49" charset="0"/>
              </a:rPr>
              <a:t>google.com.             20217   IN      NS      ns3.google.com.</a:t>
            </a:r>
          </a:p>
          <a:p>
            <a:endParaRPr lang="en-US" dirty="0" smtClean="0">
              <a:solidFill>
                <a:schemeClr val="bg1"/>
              </a:solidFill>
              <a:latin typeface="Consolas" panose="020B0609020204030204" pitchFamily="49" charset="0"/>
            </a:endParaRPr>
          </a:p>
          <a:p>
            <a:r>
              <a:rPr lang="en-US" dirty="0" smtClean="0">
                <a:solidFill>
                  <a:schemeClr val="bg1"/>
                </a:solidFill>
                <a:latin typeface="Consolas" panose="020B0609020204030204" pitchFamily="49" charset="0"/>
              </a:rPr>
              <a:t>;; ADDITIONAL SECTION:</a:t>
            </a:r>
          </a:p>
          <a:p>
            <a:r>
              <a:rPr lang="en-US" dirty="0" smtClean="0">
                <a:solidFill>
                  <a:schemeClr val="bg1"/>
                </a:solidFill>
                <a:latin typeface="Consolas" panose="020B0609020204030204" pitchFamily="49" charset="0"/>
              </a:rPr>
              <a:t>ns1.google.com.         2455    IN      A       216.239.32.10</a:t>
            </a:r>
          </a:p>
          <a:p>
            <a:r>
              <a:rPr lang="en-US" dirty="0" smtClean="0">
                <a:solidFill>
                  <a:schemeClr val="bg1"/>
                </a:solidFill>
                <a:latin typeface="Consolas" panose="020B0609020204030204" pitchFamily="49" charset="0"/>
              </a:rPr>
              <a:t>ns2.google.com.         20227   IN      A       216.239.34.10</a:t>
            </a:r>
          </a:p>
          <a:p>
            <a:r>
              <a:rPr lang="en-US" dirty="0" smtClean="0">
                <a:solidFill>
                  <a:schemeClr val="bg1"/>
                </a:solidFill>
                <a:latin typeface="Consolas" panose="020B0609020204030204" pitchFamily="49" charset="0"/>
              </a:rPr>
              <a:t>ns3.google.com.         3675    IN      A       216.239.36.10</a:t>
            </a:r>
          </a:p>
          <a:p>
            <a:r>
              <a:rPr lang="en-US" dirty="0" smtClean="0">
                <a:solidFill>
                  <a:schemeClr val="bg1"/>
                </a:solidFill>
                <a:latin typeface="Consolas" panose="020B0609020204030204" pitchFamily="49" charset="0"/>
              </a:rPr>
              <a:t>ns4.google.com.         5652    IN      A       216.239.38.10</a:t>
            </a:r>
          </a:p>
        </p:txBody>
      </p:sp>
    </p:spTree>
    <p:extLst>
      <p:ext uri="{BB962C8B-B14F-4D97-AF65-F5344CB8AC3E}">
        <p14:creationId xmlns:p14="http://schemas.microsoft.com/office/powerpoint/2010/main" val="11037331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Взаимодействие с сервером </a:t>
            </a:r>
            <a:r>
              <a:rPr lang="en-US" dirty="0" smtClean="0"/>
              <a:t>DNS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2830" y="2394385"/>
            <a:ext cx="6460001" cy="29877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22831" y="2273592"/>
            <a:ext cx="5036234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 smtClean="0"/>
              <a:t>Транспорт для </a:t>
            </a:r>
            <a:r>
              <a:rPr lang="en-US" sz="2800" dirty="0" smtClean="0"/>
              <a:t>DNS:</a:t>
            </a:r>
          </a:p>
          <a:p>
            <a:pPr marL="285750" indent="-285750">
              <a:buFontTx/>
              <a:buChar char="-"/>
            </a:pPr>
            <a:r>
              <a:rPr lang="en-US" sz="2800" dirty="0" smtClean="0"/>
              <a:t>UDP/53 – </a:t>
            </a:r>
            <a:r>
              <a:rPr lang="ru-RU" sz="2800" dirty="0" smtClean="0"/>
              <a:t>основной стандарт.</a:t>
            </a:r>
          </a:p>
          <a:p>
            <a:pPr marL="285750" indent="-285750">
              <a:buFontTx/>
              <a:buChar char="-"/>
            </a:pPr>
            <a:r>
              <a:rPr lang="en-US" sz="2800" dirty="0" smtClean="0"/>
              <a:t>TCP/53 – </a:t>
            </a:r>
            <a:r>
              <a:rPr lang="ru-RU" sz="2800" dirty="0" smtClean="0"/>
              <a:t>запасной вариант для длинных ответов.</a:t>
            </a:r>
          </a:p>
          <a:p>
            <a:pPr marL="285750" indent="-285750">
              <a:buFontTx/>
              <a:buChar char="-"/>
            </a:pPr>
            <a:r>
              <a:rPr lang="en-US" sz="2800" dirty="0" smtClean="0"/>
              <a:t>TCP/853 – DNS over TLS</a:t>
            </a:r>
          </a:p>
          <a:p>
            <a:pPr marL="285750" indent="-285750">
              <a:buFontTx/>
              <a:buChar char="-"/>
            </a:pPr>
            <a:r>
              <a:rPr lang="en-US" sz="2800" dirty="0" smtClean="0"/>
              <a:t>TCP/443 – DNS over HTTPS</a:t>
            </a:r>
          </a:p>
          <a:p>
            <a:pPr marL="285750" indent="-285750">
              <a:buFontTx/>
              <a:buChar char="-"/>
            </a:pPr>
            <a:r>
              <a:rPr lang="en-US" sz="2800" dirty="0" smtClean="0"/>
              <a:t>UDP/443 – DNS over QUIC</a:t>
            </a:r>
          </a:p>
        </p:txBody>
      </p:sp>
    </p:spTree>
    <p:extLst>
      <p:ext uri="{BB962C8B-B14F-4D97-AF65-F5344CB8AC3E}">
        <p14:creationId xmlns:p14="http://schemas.microsoft.com/office/powerpoint/2010/main" val="4436003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Формат</a:t>
            </a:r>
            <a:r>
              <a:rPr lang="en-US" dirty="0" smtClean="0"/>
              <a:t> DNS </a:t>
            </a:r>
            <a:r>
              <a:rPr lang="ru-RU" dirty="0" smtClean="0"/>
              <a:t>сообщения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42868"/>
            <a:ext cx="10568524" cy="4107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8698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Заголовок </a:t>
            </a:r>
            <a:r>
              <a:rPr lang="en-US" dirty="0" smtClean="0"/>
              <a:t>DNS </a:t>
            </a:r>
            <a:r>
              <a:rPr lang="ru-RU" dirty="0" smtClean="0"/>
              <a:t>сообщения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20376" y="1690688"/>
            <a:ext cx="7351248" cy="4349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56332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Секция вопросов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40509" y="2096086"/>
            <a:ext cx="7110981" cy="4136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3104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Секция ответов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56903" y="1350497"/>
            <a:ext cx="5478194" cy="5343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0911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Протоколы удаленного управления</a:t>
            </a: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57927" y="2138290"/>
            <a:ext cx="11476146" cy="3728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71219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Telnet (TCP/23)</a:t>
            </a:r>
            <a:endParaRPr lang="ru-RU" dirty="0"/>
          </a:p>
        </p:txBody>
      </p:sp>
      <p:pic>
        <p:nvPicPr>
          <p:cNvPr id="6146" name="Picture 2" descr="Что такое Telnet? Полное руководство по протоколу Telnet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45679" y="1434905"/>
            <a:ext cx="9147756" cy="5145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82957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964594" cy="830629"/>
          </a:xfrm>
        </p:spPr>
        <p:txBody>
          <a:bodyPr>
            <a:normAutofit/>
          </a:bodyPr>
          <a:lstStyle/>
          <a:p>
            <a:r>
              <a:rPr lang="ru-RU" dirty="0" smtClean="0"/>
              <a:t>Защита передаваемой информации</a:t>
            </a:r>
            <a:endParaRPr lang="ru-RU" dirty="0"/>
          </a:p>
        </p:txBody>
      </p:sp>
      <p:pic>
        <p:nvPicPr>
          <p:cNvPr id="7170" name="Picture 2" descr="Составляющие информационной безопасности - Информационная безопасность и защита  информации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372" y="1324829"/>
            <a:ext cx="5421923" cy="5291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6006904" y="1280160"/>
            <a:ext cx="5964702" cy="5539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/>
              <a:t>Аутентификация — стороны должны убедиться в легитимности друг друга.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/>
              <a:t>Конфиденциальность (приватность) — информация должна быть изменена таким образом, чтобы прочитать её могли только легитимные стороны обмена.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/>
              <a:t>Целостность — нужно убедиться, что в процессе передачи информация не была </a:t>
            </a:r>
            <a:r>
              <a:rPr lang="ru-RU" sz="2800" dirty="0" err="1" smtClean="0"/>
              <a:t>несанкционировано</a:t>
            </a:r>
            <a:r>
              <a:rPr lang="ru-RU" sz="2800" dirty="0" smtClean="0"/>
              <a:t> </a:t>
            </a:r>
            <a:r>
              <a:rPr lang="ru-RU" sz="2800" dirty="0"/>
              <a:t>изменена.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811126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 descr="Криптография простым языком: разбираем симметричное и асимметричное  шифрование на примере сюжета Звездных войн (Updated) / Хабр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041009"/>
            <a:ext cx="8730435" cy="49108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8730435" y="3291840"/>
            <a:ext cx="2415790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smtClean="0"/>
              <a:t>AES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smtClean="0"/>
              <a:t>ChaCha20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800" dirty="0" smtClean="0"/>
              <a:t>«Кузнечик»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7599494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11016" y="111906"/>
            <a:ext cx="11774658" cy="1325563"/>
          </a:xfrm>
        </p:spPr>
        <p:txBody>
          <a:bodyPr>
            <a:normAutofit/>
          </a:bodyPr>
          <a:lstStyle/>
          <a:p>
            <a:r>
              <a:rPr lang="ru-RU" sz="3200" dirty="0" smtClean="0"/>
              <a:t>Обмен ключами по незащищенному каналу (алгоритм </a:t>
            </a:r>
            <a:r>
              <a:rPr lang="ru-RU" sz="3200" dirty="0" err="1" smtClean="0"/>
              <a:t>Диффи-Хелмана</a:t>
            </a:r>
            <a:r>
              <a:rPr lang="ru-RU" sz="3200" dirty="0" smtClean="0"/>
              <a:t>, </a:t>
            </a:r>
            <a:r>
              <a:rPr lang="en-US" sz="3200" dirty="0" smtClean="0"/>
              <a:t>DH)</a:t>
            </a:r>
            <a:r>
              <a:rPr lang="ru-RU" sz="3200" dirty="0" smtClean="0"/>
              <a:t> </a:t>
            </a:r>
            <a:endParaRPr lang="ru-RU" sz="3200" dirty="0"/>
          </a:p>
        </p:txBody>
      </p:sp>
      <p:pic>
        <p:nvPicPr>
          <p:cNvPr id="9218" name="Picture 2" descr="Diffie–Hellman key exchange - Wikipedia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1597" y="774686"/>
            <a:ext cx="6839178" cy="59987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958235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Man-in-the-Middle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63814" y="1690688"/>
            <a:ext cx="5664371" cy="4802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4666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Криптографическое хеширование</a:t>
            </a:r>
            <a:endParaRPr lang="ru-RU" dirty="0"/>
          </a:p>
        </p:txBody>
      </p:sp>
      <p:pic>
        <p:nvPicPr>
          <p:cNvPr id="11268" name="Picture 4" descr="Что такое хеш-функция и как работают алгоритмы хеширования / Skillbox Media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702" y="2050708"/>
            <a:ext cx="8386336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9450715" y="2686929"/>
            <a:ext cx="1903085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 smtClean="0"/>
              <a:t>Можно: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smtClean="0"/>
              <a:t>SHA-256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smtClean="0"/>
              <a:t>SHA-3</a:t>
            </a:r>
          </a:p>
          <a:p>
            <a:r>
              <a:rPr lang="ru-RU" sz="2800" dirty="0" smtClean="0"/>
              <a:t>Нельзя:</a:t>
            </a:r>
            <a:endParaRPr lang="en-US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smtClean="0"/>
              <a:t>SHA-1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 smtClean="0"/>
              <a:t>MD5</a:t>
            </a:r>
            <a:endParaRPr lang="ru-RU" sz="2800" dirty="0"/>
          </a:p>
        </p:txBody>
      </p:sp>
      <p:sp>
        <p:nvSpPr>
          <p:cNvPr id="5" name="AutoShape 6" descr="How to use HMAC in Python? - The Security Buddy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73249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60375" y="365125"/>
            <a:ext cx="11731625" cy="1325563"/>
          </a:xfrm>
        </p:spPr>
        <p:txBody>
          <a:bodyPr/>
          <a:lstStyle/>
          <a:p>
            <a:r>
              <a:rPr lang="en-US" dirty="0" smtClean="0"/>
              <a:t>HMAC </a:t>
            </a:r>
            <a:r>
              <a:rPr lang="af-ZA" dirty="0" smtClean="0"/>
              <a:t>(</a:t>
            </a:r>
            <a:r>
              <a:rPr lang="af-ZA" dirty="0"/>
              <a:t>Hash-based Message Authentication Code</a:t>
            </a:r>
            <a:r>
              <a:rPr lang="en-US" dirty="0" smtClean="0"/>
              <a:t>)</a:t>
            </a:r>
            <a:endParaRPr lang="ru-RU" dirty="0"/>
          </a:p>
        </p:txBody>
      </p:sp>
      <p:sp>
        <p:nvSpPr>
          <p:cNvPr id="5" name="AutoShape 6" descr="How to use HMAC in Python? - The Security Buddy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12290" name="Picture 2" descr="Важность HMAC в безопасности приложений для веб-приложений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2145" y="1690688"/>
            <a:ext cx="8547709" cy="48080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558253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66335" y="0"/>
            <a:ext cx="10515600" cy="1325563"/>
          </a:xfrm>
        </p:spPr>
        <p:txBody>
          <a:bodyPr/>
          <a:lstStyle/>
          <a:p>
            <a:r>
              <a:rPr lang="ru-RU" dirty="0"/>
              <a:t>А</a:t>
            </a:r>
            <a:r>
              <a:rPr lang="ru-RU" dirty="0" smtClean="0"/>
              <a:t>симметричная криптография</a:t>
            </a:r>
            <a:endParaRPr lang="ru-RU" dirty="0"/>
          </a:p>
        </p:txBody>
      </p:sp>
      <p:pic>
        <p:nvPicPr>
          <p:cNvPr id="6" name="Объект 5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-1" y="1170389"/>
            <a:ext cx="6428935" cy="2788948"/>
          </a:xfrm>
          <a:prstGeom prst="rect">
            <a:avLst/>
          </a:prstGeom>
        </p:spPr>
      </p:pic>
      <p:pic>
        <p:nvPicPr>
          <p:cNvPr id="8" name="Объект 7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4989329" y="3826413"/>
            <a:ext cx="6963520" cy="2899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39483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74358"/>
          </a:xfrm>
        </p:spPr>
        <p:txBody>
          <a:bodyPr/>
          <a:lstStyle/>
          <a:p>
            <a:r>
              <a:rPr lang="ru-RU" dirty="0" smtClean="0"/>
              <a:t>Цифровая подпись</a:t>
            </a:r>
            <a:endParaRPr lang="ru-RU" dirty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8200" y="2910425"/>
            <a:ext cx="5224976" cy="1745982"/>
          </a:xfrm>
        </p:spPr>
        <p:txBody>
          <a:bodyPr>
            <a:normAutofit/>
          </a:bodyPr>
          <a:lstStyle/>
          <a:p>
            <a:r>
              <a:rPr lang="en-US" dirty="0" smtClean="0"/>
              <a:t>ECDSA</a:t>
            </a:r>
            <a:endParaRPr lang="ru-RU" dirty="0" smtClean="0"/>
          </a:p>
          <a:p>
            <a:r>
              <a:rPr lang="en-US" dirty="0" smtClean="0"/>
              <a:t>RSA (</a:t>
            </a:r>
            <a:r>
              <a:rPr lang="ru-RU" dirty="0" smtClean="0"/>
              <a:t>ключ не менее 2048</a:t>
            </a:r>
            <a:r>
              <a:rPr lang="en-US" dirty="0" smtClean="0"/>
              <a:t>)</a:t>
            </a:r>
          </a:p>
          <a:p>
            <a:r>
              <a:rPr lang="en-US" dirty="0" smtClean="0"/>
              <a:t>DSA</a:t>
            </a:r>
            <a:r>
              <a:rPr lang="ru-RU" dirty="0" smtClean="0"/>
              <a:t> (устарел)</a:t>
            </a:r>
            <a:endParaRPr lang="en-US" dirty="0" smtClean="0"/>
          </a:p>
        </p:txBody>
      </p:sp>
      <p:pic>
        <p:nvPicPr>
          <p:cNvPr id="7" name="Объект 6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5472333" y="0"/>
            <a:ext cx="6719668" cy="6757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63143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Trust on First Use</a:t>
            </a:r>
            <a:endParaRPr lang="ru-RU" dirty="0"/>
          </a:p>
        </p:txBody>
      </p:sp>
      <p:pic>
        <p:nvPicPr>
          <p:cNvPr id="8" name="Объект 7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04885" y="1690688"/>
            <a:ext cx="6582229" cy="4796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51130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84722" y="478302"/>
            <a:ext cx="3962195" cy="1325563"/>
          </a:xfrm>
        </p:spPr>
        <p:txBody>
          <a:bodyPr/>
          <a:lstStyle/>
          <a:p>
            <a:r>
              <a:rPr lang="af-ZA" dirty="0" smtClean="0"/>
              <a:t>Digital Certificates</a:t>
            </a:r>
            <a:endParaRPr lang="ru-RU" dirty="0"/>
          </a:p>
        </p:txBody>
      </p:sp>
      <p:pic>
        <p:nvPicPr>
          <p:cNvPr id="16386" name="Picture 2" descr="Digital Signature vs Digital Certificate - The Key Differences!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99802" y="230972"/>
            <a:ext cx="7284926" cy="62414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438527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Root certificate</a:t>
            </a:r>
            <a:endParaRPr lang="ru-RU" dirty="0"/>
          </a:p>
        </p:txBody>
      </p:sp>
      <p:pic>
        <p:nvPicPr>
          <p:cNvPr id="6" name="Объект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21127" y="1589649"/>
            <a:ext cx="8749746" cy="4756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48646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SSH (Secure Shell) – TCP/22</a:t>
            </a:r>
            <a:endParaRPr lang="ru-RU" dirty="0"/>
          </a:p>
        </p:txBody>
      </p:sp>
      <p:pic>
        <p:nvPicPr>
          <p:cNvPr id="7" name="Объект 6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47413" y="1690688"/>
            <a:ext cx="8897173" cy="4947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16380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55409" y="-168812"/>
            <a:ext cx="8253046" cy="7137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67681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Аутентификация по ключу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68389" y="1383848"/>
            <a:ext cx="8855222" cy="5088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4148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Сервисы </a:t>
            </a:r>
            <a:r>
              <a:rPr lang="en-US" dirty="0" smtClean="0"/>
              <a:t>SSH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Удаленный </a:t>
            </a:r>
            <a:r>
              <a:rPr lang="en-US" dirty="0" smtClean="0"/>
              <a:t>CLI</a:t>
            </a:r>
            <a:r>
              <a:rPr lang="ru-RU" dirty="0" smtClean="0"/>
              <a:t>-доступ и запуск команд</a:t>
            </a:r>
          </a:p>
          <a:p>
            <a:r>
              <a:rPr lang="ru-RU" dirty="0" smtClean="0"/>
              <a:t>Безопасная передача файлов (</a:t>
            </a:r>
            <a:r>
              <a:rPr lang="en-US" dirty="0" smtClean="0"/>
              <a:t>SFTP </a:t>
            </a:r>
            <a:r>
              <a:rPr lang="ru-RU" dirty="0" smtClean="0"/>
              <a:t>и </a:t>
            </a:r>
            <a:r>
              <a:rPr lang="en-US" dirty="0" smtClean="0"/>
              <a:t>SCP)</a:t>
            </a:r>
          </a:p>
          <a:p>
            <a:r>
              <a:rPr lang="ru-RU" dirty="0" err="1" smtClean="0"/>
              <a:t>Туннелирование</a:t>
            </a:r>
            <a:r>
              <a:rPr lang="ru-RU" dirty="0" smtClean="0"/>
              <a:t> и перенаправление портов</a:t>
            </a:r>
            <a:r>
              <a:rPr lang="en-US" dirty="0" smtClean="0"/>
              <a:t>:</a:t>
            </a:r>
          </a:p>
          <a:p>
            <a:pPr lvl="1"/>
            <a:r>
              <a:rPr lang="ru-RU" dirty="0" smtClean="0"/>
              <a:t>Локальное (</a:t>
            </a:r>
            <a:r>
              <a:rPr lang="en-US" dirty="0" smtClean="0"/>
              <a:t>Local Forwarding). </a:t>
            </a:r>
            <a:r>
              <a:rPr lang="ru-RU" dirty="0" smtClean="0"/>
              <a:t>Проброс порта с локальной машины на удаленный сервер (безопасный доступ к приложению на удалённой машине).</a:t>
            </a:r>
          </a:p>
          <a:p>
            <a:pPr lvl="1"/>
            <a:r>
              <a:rPr lang="ru-RU" dirty="0" smtClean="0"/>
              <a:t>Удаленное (</a:t>
            </a:r>
            <a:r>
              <a:rPr lang="en-US" dirty="0" smtClean="0"/>
              <a:t>Remote Forwarding). </a:t>
            </a:r>
            <a:r>
              <a:rPr lang="ru-RU" dirty="0" smtClean="0"/>
              <a:t>Проброс удаленного порта на локальную машину (публикация локального сервиса через удаленную машину).</a:t>
            </a:r>
          </a:p>
          <a:p>
            <a:r>
              <a:rPr lang="ru-RU" dirty="0" smtClean="0"/>
              <a:t>Запуск графических приложений (</a:t>
            </a:r>
            <a:r>
              <a:rPr lang="en-US" dirty="0" smtClean="0"/>
              <a:t>X11 Forwarding</a:t>
            </a:r>
            <a:r>
              <a:rPr lang="ru-RU" dirty="0" smtClean="0"/>
              <a:t>)</a:t>
            </a:r>
            <a:endParaRPr lang="en-US" dirty="0" smtClean="0"/>
          </a:p>
          <a:p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1744873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DHCP (Dynamic Host Configuration Protocol)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97614"/>
            <a:ext cx="10515600" cy="4207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4693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Режимы работы </a:t>
            </a:r>
            <a:r>
              <a:rPr lang="en-US" dirty="0" smtClean="0"/>
              <a:t>DHCP</a:t>
            </a:r>
            <a:r>
              <a:rPr lang="ru-RU" dirty="0" smtClean="0"/>
              <a:t>-сервера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3200" b="1" dirty="0" smtClean="0"/>
              <a:t>Ручное распределение</a:t>
            </a:r>
            <a:r>
              <a:rPr lang="ru-RU" sz="3200" dirty="0" smtClean="0"/>
              <a:t> (</a:t>
            </a:r>
            <a:r>
              <a:rPr lang="af-ZA" sz="3200" dirty="0" smtClean="0"/>
              <a:t>Manual Allocation / Static</a:t>
            </a:r>
            <a:r>
              <a:rPr lang="ru-RU" sz="3200" dirty="0" smtClean="0"/>
              <a:t>) – администратор вручную привязывает </a:t>
            </a:r>
            <a:r>
              <a:rPr lang="en-US" sz="3200" dirty="0" smtClean="0"/>
              <a:t>IP</a:t>
            </a:r>
            <a:r>
              <a:rPr lang="ru-RU" sz="3200" dirty="0" smtClean="0"/>
              <a:t>-адрес к </a:t>
            </a:r>
            <a:r>
              <a:rPr lang="en-US" sz="3200" dirty="0" smtClean="0"/>
              <a:t>MAC</a:t>
            </a:r>
            <a:r>
              <a:rPr lang="ru-RU" sz="3200" dirty="0" smtClean="0"/>
              <a:t>-адресу.</a:t>
            </a:r>
          </a:p>
          <a:p>
            <a:r>
              <a:rPr lang="ru-RU" sz="3200" b="1" dirty="0" smtClean="0"/>
              <a:t>Автоматическое распределение</a:t>
            </a:r>
            <a:r>
              <a:rPr lang="ru-RU" sz="3200" dirty="0" smtClean="0"/>
              <a:t> (</a:t>
            </a:r>
            <a:r>
              <a:rPr lang="af-ZA" sz="3200" dirty="0" smtClean="0"/>
              <a:t>Automatic Allocation</a:t>
            </a:r>
            <a:r>
              <a:rPr lang="ru-RU" sz="3200" dirty="0" smtClean="0"/>
              <a:t>) – сервер навсегда закрепляет за </a:t>
            </a:r>
            <a:r>
              <a:rPr lang="en-US" sz="3200" dirty="0" smtClean="0"/>
              <a:t>MAC-</a:t>
            </a:r>
            <a:r>
              <a:rPr lang="ru-RU" sz="3200" dirty="0" smtClean="0"/>
              <a:t>адресом свободный </a:t>
            </a:r>
            <a:r>
              <a:rPr lang="en-US" sz="3200" dirty="0" smtClean="0"/>
              <a:t>IP</a:t>
            </a:r>
            <a:r>
              <a:rPr lang="ru-RU" sz="3200" dirty="0" smtClean="0"/>
              <a:t>-адрес. Отсутствует понятие аренды.</a:t>
            </a:r>
          </a:p>
          <a:p>
            <a:r>
              <a:rPr lang="ru-RU" sz="3200" b="1" dirty="0" smtClean="0"/>
              <a:t>Динамическое распределение</a:t>
            </a:r>
            <a:r>
              <a:rPr lang="ru-RU" sz="3200" dirty="0" smtClean="0"/>
              <a:t> (</a:t>
            </a:r>
            <a:r>
              <a:rPr lang="af-ZA" sz="3200" dirty="0" smtClean="0"/>
              <a:t>Dynamic Allocation</a:t>
            </a:r>
            <a:r>
              <a:rPr lang="ru-RU" sz="3200" dirty="0" smtClean="0"/>
              <a:t>) – сервер выделяет </a:t>
            </a:r>
            <a:r>
              <a:rPr lang="en-US" sz="3200" dirty="0" smtClean="0"/>
              <a:t>IP-</a:t>
            </a:r>
            <a:r>
              <a:rPr lang="ru-RU" sz="3200" dirty="0" smtClean="0"/>
              <a:t>адрес из заданного полу на ограниченное время аренды (</a:t>
            </a:r>
            <a:r>
              <a:rPr lang="en-US" sz="3200" dirty="0" smtClean="0"/>
              <a:t>lease time).</a:t>
            </a:r>
            <a:endParaRPr lang="ru-RU" sz="3200" dirty="0"/>
          </a:p>
        </p:txBody>
      </p:sp>
    </p:spTree>
    <p:extLst>
      <p:ext uri="{BB962C8B-B14F-4D97-AF65-F5344CB8AC3E}">
        <p14:creationId xmlns:p14="http://schemas.microsoft.com/office/powerpoint/2010/main" val="24744427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 smtClean="0"/>
              <a:t>DORA (Discover, Offer, Request, </a:t>
            </a:r>
            <a:r>
              <a:rPr lang="en-US" dirty="0" err="1" smtClean="0"/>
              <a:t>Ack</a:t>
            </a:r>
            <a:r>
              <a:rPr lang="en-US" dirty="0" smtClean="0"/>
              <a:t>)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73444" y="810101"/>
            <a:ext cx="8645112" cy="6047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48703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 smtClean="0"/>
              <a:t>DORA (Discover, Offer, Request, </a:t>
            </a:r>
            <a:r>
              <a:rPr lang="en-US" dirty="0" err="1" smtClean="0"/>
              <a:t>Ack</a:t>
            </a:r>
            <a:r>
              <a:rPr lang="en-US" dirty="0" smtClean="0"/>
              <a:t>)</a:t>
            </a:r>
            <a:endParaRPr lang="ru-RU" dirty="0"/>
          </a:p>
        </p:txBody>
      </p:sp>
      <p:pic>
        <p:nvPicPr>
          <p:cNvPr id="6" name="Объект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99138" y="1008264"/>
            <a:ext cx="8393723" cy="5849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71396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 smtClean="0"/>
              <a:t>DORA (Discover, Offer, Request, </a:t>
            </a:r>
            <a:r>
              <a:rPr lang="en-US" dirty="0" err="1" smtClean="0"/>
              <a:t>Ack</a:t>
            </a:r>
            <a:r>
              <a:rPr lang="en-US" dirty="0" smtClean="0"/>
              <a:t>)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82726" y="1005432"/>
            <a:ext cx="8426547" cy="5852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27428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 smtClean="0"/>
              <a:t>DORA (Discover, Offer, Request, </a:t>
            </a:r>
            <a:r>
              <a:rPr lang="en-US" dirty="0" err="1" smtClean="0"/>
              <a:t>Ack</a:t>
            </a:r>
            <a:r>
              <a:rPr lang="en-US" dirty="0" smtClean="0"/>
              <a:t>)</a:t>
            </a:r>
            <a:endParaRPr lang="ru-RU" dirty="0"/>
          </a:p>
        </p:txBody>
      </p:sp>
      <p:pic>
        <p:nvPicPr>
          <p:cNvPr id="6" name="Объект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38997" y="943568"/>
            <a:ext cx="8314006" cy="5804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44753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75492" y="787157"/>
            <a:ext cx="3339905" cy="591478"/>
          </a:xfrm>
        </p:spPr>
        <p:txBody>
          <a:bodyPr>
            <a:normAutofit fontScale="90000"/>
          </a:bodyPr>
          <a:lstStyle/>
          <a:p>
            <a:r>
              <a:rPr lang="ru-RU" dirty="0" smtClean="0"/>
              <a:t>Формат </a:t>
            </a:r>
            <a:r>
              <a:rPr lang="en-US" dirty="0" smtClean="0"/>
              <a:t>DCHP</a:t>
            </a:r>
            <a:r>
              <a:rPr lang="ru-RU" dirty="0" smtClean="0"/>
              <a:t> сообщения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67134" y="221907"/>
            <a:ext cx="6724866" cy="64853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5492" y="2098387"/>
            <a:ext cx="5191642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err="1" smtClean="0"/>
              <a:t>ciaddr</a:t>
            </a:r>
            <a:r>
              <a:rPr lang="en-US" sz="2800" dirty="0" smtClean="0"/>
              <a:t> – </a:t>
            </a:r>
            <a:r>
              <a:rPr lang="ru-RU" sz="2800" dirty="0" smtClean="0"/>
              <a:t>текущий </a:t>
            </a:r>
            <a:r>
              <a:rPr lang="en-US" sz="2800" dirty="0" smtClean="0"/>
              <a:t>IP</a:t>
            </a:r>
            <a:r>
              <a:rPr lang="ru-RU" sz="2800" dirty="0" smtClean="0"/>
              <a:t> адрес клиента</a:t>
            </a:r>
            <a:r>
              <a:rPr lang="en-US" sz="2800" dirty="0" smtClean="0"/>
              <a:t>.</a:t>
            </a:r>
          </a:p>
          <a:p>
            <a:r>
              <a:rPr lang="en-US" sz="2800" b="1" dirty="0" err="1" smtClean="0"/>
              <a:t>yiaddr</a:t>
            </a:r>
            <a:r>
              <a:rPr lang="en-US" sz="2800" b="1" dirty="0" smtClean="0"/>
              <a:t> </a:t>
            </a:r>
            <a:r>
              <a:rPr lang="en-US" sz="2800" dirty="0" smtClean="0"/>
              <a:t>- </a:t>
            </a:r>
            <a:r>
              <a:rPr lang="af-ZA" sz="2800" dirty="0" smtClean="0"/>
              <a:t>IP-</a:t>
            </a:r>
            <a:r>
              <a:rPr lang="ru-RU" sz="2800" dirty="0" smtClean="0"/>
              <a:t>адрес, предлагаемый </a:t>
            </a:r>
            <a:r>
              <a:rPr lang="af-ZA" sz="2800" dirty="0" smtClean="0"/>
              <a:t>DHCP-</a:t>
            </a:r>
            <a:r>
              <a:rPr lang="ru-RU" sz="2800" dirty="0" smtClean="0"/>
              <a:t>сервером клиенту.</a:t>
            </a:r>
          </a:p>
          <a:p>
            <a:r>
              <a:rPr lang="en-US" sz="2800" b="1" dirty="0" err="1" smtClean="0"/>
              <a:t>giaddr</a:t>
            </a:r>
            <a:r>
              <a:rPr lang="en-US" sz="2800" b="1" dirty="0" smtClean="0"/>
              <a:t> </a:t>
            </a:r>
            <a:r>
              <a:rPr lang="en-US" sz="2800" dirty="0" smtClean="0"/>
              <a:t>- IP</a:t>
            </a:r>
            <a:r>
              <a:rPr lang="ru-RU" sz="2800" dirty="0" smtClean="0"/>
              <a:t> адрес ретранслятор, передавшего </a:t>
            </a:r>
            <a:r>
              <a:rPr lang="en-US" sz="2800" dirty="0" smtClean="0"/>
              <a:t>DCHP</a:t>
            </a:r>
            <a:r>
              <a:rPr lang="ru-RU" sz="2800" dirty="0" smtClean="0"/>
              <a:t> сообщение</a:t>
            </a:r>
          </a:p>
          <a:p>
            <a:r>
              <a:rPr lang="en-US" sz="2800" b="1" dirty="0" err="1" smtClean="0"/>
              <a:t>chaddr</a:t>
            </a:r>
            <a:r>
              <a:rPr lang="en-US" sz="2800" dirty="0" smtClean="0"/>
              <a:t> – MAC</a:t>
            </a:r>
            <a:r>
              <a:rPr lang="ru-RU" sz="2800" dirty="0" smtClean="0"/>
              <a:t> адрес клиента</a:t>
            </a:r>
            <a:endParaRPr lang="en-US" sz="2800" b="1" dirty="0"/>
          </a:p>
          <a:p>
            <a:r>
              <a:rPr lang="en-US" sz="2800" b="1" dirty="0" smtClean="0"/>
              <a:t>options</a:t>
            </a:r>
            <a:r>
              <a:rPr lang="en-US" sz="2800" dirty="0" smtClean="0"/>
              <a:t> – </a:t>
            </a:r>
            <a:r>
              <a:rPr lang="ru-RU" sz="2800" dirty="0" smtClean="0"/>
              <a:t>список опций</a:t>
            </a:r>
          </a:p>
        </p:txBody>
      </p:sp>
    </p:spTree>
    <p:extLst>
      <p:ext uri="{BB962C8B-B14F-4D97-AF65-F5344CB8AC3E}">
        <p14:creationId xmlns:p14="http://schemas.microsoft.com/office/powerpoint/2010/main" val="737276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60400" y="238125"/>
            <a:ext cx="10515600" cy="447675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DCHP </a:t>
            </a:r>
            <a:r>
              <a:rPr lang="ru-RU" dirty="0" smtClean="0"/>
              <a:t>опции</a:t>
            </a:r>
            <a:endParaRPr lang="ru-RU" dirty="0"/>
          </a:p>
        </p:txBody>
      </p:sp>
      <p:graphicFrame>
        <p:nvGraphicFramePr>
          <p:cNvPr id="4" name="Объект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28033975"/>
              </p:ext>
            </p:extLst>
          </p:nvPr>
        </p:nvGraphicFramePr>
        <p:xfrm>
          <a:off x="330200" y="1024730"/>
          <a:ext cx="11455400" cy="5528466"/>
        </p:xfrm>
        <a:graphic>
          <a:graphicData uri="http://schemas.openxmlformats.org/drawingml/2006/table">
            <a:tbl>
              <a:tblPr/>
              <a:tblGrid>
                <a:gridCol w="1402419">
                  <a:extLst>
                    <a:ext uri="{9D8B030D-6E8A-4147-A177-3AD203B41FA5}">
                      <a16:colId xmlns:a16="http://schemas.microsoft.com/office/drawing/2014/main" val="1015433751"/>
                    </a:ext>
                  </a:extLst>
                </a:gridCol>
                <a:gridCol w="2665984">
                  <a:extLst>
                    <a:ext uri="{9D8B030D-6E8A-4147-A177-3AD203B41FA5}">
                      <a16:colId xmlns:a16="http://schemas.microsoft.com/office/drawing/2014/main" val="926851976"/>
                    </a:ext>
                  </a:extLst>
                </a:gridCol>
                <a:gridCol w="4523147">
                  <a:extLst>
                    <a:ext uri="{9D8B030D-6E8A-4147-A177-3AD203B41FA5}">
                      <a16:colId xmlns:a16="http://schemas.microsoft.com/office/drawing/2014/main" val="3478972156"/>
                    </a:ext>
                  </a:extLst>
                </a:gridCol>
                <a:gridCol w="2863850">
                  <a:extLst>
                    <a:ext uri="{9D8B030D-6E8A-4147-A177-3AD203B41FA5}">
                      <a16:colId xmlns:a16="http://schemas.microsoft.com/office/drawing/2014/main" val="2950405007"/>
                    </a:ext>
                  </a:extLst>
                </a:gridCol>
              </a:tblGrid>
              <a:tr h="329432"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effectLst/>
                        </a:rPr>
                        <a:t>Код опции</a:t>
                      </a:r>
                    </a:p>
                  </a:txBody>
                  <a:tcPr marL="60035" marR="60035" marT="30018" marB="3001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effectLst/>
                        </a:rPr>
                        <a:t>Название</a:t>
                      </a:r>
                    </a:p>
                  </a:txBody>
                  <a:tcPr marL="60035" marR="60035" marT="30018" marB="3001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effectLst/>
                        </a:rPr>
                        <a:t>Описание</a:t>
                      </a:r>
                    </a:p>
                  </a:txBody>
                  <a:tcPr marL="60035" marR="60035" marT="30018" marB="3001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600" b="1" dirty="0">
                          <a:effectLst/>
                        </a:rPr>
                        <a:t>Пример значения</a:t>
                      </a:r>
                    </a:p>
                  </a:txBody>
                  <a:tcPr marL="60035" marR="60035" marT="30018" marB="3001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13101787"/>
                  </a:ext>
                </a:extLst>
              </a:tr>
              <a:tr h="329432">
                <a:tc>
                  <a:txBody>
                    <a:bodyPr/>
                    <a:lstStyle/>
                    <a:p>
                      <a:r>
                        <a:rPr lang="ru-RU" sz="1600" b="1" dirty="0">
                          <a:effectLst/>
                        </a:rPr>
                        <a:t>1</a:t>
                      </a:r>
                      <a:endParaRPr lang="ru-RU" sz="1600" dirty="0">
                        <a:effectLst/>
                      </a:endParaRPr>
                    </a:p>
                  </a:txBody>
                  <a:tcPr marL="60035" marR="60035" marT="30018" marB="3001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af-ZA" sz="1600" dirty="0">
                          <a:effectLst/>
                        </a:rPr>
                        <a:t>Subnet Mask</a:t>
                      </a:r>
                    </a:p>
                  </a:txBody>
                  <a:tcPr marL="60035" marR="60035" marT="30018" marB="3001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>
                          <a:effectLst/>
                        </a:rPr>
                        <a:t>Маска подсети клиента</a:t>
                      </a:r>
                    </a:p>
                  </a:txBody>
                  <a:tcPr marL="60035" marR="60035" marT="30018" marB="3001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>
                          <a:effectLst/>
                        </a:rPr>
                        <a:t>255.255.255.0</a:t>
                      </a:r>
                    </a:p>
                  </a:txBody>
                  <a:tcPr marL="60035" marR="60035" marT="30018" marB="3001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88242835"/>
                  </a:ext>
                </a:extLst>
              </a:tr>
              <a:tr h="488021"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3</a:t>
                      </a:r>
                      <a:endParaRPr lang="ru-RU" sz="1600">
                        <a:effectLst/>
                      </a:endParaRPr>
                    </a:p>
                  </a:txBody>
                  <a:tcPr marL="60035" marR="60035" marT="30018" marB="3001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af-ZA" sz="1600" dirty="0">
                          <a:effectLst/>
                        </a:rPr>
                        <a:t>Router (Default Gateway)</a:t>
                      </a:r>
                    </a:p>
                  </a:txBody>
                  <a:tcPr marL="60035" marR="60035" marT="30018" marB="3001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af-ZA" sz="1600">
                          <a:effectLst/>
                        </a:rPr>
                        <a:t>IP-</a:t>
                      </a:r>
                      <a:r>
                        <a:rPr lang="ru-RU" sz="1600">
                          <a:effectLst/>
                        </a:rPr>
                        <a:t>адрес шлюза по умолчанию</a:t>
                      </a:r>
                    </a:p>
                  </a:txBody>
                  <a:tcPr marL="60035" marR="60035" marT="30018" marB="3001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>
                          <a:effectLst/>
                        </a:rPr>
                        <a:t>192.168.1.1</a:t>
                      </a:r>
                    </a:p>
                  </a:txBody>
                  <a:tcPr marL="60035" marR="60035" marT="30018" marB="3001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65995128"/>
                  </a:ext>
                </a:extLst>
              </a:tr>
              <a:tr h="329432"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6</a:t>
                      </a:r>
                      <a:endParaRPr lang="ru-RU" sz="1600">
                        <a:effectLst/>
                      </a:endParaRPr>
                    </a:p>
                  </a:txBody>
                  <a:tcPr marL="60035" marR="60035" marT="30018" marB="3001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af-ZA" sz="1600" dirty="0">
                          <a:effectLst/>
                        </a:rPr>
                        <a:t>DNS Servers</a:t>
                      </a:r>
                    </a:p>
                  </a:txBody>
                  <a:tcPr marL="60035" marR="60035" marT="30018" marB="3001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>
                          <a:effectLst/>
                        </a:rPr>
                        <a:t>Список </a:t>
                      </a:r>
                      <a:r>
                        <a:rPr lang="af-ZA" sz="1600">
                          <a:effectLst/>
                        </a:rPr>
                        <a:t>DNS-</a:t>
                      </a:r>
                      <a:r>
                        <a:rPr lang="ru-RU" sz="1600">
                          <a:effectLst/>
                        </a:rPr>
                        <a:t>серверов</a:t>
                      </a:r>
                    </a:p>
                  </a:txBody>
                  <a:tcPr marL="60035" marR="60035" marT="30018" marB="3001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>
                          <a:effectLst/>
                        </a:rPr>
                        <a:t>8.8.8.8, 1.1.1.1</a:t>
                      </a:r>
                    </a:p>
                  </a:txBody>
                  <a:tcPr marL="60035" marR="60035" marT="30018" marB="3001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3037920"/>
                  </a:ext>
                </a:extLst>
              </a:tr>
              <a:tr h="329432"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15</a:t>
                      </a:r>
                      <a:endParaRPr lang="ru-RU" sz="1600">
                        <a:effectLst/>
                      </a:endParaRPr>
                    </a:p>
                  </a:txBody>
                  <a:tcPr marL="60035" marR="60035" marT="30018" marB="3001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af-ZA" sz="1600" dirty="0">
                          <a:effectLst/>
                        </a:rPr>
                        <a:t>Domain Name</a:t>
                      </a:r>
                    </a:p>
                  </a:txBody>
                  <a:tcPr marL="60035" marR="60035" marT="30018" marB="3001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af-ZA" sz="1600" dirty="0">
                          <a:effectLst/>
                        </a:rPr>
                        <a:t>DNS-</a:t>
                      </a:r>
                      <a:r>
                        <a:rPr lang="ru-RU" sz="1600" dirty="0">
                          <a:effectLst/>
                        </a:rPr>
                        <a:t>домен клиента</a:t>
                      </a:r>
                    </a:p>
                  </a:txBody>
                  <a:tcPr marL="60035" marR="60035" marT="30018" marB="3001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af-ZA" sz="1600">
                          <a:effectLst/>
                        </a:rPr>
                        <a:t>company.local</a:t>
                      </a:r>
                    </a:p>
                  </a:txBody>
                  <a:tcPr marL="60035" marR="60035" marT="30018" marB="3001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02370673"/>
                  </a:ext>
                </a:extLst>
              </a:tr>
              <a:tr h="488021"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42</a:t>
                      </a:r>
                      <a:endParaRPr lang="ru-RU" sz="1600">
                        <a:effectLst/>
                      </a:endParaRPr>
                    </a:p>
                  </a:txBody>
                  <a:tcPr marL="60035" marR="60035" marT="30018" marB="3001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af-ZA" sz="1600" dirty="0">
                          <a:effectLst/>
                        </a:rPr>
                        <a:t>NTP Servers</a:t>
                      </a:r>
                    </a:p>
                  </a:txBody>
                  <a:tcPr marL="60035" marR="60035" marT="30018" marB="3001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effectLst/>
                        </a:rPr>
                        <a:t>Серверы синхронизации времени</a:t>
                      </a:r>
                    </a:p>
                  </a:txBody>
                  <a:tcPr marL="60035" marR="60035" marT="30018" marB="3001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>
                          <a:effectLst/>
                        </a:rPr>
                        <a:t>192.168.1.10</a:t>
                      </a:r>
                    </a:p>
                  </a:txBody>
                  <a:tcPr marL="60035" marR="60035" marT="30018" marB="3001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95804967"/>
                  </a:ext>
                </a:extLst>
              </a:tr>
              <a:tr h="329432"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51</a:t>
                      </a:r>
                      <a:endParaRPr lang="ru-RU" sz="1600">
                        <a:effectLst/>
                      </a:endParaRPr>
                    </a:p>
                  </a:txBody>
                  <a:tcPr marL="60035" marR="60035" marT="30018" marB="3001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af-ZA" sz="1600">
                          <a:effectLst/>
                        </a:rPr>
                        <a:t>IP Address Lease Time</a:t>
                      </a:r>
                    </a:p>
                  </a:txBody>
                  <a:tcPr marL="60035" marR="60035" marT="30018" marB="3001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effectLst/>
                        </a:rPr>
                        <a:t>Время аренды </a:t>
                      </a:r>
                      <a:r>
                        <a:rPr lang="af-ZA" sz="1600" dirty="0">
                          <a:effectLst/>
                        </a:rPr>
                        <a:t>IP-</a:t>
                      </a:r>
                      <a:r>
                        <a:rPr lang="ru-RU" sz="1600" dirty="0">
                          <a:effectLst/>
                        </a:rPr>
                        <a:t>адреса</a:t>
                      </a:r>
                    </a:p>
                  </a:txBody>
                  <a:tcPr marL="60035" marR="60035" marT="30018" marB="3001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>
                          <a:effectLst/>
                        </a:rPr>
                        <a:t>86400 (24 часа)</a:t>
                      </a:r>
                    </a:p>
                  </a:txBody>
                  <a:tcPr marL="60035" marR="60035" marT="30018" marB="3001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05791566"/>
                  </a:ext>
                </a:extLst>
              </a:tr>
              <a:tr h="329432"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54</a:t>
                      </a:r>
                      <a:endParaRPr lang="ru-RU" sz="1600">
                        <a:effectLst/>
                      </a:endParaRPr>
                    </a:p>
                  </a:txBody>
                  <a:tcPr marL="60035" marR="60035" marT="30018" marB="3001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af-ZA" sz="1600">
                          <a:effectLst/>
                        </a:rPr>
                        <a:t>DHCP Server Identifier</a:t>
                      </a:r>
                    </a:p>
                  </a:txBody>
                  <a:tcPr marL="60035" marR="60035" marT="30018" marB="3001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af-ZA" sz="1600" dirty="0">
                          <a:effectLst/>
                        </a:rPr>
                        <a:t>IP-</a:t>
                      </a:r>
                      <a:r>
                        <a:rPr lang="ru-RU" sz="1600" dirty="0">
                          <a:effectLst/>
                        </a:rPr>
                        <a:t>адрес </a:t>
                      </a:r>
                      <a:r>
                        <a:rPr lang="af-ZA" sz="1600" dirty="0">
                          <a:effectLst/>
                        </a:rPr>
                        <a:t>DHCP-</a:t>
                      </a:r>
                      <a:r>
                        <a:rPr lang="ru-RU" sz="1600" dirty="0">
                          <a:effectLst/>
                        </a:rPr>
                        <a:t>сервера</a:t>
                      </a:r>
                    </a:p>
                  </a:txBody>
                  <a:tcPr marL="60035" marR="60035" marT="30018" marB="3001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>
                          <a:effectLst/>
                        </a:rPr>
                        <a:t>192.168.1.2</a:t>
                      </a:r>
                    </a:p>
                  </a:txBody>
                  <a:tcPr marL="60035" marR="60035" marT="30018" marB="3001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309231"/>
                  </a:ext>
                </a:extLst>
              </a:tr>
              <a:tr h="488021">
                <a:tc>
                  <a:txBody>
                    <a:bodyPr/>
                    <a:lstStyle/>
                    <a:p>
                      <a:r>
                        <a:rPr lang="ru-RU" sz="1600" b="1" dirty="0">
                          <a:effectLst/>
                        </a:rPr>
                        <a:t>58</a:t>
                      </a:r>
                      <a:endParaRPr lang="ru-RU" sz="1600" dirty="0">
                        <a:effectLst/>
                      </a:endParaRPr>
                    </a:p>
                  </a:txBody>
                  <a:tcPr marL="60035" marR="60035" marT="30018" marB="3001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af-ZA" sz="1600">
                          <a:effectLst/>
                        </a:rPr>
                        <a:t>Renewal Time (T1)</a:t>
                      </a:r>
                    </a:p>
                  </a:txBody>
                  <a:tcPr marL="60035" marR="60035" marT="30018" marB="3001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effectLst/>
                        </a:rPr>
                        <a:t>Время первой попытки продления аренды</a:t>
                      </a:r>
                    </a:p>
                  </a:txBody>
                  <a:tcPr marL="60035" marR="60035" marT="30018" marB="3001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effectLst/>
                        </a:rPr>
                        <a:t>43200</a:t>
                      </a:r>
                    </a:p>
                  </a:txBody>
                  <a:tcPr marL="60035" marR="60035" marT="30018" marB="3001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6551828"/>
                  </a:ext>
                </a:extLst>
              </a:tr>
              <a:tr h="695937"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59</a:t>
                      </a:r>
                      <a:endParaRPr lang="ru-RU" sz="1600">
                        <a:effectLst/>
                      </a:endParaRPr>
                    </a:p>
                  </a:txBody>
                  <a:tcPr marL="60035" marR="60035" marT="30018" marB="3001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af-ZA" sz="1600">
                          <a:effectLst/>
                        </a:rPr>
                        <a:t>Rebinding Time (T2)</a:t>
                      </a:r>
                    </a:p>
                  </a:txBody>
                  <a:tcPr marL="60035" marR="60035" marT="30018" marB="3001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>
                          <a:effectLst/>
                        </a:rPr>
                        <a:t>Время повторной попытки продления аренды</a:t>
                      </a:r>
                    </a:p>
                  </a:txBody>
                  <a:tcPr marL="60035" marR="60035" marT="30018" marB="3001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effectLst/>
                        </a:rPr>
                        <a:t>75600</a:t>
                      </a:r>
                    </a:p>
                  </a:txBody>
                  <a:tcPr marL="60035" marR="60035" marT="30018" marB="3001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9065958"/>
                  </a:ext>
                </a:extLst>
              </a:tr>
              <a:tr h="695937"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66</a:t>
                      </a:r>
                      <a:endParaRPr lang="ru-RU" sz="1600">
                        <a:effectLst/>
                      </a:endParaRPr>
                    </a:p>
                  </a:txBody>
                  <a:tcPr marL="60035" marR="60035" marT="30018" marB="3001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af-ZA" sz="1600">
                          <a:effectLst/>
                        </a:rPr>
                        <a:t>TFTP Server Name</a:t>
                      </a:r>
                    </a:p>
                  </a:txBody>
                  <a:tcPr marL="60035" marR="60035" marT="30018" marB="3001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>
                          <a:effectLst/>
                        </a:rPr>
                        <a:t>Имя или IP TFTP-сервера (часто используется при PXE-загрузке)</a:t>
                      </a:r>
                    </a:p>
                  </a:txBody>
                  <a:tcPr marL="60035" marR="60035" marT="30018" marB="3001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effectLst/>
                        </a:rPr>
                        <a:t>192.168.1.20</a:t>
                      </a:r>
                    </a:p>
                  </a:txBody>
                  <a:tcPr marL="60035" marR="60035" marT="30018" marB="3001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09564273"/>
                  </a:ext>
                </a:extLst>
              </a:tr>
              <a:tr h="695937">
                <a:tc>
                  <a:txBody>
                    <a:bodyPr/>
                    <a:lstStyle/>
                    <a:p>
                      <a:r>
                        <a:rPr lang="ru-RU" sz="1600" b="1">
                          <a:effectLst/>
                        </a:rPr>
                        <a:t>55</a:t>
                      </a:r>
                      <a:endParaRPr lang="ru-RU" sz="1600">
                        <a:effectLst/>
                      </a:endParaRPr>
                    </a:p>
                  </a:txBody>
                  <a:tcPr marL="60035" marR="60035" marT="30018" marB="3001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af-ZA" sz="1600" dirty="0">
                          <a:effectLst/>
                        </a:rPr>
                        <a:t>Requested Parameters</a:t>
                      </a:r>
                    </a:p>
                  </a:txBody>
                  <a:tcPr marL="60035" marR="60035" marT="30018" marB="3001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>
                          <a:effectLst/>
                        </a:rPr>
                        <a:t>Список запрашиваемых параметров (байт — параметр)</a:t>
                      </a:r>
                    </a:p>
                  </a:txBody>
                  <a:tcPr marL="60035" marR="60035" marT="30018" marB="3001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sz="1600" dirty="0">
                          <a:effectLst/>
                        </a:rPr>
                        <a:t>1,3,6,42</a:t>
                      </a:r>
                    </a:p>
                  </a:txBody>
                  <a:tcPr marL="60035" marR="60035" marT="30018" marB="3001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593490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357289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DHCP Lease Time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44500" y="2435225"/>
            <a:ext cx="10515600" cy="2746375"/>
          </a:xfrm>
        </p:spPr>
        <p:txBody>
          <a:bodyPr/>
          <a:lstStyle/>
          <a:p>
            <a:r>
              <a:rPr lang="ru-RU" dirty="0"/>
              <a:t>T1 (</a:t>
            </a:r>
            <a:r>
              <a:rPr lang="ru-RU" dirty="0" err="1"/>
              <a:t>Renewal</a:t>
            </a:r>
            <a:r>
              <a:rPr lang="ru-RU" dirty="0"/>
              <a:t>) — 50% от времени аренды; по истечении T1 устройство отправляет DHCPREQUEST именно тому серверу, который выдал адрес</a:t>
            </a:r>
            <a:r>
              <a:rPr lang="ru-RU" dirty="0" smtClean="0"/>
              <a:t>.</a:t>
            </a:r>
            <a:endParaRPr lang="en-US" dirty="0" smtClean="0"/>
          </a:p>
          <a:p>
            <a:r>
              <a:rPr lang="ru-RU" dirty="0"/>
              <a:t>T2 (</a:t>
            </a:r>
            <a:r>
              <a:rPr lang="ru-RU" dirty="0" err="1"/>
              <a:t>Rebinding</a:t>
            </a:r>
            <a:r>
              <a:rPr lang="ru-RU" dirty="0"/>
              <a:t>) — 7/8 от времени аренды; если первый сервер не ответил, устройство рассылает широковещательный запрос, чтобы продлить аренду или получить новый адрес</a:t>
            </a:r>
            <a:r>
              <a:rPr lang="ru-RU" dirty="0" smtClean="0"/>
              <a:t>.</a:t>
            </a:r>
            <a:endParaRPr lang="en-US" dirty="0" smtClean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53538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5900" y="3129677"/>
            <a:ext cx="11760200" cy="294092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63950" y="736600"/>
            <a:ext cx="48641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 smtClean="0"/>
              <a:t>UDP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 smtClean="0"/>
              <a:t>Порт </a:t>
            </a:r>
            <a:r>
              <a:rPr lang="en-US" sz="2800" dirty="0" smtClean="0"/>
              <a:t>67 – </a:t>
            </a:r>
            <a:r>
              <a:rPr lang="ru-RU" sz="2800" dirty="0" smtClean="0"/>
              <a:t>сервер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 smtClean="0"/>
              <a:t>Порт 68 – клиент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 smtClean="0"/>
              <a:t>IP DST – 255.255.255.255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1809052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f-ZA" dirty="0"/>
              <a:t>DHCPv4-</a:t>
            </a:r>
            <a:r>
              <a:rPr lang="ru-RU" dirty="0"/>
              <a:t>ретрансляция</a:t>
            </a:r>
          </a:p>
        </p:txBody>
      </p:sp>
      <p:pic>
        <p:nvPicPr>
          <p:cNvPr id="6" name="Объект 5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2120104"/>
            <a:ext cx="4714875" cy="3762375"/>
          </a:xfrm>
          <a:prstGeom prst="rect">
            <a:avLst/>
          </a:prstGeom>
        </p:spPr>
      </p:pic>
      <p:pic>
        <p:nvPicPr>
          <p:cNvPr id="7" name="Объект 6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5786437" y="1400967"/>
            <a:ext cx="5843681" cy="5200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75774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NTP (Network Time Protocol)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204985" y="2451100"/>
            <a:ext cx="6170415" cy="3525951"/>
          </a:xfrm>
          <a:prstGeom prst="rect">
            <a:avLst/>
          </a:prstGeom>
        </p:spPr>
      </p:pic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375400" y="2841625"/>
            <a:ext cx="5181600" cy="2136775"/>
          </a:xfrm>
        </p:spPr>
        <p:txBody>
          <a:bodyPr/>
          <a:lstStyle/>
          <a:p>
            <a:r>
              <a:rPr lang="en-US" dirty="0" smtClean="0"/>
              <a:t>RFC5905</a:t>
            </a:r>
          </a:p>
          <a:p>
            <a:r>
              <a:rPr lang="en-US" dirty="0" smtClean="0"/>
              <a:t>UDP/123</a:t>
            </a:r>
          </a:p>
          <a:p>
            <a:r>
              <a:rPr lang="ru-RU" dirty="0" smtClean="0"/>
              <a:t>Иерархическая структура из уровней – «</a:t>
            </a:r>
            <a:r>
              <a:rPr lang="ru-RU" dirty="0" err="1" smtClean="0"/>
              <a:t>стратумов</a:t>
            </a:r>
            <a:r>
              <a:rPr lang="ru-RU" dirty="0" smtClean="0"/>
              <a:t>»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460113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NTP </a:t>
            </a:r>
            <a:r>
              <a:rPr lang="ru-RU" dirty="0" smtClean="0"/>
              <a:t>– синхронизация времени</a:t>
            </a:r>
            <a:endParaRPr lang="ru-RU" dirty="0"/>
          </a:p>
        </p:txBody>
      </p:sp>
      <p:pic>
        <p:nvPicPr>
          <p:cNvPr id="7" name="Объект 6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07639" y="1197768"/>
            <a:ext cx="11176721" cy="40981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82900" y="5297545"/>
            <a:ext cx="6985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/>
              <a:t>Смещение времени: </a:t>
            </a:r>
            <a:r>
              <a:rPr lang="af-ZA" sz="2400" dirty="0" smtClean="0"/>
              <a:t>dt </a:t>
            </a:r>
            <a:r>
              <a:rPr lang="af-ZA" sz="2400" dirty="0"/>
              <a:t>= 0.5 * ((t2−t1) + (t3−t4</a:t>
            </a:r>
            <a:r>
              <a:rPr lang="af-ZA" sz="2400" dirty="0" smtClean="0"/>
              <a:t>))</a:t>
            </a:r>
            <a:endParaRPr lang="ru-RU" sz="2400" dirty="0" smtClean="0"/>
          </a:p>
          <a:p>
            <a:r>
              <a:rPr lang="ru-RU" sz="2400" dirty="0" smtClean="0"/>
              <a:t>Общее время передачи: </a:t>
            </a:r>
            <a:r>
              <a:rPr lang="af-ZA" sz="2400" dirty="0"/>
              <a:t>t = (t4−t1) − (t3−t2)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21946478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 smtClean="0"/>
              <a:t>SNMP (</a:t>
            </a:r>
            <a:r>
              <a:rPr lang="af-ZA" sz="4000" dirty="0"/>
              <a:t>Simple Network Management Protocol</a:t>
            </a:r>
            <a:r>
              <a:rPr lang="en-US" sz="4000" dirty="0" smtClean="0"/>
              <a:t>)</a:t>
            </a:r>
            <a:endParaRPr lang="ru-RU" sz="4000" dirty="0"/>
          </a:p>
        </p:txBody>
      </p:sp>
      <p:pic>
        <p:nvPicPr>
          <p:cNvPr id="21506" name="Picture 2" descr="https://habrastorage.org/r/w1560/getpro/habr/upload_files/5a9/095/b20/5a9095b20d1612fbf97b0ebc4c4e25a7.png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054" y="1467644"/>
            <a:ext cx="6990292" cy="5242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7442200" y="2530039"/>
            <a:ext cx="4406900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b="0" i="0" dirty="0" smtClean="0">
                <a:solidFill>
                  <a:srgbClr val="333333"/>
                </a:solidFill>
                <a:effectLst/>
                <a:latin typeface="Fira Sans"/>
              </a:rPr>
              <a:t>Устройства в SNMP</a:t>
            </a:r>
          </a:p>
          <a:p>
            <a:pPr>
              <a:buFont typeface="+mj-lt"/>
              <a:buAutoNum type="arabicPeriod"/>
            </a:pPr>
            <a:r>
              <a:rPr lang="ru-RU" b="1" i="0" dirty="0" smtClean="0">
                <a:solidFill>
                  <a:srgbClr val="333333"/>
                </a:solidFill>
                <a:effectLst/>
                <a:latin typeface="-apple-system"/>
              </a:rPr>
              <a:t>Управляемые устройства (</a:t>
            </a:r>
            <a:r>
              <a:rPr lang="ru-RU" b="1" i="0" dirty="0" err="1" smtClean="0">
                <a:solidFill>
                  <a:srgbClr val="333333"/>
                </a:solidFill>
                <a:effectLst/>
                <a:latin typeface="-apple-system"/>
              </a:rPr>
              <a:t>Managed</a:t>
            </a:r>
            <a:r>
              <a:rPr lang="ru-RU" b="1" i="0" dirty="0" smtClean="0">
                <a:solidFill>
                  <a:srgbClr val="333333"/>
                </a:solidFill>
                <a:effectLst/>
                <a:latin typeface="-apple-system"/>
              </a:rPr>
              <a:t> </a:t>
            </a:r>
            <a:r>
              <a:rPr lang="ru-RU" b="1" i="0" dirty="0" err="1" smtClean="0">
                <a:solidFill>
                  <a:srgbClr val="333333"/>
                </a:solidFill>
                <a:effectLst/>
                <a:latin typeface="-apple-system"/>
              </a:rPr>
              <a:t>Devices</a:t>
            </a:r>
            <a:r>
              <a:rPr lang="ru-RU" b="1" i="0" dirty="0" smtClean="0">
                <a:solidFill>
                  <a:srgbClr val="333333"/>
                </a:solidFill>
                <a:effectLst/>
                <a:latin typeface="-apple-system"/>
              </a:rPr>
              <a:t>):</a:t>
            </a:r>
            <a:r>
              <a:rPr lang="ru-RU" b="0" i="0" dirty="0" smtClean="0">
                <a:solidFill>
                  <a:srgbClr val="333333"/>
                </a:solidFill>
                <a:effectLst/>
                <a:latin typeface="-apple-system"/>
              </a:rPr>
              <a:t> устройства, которые контролируются с помощью SNMP-агента.</a:t>
            </a:r>
          </a:p>
          <a:p>
            <a:pPr>
              <a:buFont typeface="+mj-lt"/>
              <a:buAutoNum type="arabicPeriod"/>
            </a:pPr>
            <a:r>
              <a:rPr lang="ru-RU" b="1" i="0" dirty="0" smtClean="0">
                <a:solidFill>
                  <a:srgbClr val="333333"/>
                </a:solidFill>
                <a:effectLst/>
                <a:latin typeface="-apple-system"/>
              </a:rPr>
              <a:t>Станция управления сетью (NMS):</a:t>
            </a:r>
            <a:r>
              <a:rPr lang="ru-RU" b="0" i="0" dirty="0" smtClean="0">
                <a:solidFill>
                  <a:srgbClr val="333333"/>
                </a:solidFill>
                <a:effectLst/>
                <a:latin typeface="-apple-system"/>
              </a:rPr>
              <a:t> сервер или система, управляющая устройствами. Также называется SNMP-сервером.</a:t>
            </a:r>
          </a:p>
          <a:p>
            <a:r>
              <a:rPr lang="ru-RU" dirty="0" smtClean="0"/>
              <a:t/>
            </a:r>
            <a:br>
              <a:rPr lang="ru-RU" dirty="0" smtClean="0"/>
            </a:b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126330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MIB </a:t>
            </a:r>
            <a:r>
              <a:rPr lang="ru-RU" dirty="0" smtClean="0"/>
              <a:t>и </a:t>
            </a:r>
            <a:r>
              <a:rPr lang="en-US" dirty="0" smtClean="0"/>
              <a:t>OID</a:t>
            </a:r>
            <a:endParaRPr lang="ru-RU" dirty="0"/>
          </a:p>
        </p:txBody>
      </p:sp>
      <p:sp>
        <p:nvSpPr>
          <p:cNvPr id="4" name="Объект 3"/>
          <p:cNvSpPr>
            <a:spLocks noGrp="1"/>
          </p:cNvSpPr>
          <p:nvPr>
            <p:ph sz="half" idx="1"/>
          </p:nvPr>
        </p:nvSpPr>
        <p:spPr>
          <a:xfrm>
            <a:off x="190500" y="1863725"/>
            <a:ext cx="5181600" cy="4351338"/>
          </a:xfrm>
        </p:spPr>
        <p:txBody>
          <a:bodyPr>
            <a:normAutofit lnSpcReduction="10000"/>
          </a:bodyPr>
          <a:lstStyle/>
          <a:p>
            <a:r>
              <a:rPr lang="ru-RU" b="1" dirty="0"/>
              <a:t>MIB (</a:t>
            </a:r>
            <a:r>
              <a:rPr lang="ru-RU" b="1" dirty="0" err="1"/>
              <a:t>Management</a:t>
            </a:r>
            <a:r>
              <a:rPr lang="ru-RU" b="1" dirty="0"/>
              <a:t> </a:t>
            </a:r>
            <a:r>
              <a:rPr lang="ru-RU" b="1" dirty="0" err="1"/>
              <a:t>Information</a:t>
            </a:r>
            <a:r>
              <a:rPr lang="ru-RU" b="1" dirty="0"/>
              <a:t> </a:t>
            </a:r>
            <a:r>
              <a:rPr lang="ru-RU" b="1" dirty="0" err="1"/>
              <a:t>Base</a:t>
            </a:r>
            <a:r>
              <a:rPr lang="ru-RU" b="1" dirty="0"/>
              <a:t>)</a:t>
            </a:r>
            <a:r>
              <a:rPr lang="ru-RU" dirty="0"/>
              <a:t> — это база данных, которая хранит информацию о параметрах устройства, управляемого через SNMP</a:t>
            </a:r>
            <a:r>
              <a:rPr lang="ru-RU" dirty="0" smtClean="0"/>
              <a:t>.</a:t>
            </a:r>
            <a:endParaRPr lang="en-US" dirty="0" smtClean="0"/>
          </a:p>
          <a:p>
            <a:r>
              <a:rPr lang="ru-RU" b="1" dirty="0"/>
              <a:t>OID (</a:t>
            </a:r>
            <a:r>
              <a:rPr lang="ru-RU" b="1" dirty="0" err="1"/>
              <a:t>Object</a:t>
            </a:r>
            <a:r>
              <a:rPr lang="ru-RU" b="1" dirty="0"/>
              <a:t> </a:t>
            </a:r>
            <a:r>
              <a:rPr lang="ru-RU" b="1" dirty="0" err="1"/>
              <a:t>Identifier</a:t>
            </a:r>
            <a:r>
              <a:rPr lang="ru-RU" b="1" dirty="0"/>
              <a:t>)</a:t>
            </a:r>
            <a:r>
              <a:rPr lang="ru-RU" dirty="0" smtClean="0"/>
              <a:t> — это уникальный цифровой адрес в виде последовательности чисел, который указывает на конкретный параметр или объект управления в сетевом устройстве.</a:t>
            </a:r>
            <a:endParaRPr lang="ru-RU" dirty="0"/>
          </a:p>
        </p:txBody>
      </p:sp>
      <p:pic>
        <p:nvPicPr>
          <p:cNvPr id="22530" name="Picture 2" descr="Пример на CMD snmpget -v:2c -c:public 192.168.1.1 1.3.6.1.2.1.1.5.0"/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72100" y="1104900"/>
            <a:ext cx="6680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705301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Компоненты </a:t>
            </a:r>
            <a:r>
              <a:rPr lang="af-ZA" b="1" dirty="0"/>
              <a:t>SNMP</a:t>
            </a:r>
            <a:endParaRPr lang="ru-RU" dirty="0"/>
          </a:p>
        </p:txBody>
      </p:sp>
      <p:pic>
        <p:nvPicPr>
          <p:cNvPr id="7" name="Объект 6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88147"/>
            <a:ext cx="10515600" cy="4026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97832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Типы сообщений </a:t>
            </a:r>
            <a:r>
              <a:rPr lang="af-ZA" dirty="0" smtClean="0"/>
              <a:t>SNMP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91075"/>
          </a:xfrm>
        </p:spPr>
        <p:txBody>
          <a:bodyPr>
            <a:normAutofit/>
          </a:bodyPr>
          <a:lstStyle/>
          <a:p>
            <a:r>
              <a:rPr lang="ru-RU" b="1" dirty="0"/>
              <a:t>Чтение:</a:t>
            </a:r>
            <a:endParaRPr lang="ru-RU" dirty="0"/>
          </a:p>
          <a:p>
            <a:pPr lvl="1"/>
            <a:r>
              <a:rPr lang="ru-RU" b="1" dirty="0" err="1"/>
              <a:t>Get</a:t>
            </a:r>
            <a:r>
              <a:rPr lang="ru-RU" b="1" dirty="0"/>
              <a:t>:</a:t>
            </a:r>
            <a:r>
              <a:rPr lang="ru-RU" dirty="0"/>
              <a:t> запрос данных.</a:t>
            </a:r>
          </a:p>
          <a:p>
            <a:pPr lvl="1"/>
            <a:r>
              <a:rPr lang="ru-RU" b="1" dirty="0" err="1"/>
              <a:t>GetNext</a:t>
            </a:r>
            <a:r>
              <a:rPr lang="ru-RU" b="1" dirty="0"/>
              <a:t>:</a:t>
            </a:r>
            <a:r>
              <a:rPr lang="ru-RU" dirty="0"/>
              <a:t> запрос следующего параметра.</a:t>
            </a:r>
          </a:p>
          <a:p>
            <a:pPr lvl="1"/>
            <a:r>
              <a:rPr lang="ru-RU" b="1" dirty="0" err="1"/>
              <a:t>GetBulk</a:t>
            </a:r>
            <a:r>
              <a:rPr lang="ru-RU" b="1" dirty="0"/>
              <a:t>:</a:t>
            </a:r>
            <a:r>
              <a:rPr lang="ru-RU" dirty="0"/>
              <a:t> запрос нескольких параметров сразу.</a:t>
            </a:r>
          </a:p>
          <a:p>
            <a:r>
              <a:rPr lang="ru-RU" b="1" dirty="0"/>
              <a:t>Запись:</a:t>
            </a:r>
            <a:endParaRPr lang="ru-RU" dirty="0"/>
          </a:p>
          <a:p>
            <a:pPr lvl="1"/>
            <a:r>
              <a:rPr lang="ru-RU" b="1" dirty="0" err="1"/>
              <a:t>Set</a:t>
            </a:r>
            <a:r>
              <a:rPr lang="ru-RU" b="1" dirty="0"/>
              <a:t>:</a:t>
            </a:r>
            <a:r>
              <a:rPr lang="ru-RU" dirty="0"/>
              <a:t> изменение данных (например, IP-адреса).</a:t>
            </a:r>
          </a:p>
          <a:p>
            <a:r>
              <a:rPr lang="ru-RU" b="1" dirty="0"/>
              <a:t>Уведомления:</a:t>
            </a:r>
            <a:endParaRPr lang="ru-RU" dirty="0"/>
          </a:p>
          <a:p>
            <a:pPr lvl="1"/>
            <a:r>
              <a:rPr lang="ru-RU" b="1" dirty="0" err="1"/>
              <a:t>Trap</a:t>
            </a:r>
            <a:r>
              <a:rPr lang="ru-RU" b="1" dirty="0"/>
              <a:t>:</a:t>
            </a:r>
            <a:r>
              <a:rPr lang="ru-RU" dirty="0"/>
              <a:t> уведомление без подтверждения.</a:t>
            </a:r>
          </a:p>
          <a:p>
            <a:pPr lvl="1"/>
            <a:r>
              <a:rPr lang="ru-RU" b="1" dirty="0"/>
              <a:t>Inform:</a:t>
            </a:r>
            <a:r>
              <a:rPr lang="ru-RU" dirty="0"/>
              <a:t> уведомление с подтверждением.</a:t>
            </a:r>
          </a:p>
          <a:p>
            <a:r>
              <a:rPr lang="ru-RU" b="1" dirty="0"/>
              <a:t>Ответы:</a:t>
            </a:r>
            <a:endParaRPr lang="ru-RU" dirty="0"/>
          </a:p>
          <a:p>
            <a:pPr lvl="1"/>
            <a:r>
              <a:rPr lang="ru-RU" dirty="0"/>
              <a:t>Ответ устройства на запросы </a:t>
            </a:r>
            <a:r>
              <a:rPr lang="ru-RU" dirty="0" err="1"/>
              <a:t>Get</a:t>
            </a:r>
            <a:r>
              <a:rPr lang="ru-RU" dirty="0"/>
              <a:t>, </a:t>
            </a:r>
            <a:r>
              <a:rPr lang="ru-RU" dirty="0" err="1"/>
              <a:t>Set</a:t>
            </a:r>
            <a:r>
              <a:rPr lang="ru-RU" dirty="0"/>
              <a:t> и Inform.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987613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Версии </a:t>
            </a:r>
            <a:r>
              <a:rPr lang="af-ZA" dirty="0" smtClean="0"/>
              <a:t>SNMP</a:t>
            </a:r>
            <a:endParaRPr lang="ru-RU" dirty="0"/>
          </a:p>
        </p:txBody>
      </p:sp>
      <p:sp>
        <p:nvSpPr>
          <p:cNvPr id="6" name="Объект 5"/>
          <p:cNvSpPr>
            <a:spLocks noGrp="1"/>
          </p:cNvSpPr>
          <p:nvPr>
            <p:ph idx="1"/>
          </p:nvPr>
        </p:nvSpPr>
        <p:spPr>
          <a:xfrm>
            <a:off x="838200" y="2143125"/>
            <a:ext cx="10515600" cy="4351338"/>
          </a:xfrm>
        </p:spPr>
        <p:txBody>
          <a:bodyPr/>
          <a:lstStyle/>
          <a:p>
            <a:r>
              <a:rPr lang="ru-RU" b="1" dirty="0"/>
              <a:t>SNMPv1:</a:t>
            </a:r>
            <a:r>
              <a:rPr lang="ru-RU" dirty="0"/>
              <a:t> базовая версия с ограниченными возможностями.</a:t>
            </a:r>
          </a:p>
          <a:p>
            <a:r>
              <a:rPr lang="ru-RU" b="1" dirty="0"/>
              <a:t>SNMPv2</a:t>
            </a:r>
            <a:r>
              <a:rPr lang="ru-RU" dirty="0"/>
              <a:t>: Почти нигде не увидите когда его создавали он был очень сложным как структура и поэтому его урезали и заменили </a:t>
            </a:r>
            <a:r>
              <a:rPr lang="ru-RU" b="1" dirty="0"/>
              <a:t>SNMPv2c</a:t>
            </a:r>
            <a:endParaRPr lang="ru-RU" dirty="0"/>
          </a:p>
          <a:p>
            <a:r>
              <a:rPr lang="ru-RU" b="1" dirty="0"/>
              <a:t>SNMPv2c:</a:t>
            </a:r>
            <a:r>
              <a:rPr lang="ru-RU" dirty="0"/>
              <a:t> улучшенная версия с поддержкой </a:t>
            </a:r>
            <a:r>
              <a:rPr lang="ru-RU" dirty="0" err="1"/>
              <a:t>community</a:t>
            </a:r>
            <a:r>
              <a:rPr lang="ru-RU" dirty="0"/>
              <a:t> </a:t>
            </a:r>
            <a:r>
              <a:rPr lang="ru-RU" dirty="0" err="1"/>
              <a:t>strings</a:t>
            </a:r>
            <a:r>
              <a:rPr lang="ru-RU" dirty="0"/>
              <a:t> (строки аутентификации).</a:t>
            </a:r>
          </a:p>
          <a:p>
            <a:r>
              <a:rPr lang="ru-RU" b="1" dirty="0"/>
              <a:t>SNMPv3:</a:t>
            </a:r>
            <a:r>
              <a:rPr lang="ru-RU" dirty="0"/>
              <a:t> самая безопасная версия с шифрованием и аутентификацией.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217605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Что ещё?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 numCol="2">
            <a:normAutofit fontScale="25000" lnSpcReduction="20000"/>
          </a:bodyPr>
          <a:lstStyle/>
          <a:p>
            <a:r>
              <a:rPr lang="af-ZA" sz="8000" b="1" dirty="0"/>
              <a:t>NETCONF</a:t>
            </a:r>
            <a:r>
              <a:rPr lang="af-ZA" sz="8000" dirty="0"/>
              <a:t> (830/tcp, </a:t>
            </a:r>
            <a:r>
              <a:rPr lang="ru-RU" sz="8000" dirty="0"/>
              <a:t>поверх </a:t>
            </a:r>
            <a:r>
              <a:rPr lang="af-ZA" sz="8000" dirty="0"/>
              <a:t>SSH) — </a:t>
            </a:r>
            <a:r>
              <a:rPr lang="ru-RU" sz="8000" dirty="0"/>
              <a:t>программная конфигурация, транзакции.</a:t>
            </a:r>
          </a:p>
          <a:p>
            <a:r>
              <a:rPr lang="af-ZA" sz="8000" b="1" dirty="0"/>
              <a:t>RESTCONF</a:t>
            </a:r>
            <a:r>
              <a:rPr lang="af-ZA" sz="8000" dirty="0"/>
              <a:t> (443/tcp) — REST-</a:t>
            </a:r>
            <a:r>
              <a:rPr lang="ru-RU" sz="8000" dirty="0"/>
              <a:t>обёртка над </a:t>
            </a:r>
            <a:r>
              <a:rPr lang="af-ZA" sz="8000" dirty="0"/>
              <a:t>YANG.</a:t>
            </a:r>
          </a:p>
          <a:p>
            <a:r>
              <a:rPr lang="af-ZA" sz="8000" b="1" dirty="0"/>
              <a:t>gNMI / gRPC</a:t>
            </a:r>
            <a:r>
              <a:rPr lang="af-ZA" sz="8000" dirty="0"/>
              <a:t> (</a:t>
            </a:r>
            <a:r>
              <a:rPr lang="ru-RU" sz="8000" dirty="0"/>
              <a:t>обычно 57400/</a:t>
            </a:r>
            <a:r>
              <a:rPr lang="af-ZA" sz="8000" dirty="0"/>
              <a:t>tcp) — </a:t>
            </a:r>
            <a:r>
              <a:rPr lang="ru-RU" sz="8000" dirty="0"/>
              <a:t>телеметрия и конфигурация.</a:t>
            </a:r>
          </a:p>
          <a:p>
            <a:r>
              <a:rPr lang="af-ZA" sz="8000" b="1" dirty="0"/>
              <a:t>TACACS+</a:t>
            </a:r>
            <a:r>
              <a:rPr lang="af-ZA" sz="8000" dirty="0"/>
              <a:t> (49/tcp) — AAA </a:t>
            </a:r>
            <a:r>
              <a:rPr lang="ru-RU" sz="8000" dirty="0"/>
              <a:t>для администрирования.</a:t>
            </a:r>
          </a:p>
          <a:p>
            <a:r>
              <a:rPr lang="af-ZA" sz="8000" b="1" dirty="0"/>
              <a:t>RADIUS</a:t>
            </a:r>
            <a:r>
              <a:rPr lang="af-ZA" sz="8000" dirty="0"/>
              <a:t> (1812/1813/udp) — AAA </a:t>
            </a:r>
            <a:r>
              <a:rPr lang="ru-RU" sz="8000" dirty="0"/>
              <a:t>для доступа в сеть.</a:t>
            </a:r>
          </a:p>
          <a:p>
            <a:r>
              <a:rPr lang="af-ZA" sz="8000" b="1" dirty="0"/>
              <a:t>Diameter</a:t>
            </a:r>
            <a:r>
              <a:rPr lang="af-ZA" sz="8000" dirty="0"/>
              <a:t> (3868/tcp, 3868/sctp) — AAA </a:t>
            </a:r>
            <a:r>
              <a:rPr lang="ru-RU" sz="8000" dirty="0"/>
              <a:t>в </a:t>
            </a:r>
            <a:r>
              <a:rPr lang="ru-RU" sz="8000" dirty="0" err="1"/>
              <a:t>телекоме</a:t>
            </a:r>
            <a:r>
              <a:rPr lang="ru-RU" sz="8000" dirty="0"/>
              <a:t>.</a:t>
            </a:r>
          </a:p>
          <a:p>
            <a:r>
              <a:rPr lang="af-ZA" sz="8000" b="1" dirty="0"/>
              <a:t>PTP</a:t>
            </a:r>
            <a:r>
              <a:rPr lang="af-ZA" sz="8000" dirty="0"/>
              <a:t> (IEEE 1588, </a:t>
            </a:r>
            <a:r>
              <a:rPr lang="ru-RU" sz="8000" dirty="0"/>
              <a:t>поверх </a:t>
            </a:r>
            <a:r>
              <a:rPr lang="af-ZA" sz="8000" dirty="0"/>
              <a:t>Ethernet/UDP) — </a:t>
            </a:r>
            <a:r>
              <a:rPr lang="ru-RU" sz="8000" dirty="0"/>
              <a:t>точная синхронизация.</a:t>
            </a:r>
          </a:p>
          <a:p>
            <a:r>
              <a:rPr lang="af-ZA" sz="8000" b="1" dirty="0"/>
              <a:t>LDAP</a:t>
            </a:r>
            <a:r>
              <a:rPr lang="af-ZA" sz="8000" dirty="0"/>
              <a:t> (389/tcp, 636 LDAPS) — </a:t>
            </a:r>
            <a:r>
              <a:rPr lang="ru-RU" sz="8000" dirty="0"/>
              <a:t>каталоги.</a:t>
            </a:r>
          </a:p>
          <a:p>
            <a:r>
              <a:rPr lang="af-ZA" sz="8000" b="1" dirty="0"/>
              <a:t>Kerberos</a:t>
            </a:r>
            <a:r>
              <a:rPr lang="af-ZA" sz="8000" dirty="0"/>
              <a:t> (88/tcp/udp) — </a:t>
            </a:r>
            <a:r>
              <a:rPr lang="ru-RU" sz="8000" dirty="0"/>
              <a:t>аутентификация.</a:t>
            </a:r>
          </a:p>
          <a:p>
            <a:r>
              <a:rPr lang="af-ZA" sz="8000" b="1" dirty="0"/>
              <a:t>Syslog</a:t>
            </a:r>
            <a:r>
              <a:rPr lang="af-ZA" sz="8000" dirty="0"/>
              <a:t> (514/udp, 6514/tcp TLS) — </a:t>
            </a:r>
            <a:r>
              <a:rPr lang="ru-RU" sz="8000" dirty="0"/>
              <a:t>сбор логов.</a:t>
            </a:r>
          </a:p>
          <a:p>
            <a:r>
              <a:rPr lang="ru-RU" sz="8000" b="1" dirty="0" err="1"/>
              <a:t>NetFlow</a:t>
            </a:r>
            <a:r>
              <a:rPr lang="ru-RU" sz="8000" b="1" dirty="0"/>
              <a:t> / IPFIX</a:t>
            </a:r>
            <a:r>
              <a:rPr lang="ru-RU" sz="8000" dirty="0"/>
              <a:t> (2055/</a:t>
            </a:r>
            <a:r>
              <a:rPr lang="ru-RU" sz="8000" dirty="0" err="1"/>
              <a:t>udp</a:t>
            </a:r>
            <a:r>
              <a:rPr lang="ru-RU" sz="8000" dirty="0"/>
              <a:t>, 4739/</a:t>
            </a:r>
            <a:r>
              <a:rPr lang="ru-RU" sz="8000" dirty="0" err="1"/>
              <a:t>udp</a:t>
            </a:r>
            <a:r>
              <a:rPr lang="ru-RU" sz="8000" dirty="0"/>
              <a:t>) — экспорт статистики трафика.</a:t>
            </a:r>
          </a:p>
          <a:p>
            <a:r>
              <a:rPr lang="ru-RU" sz="8000" b="1" dirty="0" err="1"/>
              <a:t>sFlow</a:t>
            </a:r>
            <a:r>
              <a:rPr lang="ru-RU" sz="8000" dirty="0"/>
              <a:t> (6343/</a:t>
            </a:r>
            <a:r>
              <a:rPr lang="ru-RU" sz="8000" dirty="0" err="1"/>
              <a:t>udp</a:t>
            </a:r>
            <a:r>
              <a:rPr lang="ru-RU" sz="8000" dirty="0"/>
              <a:t>) — </a:t>
            </a:r>
            <a:r>
              <a:rPr lang="ru-RU" sz="8000" dirty="0" err="1"/>
              <a:t>сэмплирование</a:t>
            </a:r>
            <a:r>
              <a:rPr lang="ru-RU" sz="8000" dirty="0"/>
              <a:t> трафика</a:t>
            </a:r>
            <a:r>
              <a:rPr lang="ru-RU" sz="8000" dirty="0" smtClean="0"/>
              <a:t>.</a:t>
            </a:r>
          </a:p>
          <a:p>
            <a:r>
              <a:rPr lang="af-ZA" sz="8000" b="1" dirty="0"/>
              <a:t>TFTP</a:t>
            </a:r>
            <a:r>
              <a:rPr lang="af-ZA" sz="8000" dirty="0"/>
              <a:t> (69/udp) — </a:t>
            </a:r>
            <a:r>
              <a:rPr lang="ru-RU" sz="8000" dirty="0"/>
              <a:t>заливка прошивок и </a:t>
            </a:r>
            <a:r>
              <a:rPr lang="ru-RU" sz="8000" dirty="0" err="1"/>
              <a:t>конфигов</a:t>
            </a:r>
            <a:r>
              <a:rPr lang="ru-RU" sz="8000" dirty="0"/>
              <a:t>.</a:t>
            </a:r>
          </a:p>
          <a:p>
            <a:r>
              <a:rPr lang="af-ZA" sz="8000" b="1" dirty="0"/>
              <a:t>FTP</a:t>
            </a:r>
            <a:r>
              <a:rPr lang="af-ZA" sz="8000" dirty="0"/>
              <a:t> (21/tcp) — legacy-</a:t>
            </a:r>
            <a:r>
              <a:rPr lang="ru-RU" sz="8000" dirty="0"/>
              <a:t>передача.</a:t>
            </a:r>
          </a:p>
          <a:p>
            <a:r>
              <a:rPr lang="af-ZA" sz="8000" b="1" dirty="0"/>
              <a:t>SFTP / SCP</a:t>
            </a:r>
            <a:r>
              <a:rPr lang="af-ZA" sz="8000" dirty="0"/>
              <a:t> (</a:t>
            </a:r>
            <a:r>
              <a:rPr lang="ru-RU" sz="8000" dirty="0"/>
              <a:t>поверх </a:t>
            </a:r>
            <a:r>
              <a:rPr lang="af-ZA" sz="8000" dirty="0"/>
              <a:t>SSH) — </a:t>
            </a:r>
            <a:r>
              <a:rPr lang="ru-RU" sz="8000" dirty="0"/>
              <a:t>безопасная передача.</a:t>
            </a:r>
          </a:p>
          <a:p>
            <a:r>
              <a:rPr lang="af-ZA" sz="8000" b="1" dirty="0"/>
              <a:t>HTTP/HTTPS</a:t>
            </a:r>
            <a:r>
              <a:rPr lang="af-ZA" sz="8000" dirty="0"/>
              <a:t> — </a:t>
            </a:r>
            <a:r>
              <a:rPr lang="ru-RU" sz="8000" dirty="0"/>
              <a:t>скачивание прошивок, веб-интерфейсы, </a:t>
            </a:r>
            <a:r>
              <a:rPr lang="af-ZA" sz="8000" dirty="0"/>
              <a:t>API.</a:t>
            </a:r>
          </a:p>
          <a:p>
            <a:r>
              <a:rPr lang="af-ZA" sz="8000" b="1" dirty="0"/>
              <a:t>SIP</a:t>
            </a:r>
            <a:r>
              <a:rPr lang="af-ZA" sz="8000" dirty="0"/>
              <a:t> (5060/5061) — VoIP-</a:t>
            </a:r>
            <a:r>
              <a:rPr lang="ru-RU" sz="8000" dirty="0"/>
              <a:t>сигнализация.</a:t>
            </a:r>
          </a:p>
          <a:p>
            <a:r>
              <a:rPr lang="af-ZA" sz="8000" b="1" dirty="0"/>
              <a:t>RTP / RTCP</a:t>
            </a:r>
            <a:r>
              <a:rPr lang="af-ZA" sz="8000" dirty="0"/>
              <a:t> — </a:t>
            </a:r>
            <a:r>
              <a:rPr lang="ru-RU" sz="8000" dirty="0" err="1"/>
              <a:t>медиапоток</a:t>
            </a:r>
            <a:r>
              <a:rPr lang="ru-RU" sz="8000" dirty="0" smtClean="0"/>
              <a:t>.</a:t>
            </a:r>
            <a:endParaRPr lang="ru-RU" sz="8000" dirty="0"/>
          </a:p>
          <a:p>
            <a:endParaRPr lang="en-US" dirty="0" smtClean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412460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4335</TotalTime>
  <Words>1425</Words>
  <Application>Microsoft Office PowerPoint</Application>
  <PresentationFormat>Широкоэкранный</PresentationFormat>
  <Paragraphs>244</Paragraphs>
  <Slides>57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57</vt:i4>
      </vt:variant>
    </vt:vector>
  </HeadingPairs>
  <TitlesOfParts>
    <vt:vector size="65" baseType="lpstr">
      <vt:lpstr>-apple-system</vt:lpstr>
      <vt:lpstr>Arial</vt:lpstr>
      <vt:lpstr>Calibri</vt:lpstr>
      <vt:lpstr>Calibri Light</vt:lpstr>
      <vt:lpstr>Consolas</vt:lpstr>
      <vt:lpstr>Fira Sans</vt:lpstr>
      <vt:lpstr>Google Sans</vt:lpstr>
      <vt:lpstr>Тема Office</vt:lpstr>
      <vt:lpstr>Уровень приложений</vt:lpstr>
      <vt:lpstr>Модель взаимодействия</vt:lpstr>
      <vt:lpstr>Система доменных имён (DNS)</vt:lpstr>
      <vt:lpstr>DNS — компьютерная распределённая система для получения информации о доменах. Чаще всего используется для получения IP-адреса по имени.</vt:lpstr>
      <vt:lpstr>DNS-зона - выделенный сегмент доменного пространства, объединяющий ресурсы под общим управлением. Это административная единица, за которую отвечает конкретный сервер (или группа серверов)</vt:lpstr>
      <vt:lpstr>Глобальная система DNS</vt:lpstr>
      <vt:lpstr>Презентация PowerPoint</vt:lpstr>
      <vt:lpstr>DNS-сервер – поддерживает распределенную базу данных. DNS-клиент – обращается к северу с запросами. Резолвер – ПО, реализующее функционал клиента.</vt:lpstr>
      <vt:lpstr>Структура доменного имени</vt:lpstr>
      <vt:lpstr>Презентация PowerPoint</vt:lpstr>
      <vt:lpstr>Смешанная схема с кэширующим сервером</vt:lpstr>
      <vt:lpstr>Ресурсные записи</vt:lpstr>
      <vt:lpstr>Ресурсные записи</vt:lpstr>
      <vt:lpstr>Ресурсные записи</vt:lpstr>
      <vt:lpstr>Ресурсные записи</vt:lpstr>
      <vt:lpstr>Ресурсные записи</vt:lpstr>
      <vt:lpstr>Взаимодействие с сервером DNS</vt:lpstr>
      <vt:lpstr>Формат DNS сообщения</vt:lpstr>
      <vt:lpstr>Заголовок DNS сообщения</vt:lpstr>
      <vt:lpstr>Секция вопросов</vt:lpstr>
      <vt:lpstr>Секция ответов</vt:lpstr>
      <vt:lpstr>Протоколы удаленного управления</vt:lpstr>
      <vt:lpstr>Telnet (TCP/23)</vt:lpstr>
      <vt:lpstr>Защита передаваемой информации</vt:lpstr>
      <vt:lpstr>Презентация PowerPoint</vt:lpstr>
      <vt:lpstr>Обмен ключами по незащищенному каналу (алгоритм Диффи-Хелмана, DH) </vt:lpstr>
      <vt:lpstr>Man-in-the-Middle</vt:lpstr>
      <vt:lpstr>Криптографическое хеширование</vt:lpstr>
      <vt:lpstr>HMAC (Hash-based Message Authentication Code)</vt:lpstr>
      <vt:lpstr>Асимметричная криптография</vt:lpstr>
      <vt:lpstr>Цифровая подпись</vt:lpstr>
      <vt:lpstr>Trust on First Use</vt:lpstr>
      <vt:lpstr>Digital Certificates</vt:lpstr>
      <vt:lpstr>Root certificate</vt:lpstr>
      <vt:lpstr>SSH (Secure Shell) – TCP/22</vt:lpstr>
      <vt:lpstr>Презентация PowerPoint</vt:lpstr>
      <vt:lpstr>Аутентификация по ключу</vt:lpstr>
      <vt:lpstr>Сервисы SSH</vt:lpstr>
      <vt:lpstr>DHCP (Dynamic Host Configuration Protocol)</vt:lpstr>
      <vt:lpstr>Режимы работы DHCP-сервера</vt:lpstr>
      <vt:lpstr>DORA (Discover, Offer, Request, Ack)</vt:lpstr>
      <vt:lpstr>DORA (Discover, Offer, Request, Ack)</vt:lpstr>
      <vt:lpstr>DORA (Discover, Offer, Request, Ack)</vt:lpstr>
      <vt:lpstr>DORA (Discover, Offer, Request, Ack)</vt:lpstr>
      <vt:lpstr>Формат DCHP сообщения</vt:lpstr>
      <vt:lpstr>DCHP опции</vt:lpstr>
      <vt:lpstr>DHCP Lease Time</vt:lpstr>
      <vt:lpstr>Презентация PowerPoint</vt:lpstr>
      <vt:lpstr>DHCPv4-ретрансляция</vt:lpstr>
      <vt:lpstr>NTP (Network Time Protocol)</vt:lpstr>
      <vt:lpstr>NTP – синхронизация времени</vt:lpstr>
      <vt:lpstr>SNMP (Simple Network Management Protocol)</vt:lpstr>
      <vt:lpstr>MIB и OID</vt:lpstr>
      <vt:lpstr>Компоненты SNMP</vt:lpstr>
      <vt:lpstr>Типы сообщений SNMP</vt:lpstr>
      <vt:lpstr>Версии SNMP</vt:lpstr>
      <vt:lpstr>Что ещё?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Уровень приложений</dc:title>
  <dc:creator>Тимур А. Нахтигаль</dc:creator>
  <cp:lastModifiedBy>Тимур А. Нахтигаль</cp:lastModifiedBy>
  <cp:revision>38</cp:revision>
  <dcterms:created xsi:type="dcterms:W3CDTF">2026-10-02T15:39:47Z</dcterms:created>
  <dcterms:modified xsi:type="dcterms:W3CDTF">2026-10-05T15:55:01Z</dcterms:modified>
</cp:coreProperties>
</file>