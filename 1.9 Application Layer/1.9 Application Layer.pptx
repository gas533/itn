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1" r:id="rId16"/>
    <p:sldId id="272" r:id="rId17"/>
    <p:sldId id="270" r:id="rId18"/>
    <p:sldId id="273" r:id="rId19"/>
    <p:sldId id="274" r:id="rId20"/>
    <p:sldId id="275" r:id="rId21"/>
    <p:sldId id="276" r:id="rId22"/>
    <p:sldId id="314" r:id="rId23"/>
    <p:sldId id="315" r:id="rId24"/>
    <p:sldId id="316" r:id="rId25"/>
    <p:sldId id="277" r:id="rId26"/>
    <p:sldId id="278" r:id="rId27"/>
    <p:sldId id="313" r:id="rId28"/>
    <p:sldId id="317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5" r:id="rId53"/>
    <p:sldId id="303" r:id="rId54"/>
    <p:sldId id="304" r:id="rId55"/>
    <p:sldId id="306" r:id="rId56"/>
    <p:sldId id="307" r:id="rId57"/>
    <p:sldId id="308" r:id="rId58"/>
    <p:sldId id="310" r:id="rId59"/>
    <p:sldId id="311" r:id="rId60"/>
    <p:sldId id="309" r:id="rId61"/>
    <p:sldId id="312" r:id="rId6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34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05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21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409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093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460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231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100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192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78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032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793A2-010F-4B7F-8BDD-EB257A174DB4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75F2B-4341-4571-9577-061D1B0C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75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Уровень приложений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23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Модель взаимодействия</a:t>
            </a:r>
            <a:endParaRPr lang="ru-RU" dirty="0"/>
          </a:p>
        </p:txBody>
      </p:sp>
      <p:pic>
        <p:nvPicPr>
          <p:cNvPr id="1030" name="Picture 6" descr="https://habrastorage.org/r/w1560/getpro/habr/upload_files/3c1/bcf/dd9/3c1bcfdd99bd0869f223fb451cdf9ec8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2767"/>
            <a:ext cx="10515600" cy="397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8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Система доменных имён (</a:t>
            </a:r>
            <a:r>
              <a:rPr lang="en-US" dirty="0" smtClean="0"/>
              <a:t>DNS)</a:t>
            </a:r>
            <a:endParaRPr lang="ru-RU" dirty="0"/>
          </a:p>
        </p:txBody>
      </p:sp>
      <p:pic>
        <p:nvPicPr>
          <p:cNvPr id="2052" name="Picture 4" descr="ARPANET | Definition, Map, Cold War, First Message, &amp; History | Britannic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46" y="1503485"/>
            <a:ext cx="5411233" cy="340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779" y="2699605"/>
            <a:ext cx="6010275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3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DNS</a:t>
            </a:r>
            <a:r>
              <a:rPr lang="en-US" sz="2800" dirty="0" smtClean="0"/>
              <a:t> </a:t>
            </a:r>
            <a:r>
              <a:rPr lang="ru-RU" sz="2800" dirty="0" smtClean="0"/>
              <a:t>— компьютерная распределённая система для получения информации о доменах. Чаще всего используется для получения IP-адреса по имени</a:t>
            </a:r>
            <a:r>
              <a:rPr lang="en-US" sz="2800" dirty="0"/>
              <a:t>.</a:t>
            </a:r>
            <a:endParaRPr lang="ru-RU" sz="28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7525" y="1848644"/>
            <a:ext cx="607695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6346" y="365125"/>
            <a:ext cx="11529646" cy="1325563"/>
          </a:xfrm>
        </p:spPr>
        <p:txBody>
          <a:bodyPr>
            <a:noAutofit/>
          </a:bodyPr>
          <a:lstStyle/>
          <a:p>
            <a:r>
              <a:rPr lang="ru-RU" sz="3200" dirty="0" smtClean="0"/>
              <a:t>DNS-зона - выделенный сегмент доменного пространства, объединяющий ресурсы под общим управлением. Это административная единица, за которую отвечает конкретный сервер (или группа серверов)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0454" y="1988940"/>
            <a:ext cx="6843346" cy="480131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66346" y="1988940"/>
            <a:ext cx="384516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Google Sans"/>
              </a:rPr>
              <a:t>Авторитетный DNS-сервер</a:t>
            </a:r>
            <a:r>
              <a:rPr lang="ru-RU" dirty="0">
                <a:latin typeface="Google Sans"/>
              </a:rPr>
              <a:t> — сервер, отвечающий за какую-либо зону.</a:t>
            </a:r>
          </a:p>
          <a:p>
            <a:endParaRPr lang="ru-RU" b="1" u="none" strike="noStrike" dirty="0" smtClean="0">
              <a:effectLst/>
              <a:latin typeface="Google Sans"/>
            </a:endParaRPr>
          </a:p>
          <a:p>
            <a:r>
              <a:rPr lang="ru-RU" b="1" u="none" strike="noStrike" dirty="0" err="1" smtClean="0">
                <a:effectLst/>
                <a:latin typeface="Google Sans"/>
              </a:rPr>
              <a:t>Master</a:t>
            </a:r>
            <a:r>
              <a:rPr lang="ru-RU" b="1" u="none" strike="noStrike" dirty="0" smtClean="0">
                <a:effectLst/>
                <a:latin typeface="Google Sans"/>
              </a:rPr>
              <a:t> (главный, первичный)</a:t>
            </a:r>
            <a:r>
              <a:rPr lang="ru-RU" b="0" u="none" strike="noStrike" dirty="0" smtClean="0">
                <a:effectLst/>
                <a:latin typeface="Google Sans"/>
              </a:rPr>
              <a:t> — авторитетный сервер, на котором создается и хранится оригинальный файл зоны домена. Один для всей зоны.</a:t>
            </a:r>
          </a:p>
          <a:p>
            <a:endParaRPr lang="ru-RU" dirty="0">
              <a:latin typeface="Google Sans"/>
            </a:endParaRPr>
          </a:p>
          <a:p>
            <a:r>
              <a:rPr lang="en-US" b="1" dirty="0" smtClean="0">
                <a:latin typeface="Google Sans"/>
              </a:rPr>
              <a:t>Slave (</a:t>
            </a:r>
            <a:r>
              <a:rPr lang="ru-RU" b="1" dirty="0" smtClean="0">
                <a:latin typeface="Google Sans"/>
              </a:rPr>
              <a:t>вторичный)</a:t>
            </a:r>
            <a:r>
              <a:rPr lang="ru-RU" dirty="0" smtClean="0">
                <a:latin typeface="Google Sans"/>
              </a:rPr>
              <a:t> – авторитетный сервер, хранит точную копию файла зоны, не имеет права на внесение изменений. В отличии от мастер-сервера, их может быть несколько.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391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Глобальная система </a:t>
            </a:r>
            <a:r>
              <a:rPr lang="en-US" dirty="0" smtClean="0"/>
              <a:t>DNS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145" y="1825625"/>
            <a:ext cx="101637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1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Доменное имя – Инструкция – База знаний JustHost.ru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675" y="140678"/>
            <a:ext cx="5822417" cy="655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274190" y="689317"/>
            <a:ext cx="5079609" cy="5487646"/>
          </a:xfrm>
        </p:spPr>
        <p:txBody>
          <a:bodyPr/>
          <a:lstStyle/>
          <a:p>
            <a:r>
              <a:rPr lang="ru-RU" dirty="0" smtClean="0"/>
              <a:t>Корень</a:t>
            </a:r>
          </a:p>
          <a:p>
            <a:endParaRPr lang="ru-RU" dirty="0"/>
          </a:p>
          <a:p>
            <a:r>
              <a:rPr lang="en-US" dirty="0" smtClean="0"/>
              <a:t>TLD (Top Level Domain)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SLD (Second Level Domain)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3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5108" y="444256"/>
            <a:ext cx="10934700" cy="2298944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DNS</a:t>
            </a:r>
            <a:r>
              <a:rPr lang="ru-RU" sz="3200" dirty="0" smtClean="0"/>
              <a:t>-сервер – поддерживает распределенную базу данных.</a:t>
            </a:r>
            <a:br>
              <a:rPr lang="ru-RU" sz="3200" dirty="0" smtClean="0"/>
            </a:br>
            <a:r>
              <a:rPr lang="en-US" sz="3200" dirty="0" smtClean="0"/>
              <a:t>DNS-</a:t>
            </a:r>
            <a:r>
              <a:rPr lang="ru-RU" sz="3200" dirty="0" smtClean="0"/>
              <a:t>клиент – обращается к северу с запросами.</a:t>
            </a:r>
            <a:br>
              <a:rPr lang="ru-RU" sz="3200" dirty="0" smtClean="0"/>
            </a:br>
            <a:r>
              <a:rPr lang="ru-RU" sz="3200" dirty="0" err="1" smtClean="0"/>
              <a:t>Резолвер</a:t>
            </a:r>
            <a:r>
              <a:rPr lang="ru-RU" sz="3200" dirty="0" smtClean="0"/>
              <a:t> – ПО, реализующее функционал клиента.</a:t>
            </a:r>
            <a:endParaRPr lang="ru-RU" sz="320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1723" y="2646483"/>
            <a:ext cx="4351500" cy="388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9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доменного имени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495226" y="510085"/>
            <a:ext cx="7872663" cy="4306413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305971" y="4327416"/>
            <a:ext cx="11609363" cy="2411009"/>
          </a:xfrm>
        </p:spPr>
        <p:txBody>
          <a:bodyPr/>
          <a:lstStyle/>
          <a:p>
            <a:r>
              <a:rPr lang="ru-RU" dirty="0" smtClean="0"/>
              <a:t>Краткое имя – имя конечного узла.</a:t>
            </a:r>
          </a:p>
          <a:p>
            <a:r>
              <a:rPr lang="en-US" dirty="0" smtClean="0"/>
              <a:t>PQDN (</a:t>
            </a:r>
            <a:r>
              <a:rPr lang="ru-RU" dirty="0" smtClean="0"/>
              <a:t>относительное имя) – составное имя, которое начинается с одного из уровней иерархии.</a:t>
            </a:r>
          </a:p>
          <a:p>
            <a:r>
              <a:rPr lang="en-US" dirty="0" smtClean="0"/>
              <a:t>FQDN (</a:t>
            </a:r>
            <a:r>
              <a:rPr lang="ru-RU" dirty="0" smtClean="0"/>
              <a:t>полное имя) – включает все уровни с краткого до корневой точки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902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idx="1"/>
          </p:nvPr>
        </p:nvSpPr>
        <p:spPr>
          <a:xfrm>
            <a:off x="839785" y="109538"/>
            <a:ext cx="5157787" cy="509440"/>
          </a:xfrm>
        </p:spPr>
        <p:txBody>
          <a:bodyPr/>
          <a:lstStyle/>
          <a:p>
            <a:pPr algn="ctr"/>
            <a:r>
              <a:rPr lang="ru-RU" dirty="0" smtClean="0"/>
              <a:t>Рекурсивные запросы</a:t>
            </a:r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3"/>
          </p:nvPr>
        </p:nvSpPr>
        <p:spPr>
          <a:xfrm>
            <a:off x="6172200" y="109538"/>
            <a:ext cx="5183188" cy="509440"/>
          </a:xfrm>
        </p:spPr>
        <p:txBody>
          <a:bodyPr/>
          <a:lstStyle/>
          <a:p>
            <a:pPr algn="ctr"/>
            <a:r>
              <a:rPr lang="ru-RU" dirty="0" smtClean="0"/>
              <a:t>Итеративные запросы</a:t>
            </a:r>
            <a:endParaRPr lang="ru-RU" dirty="0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058086" y="712060"/>
            <a:ext cx="3411415" cy="5989680"/>
          </a:xfrm>
          <a:prstGeom prst="rect">
            <a:avLst/>
          </a:prstGeom>
        </p:spPr>
      </p:pic>
      <p:pic>
        <p:nvPicPr>
          <p:cNvPr id="14" name="Объект 13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652" y="712060"/>
            <a:ext cx="5006548" cy="5984299"/>
          </a:xfrm>
        </p:spPr>
      </p:pic>
    </p:spTree>
    <p:extLst>
      <p:ext uri="{BB962C8B-B14F-4D97-AF65-F5344CB8AC3E}">
        <p14:creationId xmlns:p14="http://schemas.microsoft.com/office/powerpoint/2010/main" val="389957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838200" y="268410"/>
            <a:ext cx="10515600" cy="57565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Смешанная схема с кэширующим сервером</a:t>
            </a:r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5604" y="844062"/>
            <a:ext cx="4580792" cy="581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4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Ресурсные записи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1959512" y="2444604"/>
            <a:ext cx="8267149" cy="678424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А (</a:t>
            </a:r>
            <a:r>
              <a:rPr lang="en-US" dirty="0" smtClean="0"/>
              <a:t>address record) – IPv4 </a:t>
            </a:r>
            <a:r>
              <a:rPr lang="ru-RU" dirty="0" smtClean="0"/>
              <a:t>адрес конечного устройства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011681" y="3418449"/>
            <a:ext cx="8162812" cy="147732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;; QUESTION SECTION: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;google.com.                    IN      A</a:t>
            </a:r>
          </a:p>
          <a:p>
            <a:endParaRPr lang="en-US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;; ANSWER SECTION: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google.com.             139     IN      A       142.251.143.142</a:t>
            </a:r>
          </a:p>
        </p:txBody>
      </p:sp>
    </p:spTree>
    <p:extLst>
      <p:ext uri="{BB962C8B-B14F-4D97-AF65-F5344CB8AC3E}">
        <p14:creationId xmlns:p14="http://schemas.microsoft.com/office/powerpoint/2010/main" val="196107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Ресурсные записи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1959512" y="2444604"/>
            <a:ext cx="8267149" cy="67842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 smtClean="0"/>
              <a:t>А</a:t>
            </a:r>
            <a:r>
              <a:rPr lang="en-US" dirty="0" smtClean="0"/>
              <a:t>AAA</a:t>
            </a:r>
            <a:r>
              <a:rPr lang="ru-RU" dirty="0" smtClean="0"/>
              <a:t> (</a:t>
            </a:r>
            <a:r>
              <a:rPr lang="en-US" dirty="0" smtClean="0"/>
              <a:t>address record) – IPv6 </a:t>
            </a:r>
            <a:r>
              <a:rPr lang="ru-RU" dirty="0" smtClean="0"/>
              <a:t>адрес конечного устройства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441812" y="3446584"/>
            <a:ext cx="9302547" cy="147732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;; QUESTION SECTION: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;google.com.                    IN      AAAA</a:t>
            </a:r>
          </a:p>
          <a:p>
            <a:endParaRPr lang="en-US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;; ANSWER SECTION: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google.com.             158     IN      AAAA    2a00:1450:400f:806::200e</a:t>
            </a:r>
          </a:p>
        </p:txBody>
      </p:sp>
    </p:spTree>
    <p:extLst>
      <p:ext uri="{BB962C8B-B14F-4D97-AF65-F5344CB8AC3E}">
        <p14:creationId xmlns:p14="http://schemas.microsoft.com/office/powerpoint/2010/main" val="144249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Ресурсные записи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1441812" y="2229424"/>
            <a:ext cx="9302547" cy="6784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CNAME </a:t>
            </a:r>
            <a:r>
              <a:rPr lang="ru-RU" dirty="0" smtClean="0"/>
              <a:t>(</a:t>
            </a:r>
            <a:r>
              <a:rPr lang="en-US" dirty="0" smtClean="0"/>
              <a:t>Canonical Name) – </a:t>
            </a:r>
            <a:r>
              <a:rPr lang="ru-RU" dirty="0"/>
              <a:t> создаёт псевдоним для домена. Перенаправляет с одного доменного имени на другое.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1547" y="3446584"/>
            <a:ext cx="7023076" cy="147732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;; QUESTION SECTION: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;www.ya.ru.                     IN      CNAME</a:t>
            </a:r>
          </a:p>
          <a:p>
            <a:endParaRPr lang="en-US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;; ANSWER SECTION: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www.ya.ru.              600     IN      CNAME   ya.ru.</a:t>
            </a:r>
          </a:p>
        </p:txBody>
      </p:sp>
    </p:spTree>
    <p:extLst>
      <p:ext uri="{BB962C8B-B14F-4D97-AF65-F5344CB8AC3E}">
        <p14:creationId xmlns:p14="http://schemas.microsoft.com/office/powerpoint/2010/main" val="225125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Ресурсные записи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1441812" y="2229423"/>
            <a:ext cx="9390311" cy="10202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MX (</a:t>
            </a:r>
            <a:r>
              <a:rPr lang="ru-RU" dirty="0" err="1"/>
              <a:t>mail</a:t>
            </a:r>
            <a:r>
              <a:rPr lang="ru-RU" dirty="0"/>
              <a:t> </a:t>
            </a:r>
            <a:r>
              <a:rPr lang="ru-RU" dirty="0" err="1"/>
              <a:t>exchange</a:t>
            </a:r>
            <a:r>
              <a:rPr lang="ru-RU" dirty="0"/>
              <a:t>) - отвечает за маршрутизацию электронной почты. Указывает почтовый сервер, который будет принимать письма для домена.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615396"/>
            <a:ext cx="10695557" cy="2585323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;; QUESTION SECTION: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;gmail.com.                     IN      MX</a:t>
            </a:r>
          </a:p>
          <a:p>
            <a:endParaRPr lang="en-US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;; ANSWER SECTION: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gmail.com.              3600    IN      MX      40 alt4.gmail-smtp-in.l.google.com.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gmail.com.              3600    IN      MX      10 alt1.gmail-smtp-in.l.google.com.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gmail.com.              3600    IN      MX      20 alt2.gmail-smtp-in.l.google.com.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gmail.com.              3600    IN      MX      30 alt3.gmail-smtp-in.l.google.com.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gmail.com.              3600    IN      MX      5 gmail-smtp-in.l.google.com.</a:t>
            </a:r>
          </a:p>
        </p:txBody>
      </p:sp>
    </p:spTree>
    <p:extLst>
      <p:ext uri="{BB962C8B-B14F-4D97-AF65-F5344CB8AC3E}">
        <p14:creationId xmlns:p14="http://schemas.microsoft.com/office/powerpoint/2010/main" val="6461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Ресурсные записи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1400843" y="1464016"/>
            <a:ext cx="9390311" cy="1020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NS (</a:t>
            </a:r>
            <a:r>
              <a:rPr lang="ru-RU" dirty="0" err="1"/>
              <a:t>name</a:t>
            </a:r>
            <a:r>
              <a:rPr lang="ru-RU" dirty="0"/>
              <a:t> </a:t>
            </a:r>
            <a:r>
              <a:rPr lang="ru-RU" dirty="0" err="1"/>
              <a:t>server</a:t>
            </a:r>
            <a:r>
              <a:rPr lang="ru-RU" dirty="0"/>
              <a:t>) - Указывает, какие именно DNS-серверы отвечают (являются авторитетными) за домен.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4593" y="2653041"/>
            <a:ext cx="8162812" cy="397031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;; QUESTION SECTION: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;google.com.                    IN      NS</a:t>
            </a:r>
          </a:p>
          <a:p>
            <a:endParaRPr lang="en-US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;; ANSWER SECTION: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google.com.             20217   IN      NS      ns4.google.com.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google.com.             20217   IN      NS      ns1.google.com.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google.com.             20217   IN      NS      ns2.google.com.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google.com.             20217   IN      NS      ns3.google.com.</a:t>
            </a:r>
          </a:p>
          <a:p>
            <a:endParaRPr lang="en-US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;; ADDITIONAL SECTION: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ns1.google.com.         2455    IN      A       216.239.32.10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ns2.google.com.         20227   IN      A       216.239.34.10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ns3.google.com.         3675    IN      A       216.239.36.10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ns4.google.com.         5652    IN      A       216.239.38.10</a:t>
            </a:r>
          </a:p>
        </p:txBody>
      </p:sp>
    </p:spTree>
    <p:extLst>
      <p:ext uri="{BB962C8B-B14F-4D97-AF65-F5344CB8AC3E}">
        <p14:creationId xmlns:p14="http://schemas.microsoft.com/office/powerpoint/2010/main" val="110373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Взаимодействие с сервером </a:t>
            </a:r>
            <a:r>
              <a:rPr lang="en-US" dirty="0" smtClean="0"/>
              <a:t>DNS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830" y="2394385"/>
            <a:ext cx="6460001" cy="298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22831" y="2273592"/>
            <a:ext cx="503623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Транспорт для </a:t>
            </a:r>
            <a:r>
              <a:rPr lang="en-US" sz="2800" dirty="0" smtClean="0"/>
              <a:t>DNS:</a:t>
            </a:r>
          </a:p>
          <a:p>
            <a:pPr marL="285750" indent="-285750">
              <a:buFontTx/>
              <a:buChar char="-"/>
            </a:pPr>
            <a:r>
              <a:rPr lang="en-US" sz="2800" dirty="0" smtClean="0"/>
              <a:t>UDP/53 – </a:t>
            </a:r>
            <a:r>
              <a:rPr lang="ru-RU" sz="2800" dirty="0" smtClean="0"/>
              <a:t>основной стандарт.</a:t>
            </a:r>
          </a:p>
          <a:p>
            <a:pPr marL="285750" indent="-285750">
              <a:buFontTx/>
              <a:buChar char="-"/>
            </a:pPr>
            <a:r>
              <a:rPr lang="en-US" sz="2800" dirty="0" smtClean="0"/>
              <a:t>TCP/53 – </a:t>
            </a:r>
            <a:r>
              <a:rPr lang="ru-RU" sz="2800" dirty="0" smtClean="0"/>
              <a:t>запасной вариант для длинных ответов.</a:t>
            </a:r>
          </a:p>
          <a:p>
            <a:pPr marL="285750" indent="-285750">
              <a:buFontTx/>
              <a:buChar char="-"/>
            </a:pPr>
            <a:r>
              <a:rPr lang="en-US" sz="2800" dirty="0" smtClean="0"/>
              <a:t>TCP/853 – DNS over TLS</a:t>
            </a:r>
          </a:p>
          <a:p>
            <a:pPr marL="285750" indent="-285750">
              <a:buFontTx/>
              <a:buChar char="-"/>
            </a:pPr>
            <a:r>
              <a:rPr lang="en-US" sz="2800" dirty="0" smtClean="0"/>
              <a:t>TCP/443 – DNS over HTTPS</a:t>
            </a:r>
          </a:p>
          <a:p>
            <a:pPr marL="285750" indent="-285750">
              <a:buFontTx/>
              <a:buChar char="-"/>
            </a:pPr>
            <a:r>
              <a:rPr lang="en-US" sz="2800" dirty="0" smtClean="0"/>
              <a:t>UDP/443 – DNS over QUIC</a:t>
            </a:r>
          </a:p>
        </p:txBody>
      </p:sp>
    </p:spTree>
    <p:extLst>
      <p:ext uri="{BB962C8B-B14F-4D97-AF65-F5344CB8AC3E}">
        <p14:creationId xmlns:p14="http://schemas.microsoft.com/office/powerpoint/2010/main" val="44360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Формат</a:t>
            </a:r>
            <a:r>
              <a:rPr lang="en-US" dirty="0" smtClean="0"/>
              <a:t> DNS </a:t>
            </a:r>
            <a:r>
              <a:rPr lang="ru-RU" dirty="0" smtClean="0"/>
              <a:t>сообщения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2868"/>
            <a:ext cx="10568524" cy="410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6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Заголовок </a:t>
            </a:r>
            <a:r>
              <a:rPr lang="en-US" dirty="0" smtClean="0"/>
              <a:t>DNS </a:t>
            </a:r>
            <a:r>
              <a:rPr lang="ru-RU" dirty="0" smtClean="0"/>
              <a:t>сообщения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0376" y="1690688"/>
            <a:ext cx="7351248" cy="434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3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Секция вопросов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509" y="2096086"/>
            <a:ext cx="7110981" cy="413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1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Секция ответов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903" y="1350497"/>
            <a:ext cx="5478194" cy="534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9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5121"/>
          </a:xfrm>
        </p:spPr>
        <p:txBody>
          <a:bodyPr/>
          <a:lstStyle/>
          <a:p>
            <a:r>
              <a:rPr lang="ru-RU" dirty="0" smtClean="0"/>
              <a:t>Как потрогать </a:t>
            </a:r>
            <a:r>
              <a:rPr lang="en-US" dirty="0" smtClean="0"/>
              <a:t>DNS - </a:t>
            </a:r>
            <a:r>
              <a:rPr lang="en-US" dirty="0" err="1" smtClean="0"/>
              <a:t>nslookup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242646" y="1090246"/>
            <a:ext cx="9339205" cy="526297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C:\Users\t.nakhtigal&gt;nslookup ?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Использование: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nslookup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[-opt ...]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# 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интерактивный режим с использованием сервера по умолчанию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nslookup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[-opt ...] - server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# 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интерактивный режим с использованием сервера "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server"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nslookup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[-opt ...] host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# 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поиск узла "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host" 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с использованием сервера по умолчанию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nslookup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[-opt ...] host server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# 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поиск узла "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host" 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с использованием сервера "</a:t>
            </a:r>
            <a:r>
              <a:rPr lang="en-US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server“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C:\Users\t.nakhtigal&gt;nslookup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╤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хЁтхЁ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яю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єьюыўрэш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■:  one.one.one.one</a:t>
            </a:r>
          </a:p>
          <a:p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Address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:  1.1.1.1</a:t>
            </a:r>
          </a:p>
          <a:p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&gt; ?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Команды:   (идентификаторы отображаются в верхнем регистре, квадратные скобки "[]" обозначают необязательные параметры)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NAME            - печать сведений об узле или домене NAME с помощью сервера по умолчанию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NAME1 NAME2     - та же операция, но в качестве сервера используется NAME2</a:t>
            </a:r>
          </a:p>
          <a:p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help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?       - печать сведений о стандартных командах</a:t>
            </a:r>
          </a:p>
          <a:p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set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OPTION      - установить параметр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all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- печать параметров, текущего сервера и узла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[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no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debug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 - печать отладочных сведений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[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no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]d2              - печать полных отладочных сведений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[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no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defname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- добавить имя домена ко всем запросам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[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no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recurse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- запрос рекурсивного ответа на запрос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[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no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search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- использовать список поиска </a:t>
            </a:r>
            <a:r>
              <a:rPr lang="ru-RU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доменов</a:t>
            </a:r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4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5121"/>
          </a:xfrm>
        </p:spPr>
        <p:txBody>
          <a:bodyPr/>
          <a:lstStyle/>
          <a:p>
            <a:r>
              <a:rPr lang="ru-RU" dirty="0" smtClean="0"/>
              <a:t>Как потрогать </a:t>
            </a:r>
            <a:r>
              <a:rPr lang="en-US" dirty="0" smtClean="0"/>
              <a:t>DNS - </a:t>
            </a:r>
            <a:r>
              <a:rPr lang="en-US" dirty="0" err="1" smtClean="0"/>
              <a:t>nslookup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242646" y="1090246"/>
            <a:ext cx="9339205" cy="433965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C:\Users\t.nakhtigal&gt;nslookup google.com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╤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хЁтхЁ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:  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one.one.one.one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Address:  1.1.1.1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Не 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заслуживающий доверия ответ: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DNS request timed out.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timeout was 2 seconds.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╚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ь :     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google.com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Address:  </a:t>
            </a:r>
            <a:r>
              <a:rPr lang="en-US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142.251.142.238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C:\Users\t.nakhtigal&gt;nslookup -type=SOA google.com 8.8.8.8</a:t>
            </a:r>
          </a:p>
          <a:p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╤</a:t>
            </a:r>
            <a:r>
              <a:rPr lang="ru-RU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хЁтхЁ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:  </a:t>
            </a:r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dns.google</a:t>
            </a:r>
          </a:p>
          <a:p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Address:  8.8.8.8</a:t>
            </a:r>
          </a:p>
          <a:p>
            <a:endParaRPr lang="af-ZA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Не заслуживающий доверия ответ:</a:t>
            </a:r>
          </a:p>
          <a:p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google.com</a:t>
            </a:r>
          </a:p>
          <a:p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primary name server = ns1.google.com</a:t>
            </a:r>
          </a:p>
          <a:p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responsible mail addr = dns-admin.google.com</a:t>
            </a:r>
          </a:p>
          <a:p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serial  = 999253699</a:t>
            </a:r>
          </a:p>
          <a:p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refresh = 900 (15 mins)</a:t>
            </a:r>
          </a:p>
          <a:p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retry   = 900 (15 mins)</a:t>
            </a:r>
          </a:p>
          <a:p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expire  = 1800 (30 mins)</a:t>
            </a:r>
          </a:p>
          <a:p>
            <a:r>
              <a:rPr lang="af-ZA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default TTL = 60 (1 min)</a:t>
            </a:r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81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5121"/>
          </a:xfrm>
        </p:spPr>
        <p:txBody>
          <a:bodyPr/>
          <a:lstStyle/>
          <a:p>
            <a:r>
              <a:rPr lang="ru-RU" dirty="0" smtClean="0"/>
              <a:t>Как потрогать </a:t>
            </a:r>
            <a:r>
              <a:rPr lang="en-US" dirty="0" smtClean="0"/>
              <a:t>DNS - </a:t>
            </a:r>
            <a:r>
              <a:rPr lang="en-US" dirty="0" err="1" smtClean="0"/>
              <a:t>nslookup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242646" y="1090246"/>
            <a:ext cx="9339205" cy="563231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nakhtigal@oni-srv-2:~$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nslookup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-type=A -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norecurse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google.com ns1.google.com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Server:         ns1.google.com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Address:        216.239.32.10#53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Name:   google.com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Address: 172.217.19.238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nakhtigal@oni-srv-2:~$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nslookup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-type=A google.com 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Server:         127.0.0.53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Address:        127.0.0.53#53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Non-authoritative answer: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Name:   google.com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Address: </a:t>
            </a:r>
            <a:r>
              <a:rPr lang="en-US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173.194.73.100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nakhtigal@oni-srv-2:~$ dig @80.79.176.2 google.com MX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 &lt;&lt;&gt;&gt;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DiG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9.18.39-0ubuntu0.24.04.7-Ubuntu &lt;&lt;&gt;&gt; @80.79.176.2 google.com MX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 (1 server found)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;; global options: +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cmd</a:t>
            </a:r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;; Got answer: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;; -&gt;&gt;HEADER&lt;&lt;- opcode: QUERY, status: NOERROR, id: 49502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;; flags: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qr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rd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ra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 QUERY: 1, ANSWER: 1, AUTHORITY: 0, ADDITIONAL: 1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;; OPT PSEUDOSECTION: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 EDNS: version: 0, flags:;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udp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: 1232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 COOKIE: 10c62364156f4cc7010000006acfbb20a1e3ec26e4daf5f2 (good)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;; QUESTION SECTION: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;google.com.                    IN      MX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59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Протоколы удаленного управления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927" y="2138290"/>
            <a:ext cx="11476146" cy="372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2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Telnet (TCP/23)</a:t>
            </a:r>
            <a:endParaRPr lang="ru-RU" dirty="0"/>
          </a:p>
        </p:txBody>
      </p:sp>
      <p:pic>
        <p:nvPicPr>
          <p:cNvPr id="6146" name="Picture 2" descr="Что такое Telnet? Полное руководство по протоколу Telne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679" y="1434905"/>
            <a:ext cx="9147756" cy="514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29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Telnet (TCP/23)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1290" y="1550011"/>
            <a:ext cx="6149419" cy="505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7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5121"/>
          </a:xfrm>
        </p:spPr>
        <p:txBody>
          <a:bodyPr/>
          <a:lstStyle/>
          <a:p>
            <a:r>
              <a:rPr lang="en-US" dirty="0" smtClean="0"/>
              <a:t>telnet </a:t>
            </a:r>
            <a:r>
              <a:rPr lang="ru-RU" dirty="0" smtClean="0"/>
              <a:t>чтобы проверить </a:t>
            </a:r>
            <a:r>
              <a:rPr lang="en-US" dirty="0" smtClean="0"/>
              <a:t>TCP </a:t>
            </a:r>
            <a:r>
              <a:rPr lang="ru-RU" dirty="0" smtClean="0"/>
              <a:t>порт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242646" y="1090246"/>
            <a:ext cx="9339205" cy="563231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C:\Users\t.nakhtigal&gt;telnet 31.10.10.148 </a:t>
            </a:r>
            <a:r>
              <a:rPr lang="en-US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80</a:t>
            </a:r>
            <a:endParaRPr lang="ru-RU" sz="12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ru-RU" sz="12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HTTP/1.1 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400 Bad Request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Server: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nginx</a:t>
            </a:r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Date: Wed, 14 Oct 2026 17:31:25 GMT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Content-Type: text/html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Content-Length: 150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Connection: close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&lt;head&gt;&lt;title&gt;400 Bad Request&lt;/title&gt;&lt;/head&gt;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&lt;body&gt;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&lt;center&gt;&lt;h1&gt;400 Bad Request&lt;/h1&gt;&lt;/center&gt;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hr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&gt;&lt;center&gt;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nginx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&lt;/center&gt;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&lt;/html&gt;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Подключение к узлу утеряно.</a:t>
            </a:r>
          </a:p>
          <a:p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C:\Users\t.nakhtigal</a:t>
            </a:r>
            <a:r>
              <a:rPr lang="en-US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  <a:endParaRPr lang="ru-RU" sz="12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C:\Users\t.nakhtigal&gt;telnet 80.79.176.5 </a:t>
            </a:r>
            <a:r>
              <a:rPr lang="en-US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1720</a:t>
            </a:r>
            <a:endParaRPr lang="ru-RU" sz="12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♥☻А☻АГ~↔АС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J☻☺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♥♥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Подключение к узлу утеряно.</a:t>
            </a:r>
          </a:p>
          <a:p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C:\Users\t.nakhtigal&gt;</a:t>
            </a:r>
          </a:p>
        </p:txBody>
      </p:sp>
    </p:spTree>
    <p:extLst>
      <p:ext uri="{BB962C8B-B14F-4D97-AF65-F5344CB8AC3E}">
        <p14:creationId xmlns:p14="http://schemas.microsoft.com/office/powerpoint/2010/main" val="153332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64594" cy="830629"/>
          </a:xfrm>
        </p:spPr>
        <p:txBody>
          <a:bodyPr>
            <a:normAutofit/>
          </a:bodyPr>
          <a:lstStyle/>
          <a:p>
            <a:r>
              <a:rPr lang="ru-RU" dirty="0" smtClean="0"/>
              <a:t>Защита передаваемой информации</a:t>
            </a:r>
            <a:endParaRPr lang="ru-RU" dirty="0"/>
          </a:p>
        </p:txBody>
      </p:sp>
      <p:pic>
        <p:nvPicPr>
          <p:cNvPr id="7170" name="Picture 2" descr="Составляющие информационной безопасности - Информационная безопасность и защита  информации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72" y="1324829"/>
            <a:ext cx="5421923" cy="529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06904" y="1280160"/>
            <a:ext cx="596470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Аутентификация — стороны должны убедиться в легитимности друг друга.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Конфиденциальность (приватность) — информация должна быть изменена таким образом, чтобы прочитать её могли только легитимные стороны обмена.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Целостность — нужно убедиться, что в процессе передачи информация не была </a:t>
            </a:r>
            <a:r>
              <a:rPr lang="ru-RU" sz="2800" dirty="0" err="1" smtClean="0"/>
              <a:t>несанкционировано</a:t>
            </a:r>
            <a:r>
              <a:rPr lang="ru-RU" sz="2800" dirty="0" smtClean="0"/>
              <a:t> </a:t>
            </a:r>
            <a:r>
              <a:rPr lang="ru-RU" sz="2800" dirty="0"/>
              <a:t>изменена.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111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Криптография простым языком: разбираем симметричное и асимметричное  шифрование на примере сюжета Звездных войн (Updated) / Хаб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855" y="2963280"/>
            <a:ext cx="6321668" cy="355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728111" y="2963280"/>
            <a:ext cx="394807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Можно: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AES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ChaCha20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«Кузнечик</a:t>
            </a:r>
            <a:r>
              <a:rPr lang="ru-RU" sz="2800" dirty="0" smtClean="0"/>
              <a:t>»</a:t>
            </a:r>
            <a:endParaRPr lang="ru-RU" sz="2800" dirty="0"/>
          </a:p>
          <a:p>
            <a:r>
              <a:rPr lang="ru-RU" sz="2800" dirty="0" smtClean="0"/>
              <a:t>Нельзя: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DES</a:t>
            </a:r>
            <a:r>
              <a:rPr lang="ru-RU" sz="2800" dirty="0" smtClean="0"/>
              <a:t> (</a:t>
            </a:r>
            <a:r>
              <a:rPr lang="en-US" sz="2800" dirty="0" smtClean="0"/>
              <a:t>3DES</a:t>
            </a:r>
            <a:r>
              <a:rPr lang="ru-RU" sz="2800" dirty="0" smtClean="0"/>
              <a:t>)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RC4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Blowfish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83931" y="210905"/>
            <a:ext cx="1141534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Симметричное шифрование — </a:t>
            </a:r>
            <a:r>
              <a:rPr lang="ru-RU" dirty="0"/>
              <a:t>это способ защиты информации, при котором для шифрования </a:t>
            </a:r>
            <a:r>
              <a:rPr lang="ru-RU" dirty="0"/>
              <a:t>и </a:t>
            </a:r>
            <a:r>
              <a:rPr lang="ru-RU" dirty="0"/>
              <a:t>расшифровки </a:t>
            </a:r>
            <a:r>
              <a:rPr lang="ru-RU" dirty="0"/>
              <a:t>используется </a:t>
            </a:r>
            <a:r>
              <a:rPr lang="ru-RU" dirty="0"/>
              <a:t>один и тот же секретный ключ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 smtClean="0"/>
              <a:t>Высокая </a:t>
            </a:r>
            <a:r>
              <a:rPr lang="ru-RU" dirty="0"/>
              <a:t>скорость: </a:t>
            </a:r>
            <a:r>
              <a:rPr lang="ru-RU" dirty="0" smtClean="0"/>
              <a:t>Алгоритмы </a:t>
            </a:r>
            <a:r>
              <a:rPr lang="ru-RU" dirty="0"/>
              <a:t>работают очень быстро и отлично подходят для шифрования больших объемов </a:t>
            </a:r>
            <a:r>
              <a:rPr lang="ru-RU" dirty="0" smtClean="0"/>
              <a:t>данных.</a:t>
            </a:r>
          </a:p>
          <a:p>
            <a:pPr marL="285750" indent="-285750">
              <a:buFontTx/>
              <a:buChar char="-"/>
            </a:pPr>
            <a:r>
              <a:rPr lang="ru-RU" dirty="0"/>
              <a:t>Один ключ на двоих: И отправитель, и получатель должны знать этот секретный ключ заранее и держать его в строгой тайне</a:t>
            </a:r>
            <a:r>
              <a:rPr lang="ru-RU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ru-RU" dirty="0"/>
              <a:t>Проблема передачи ключа: Главная сложность — безопасно передать этот ключ второй стороне так, чтобы его не перехватили злоумышленники.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994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1016" y="111906"/>
            <a:ext cx="11774658" cy="1325563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Обмен ключами по незащищенному каналу (алгоритм </a:t>
            </a:r>
            <a:r>
              <a:rPr lang="ru-RU" sz="3200" dirty="0" err="1" smtClean="0"/>
              <a:t>Диффи-Хелмана</a:t>
            </a:r>
            <a:r>
              <a:rPr lang="ru-RU" sz="3200" dirty="0" smtClean="0"/>
              <a:t>, </a:t>
            </a:r>
            <a:r>
              <a:rPr lang="en-US" sz="3200" dirty="0" smtClean="0"/>
              <a:t>DH)</a:t>
            </a:r>
            <a:r>
              <a:rPr lang="ru-RU" sz="3200" dirty="0" smtClean="0"/>
              <a:t> </a:t>
            </a:r>
            <a:endParaRPr lang="ru-RU" sz="3200" dirty="0"/>
          </a:p>
        </p:txBody>
      </p:sp>
      <p:pic>
        <p:nvPicPr>
          <p:cNvPr id="9218" name="Picture 2" descr="Diffie–Hellman key exchange - Wikipedi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059" y="859229"/>
            <a:ext cx="6839178" cy="599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95133" y="2980592"/>
            <a:ext cx="366081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Сегодня применяются: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ECDH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ML-KEM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9582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Man-in-the-Middle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3814" y="1690688"/>
            <a:ext cx="5664371" cy="480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6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268409"/>
            <a:ext cx="11505956" cy="1325563"/>
          </a:xfrm>
        </p:spPr>
        <p:txBody>
          <a:bodyPr>
            <a:noAutofit/>
          </a:bodyPr>
          <a:lstStyle/>
          <a:p>
            <a:r>
              <a:rPr lang="ru-RU" sz="3200" dirty="0"/>
              <a:t>Криптографическая хеш-функция - это математический алгоритм, который отображает данные произвольного размера в битовый массив фиксированного размера.</a:t>
            </a:r>
            <a:endParaRPr lang="ru-RU" sz="3200" dirty="0"/>
          </a:p>
        </p:txBody>
      </p:sp>
      <p:pic>
        <p:nvPicPr>
          <p:cNvPr id="11268" name="Picture 4" descr="Что такое хеш-функция и как работают алгоритмы хеширования / Skillbox Medi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02" y="2050708"/>
            <a:ext cx="838633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450715" y="2686929"/>
            <a:ext cx="190308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Можно: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SHA-256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SHA-3</a:t>
            </a:r>
          </a:p>
          <a:p>
            <a:r>
              <a:rPr lang="ru-RU" sz="2800" dirty="0" smtClean="0"/>
              <a:t>Нельзя: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SHA-1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MD5</a:t>
            </a:r>
            <a:endParaRPr lang="ru-RU" sz="2800" dirty="0"/>
          </a:p>
        </p:txBody>
      </p:sp>
      <p:sp>
        <p:nvSpPr>
          <p:cNvPr id="5" name="AutoShape 6" descr="How to use HMAC in Python? - The Security Budd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2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65125"/>
            <a:ext cx="11731625" cy="1325563"/>
          </a:xfrm>
        </p:spPr>
        <p:txBody>
          <a:bodyPr/>
          <a:lstStyle/>
          <a:p>
            <a:r>
              <a:rPr lang="en-US" dirty="0" smtClean="0"/>
              <a:t>HMAC </a:t>
            </a:r>
            <a:r>
              <a:rPr lang="af-ZA" dirty="0" smtClean="0"/>
              <a:t>(</a:t>
            </a:r>
            <a:r>
              <a:rPr lang="af-ZA" dirty="0"/>
              <a:t>Hash-based Message Authentication Code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5" name="AutoShape 6" descr="How to use HMAC in Python? - The Security Budd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290" name="Picture 2" descr="Важность HMAC в безопасности приложений для веб-приложений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193" y="2182151"/>
            <a:ext cx="6567161" cy="369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07975" y="2182151"/>
            <a:ext cx="487069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latin typeface="Google Sans Flex"/>
              </a:rPr>
              <a:t>HMAC</a:t>
            </a:r>
            <a:r>
              <a:rPr lang="ru-RU" sz="2800" dirty="0" smtClean="0"/>
              <a:t>— </a:t>
            </a:r>
            <a:r>
              <a:rPr lang="ru-RU" sz="2800" dirty="0"/>
              <a:t>это криптографический инструмент, который использует секретный ключ в сочетании с </a:t>
            </a:r>
            <a:r>
              <a:rPr lang="ru-RU" sz="2800" dirty="0" smtClean="0"/>
              <a:t>хеш-функцией </a:t>
            </a:r>
            <a:r>
              <a:rPr lang="ru-RU" sz="2800" dirty="0"/>
              <a:t>для проверки целостности и подлинности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95582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6335" y="0"/>
            <a:ext cx="10515600" cy="1325563"/>
          </a:xfrm>
        </p:spPr>
        <p:txBody>
          <a:bodyPr/>
          <a:lstStyle/>
          <a:p>
            <a:r>
              <a:rPr lang="ru-RU" dirty="0"/>
              <a:t>А</a:t>
            </a:r>
            <a:r>
              <a:rPr lang="ru-RU" dirty="0" smtClean="0"/>
              <a:t>симметричная криптография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1" y="1170389"/>
            <a:ext cx="6428935" cy="2416873"/>
          </a:xfrm>
          <a:prstGeom prst="rect">
            <a:avLst/>
          </a:prstGeom>
        </p:spPr>
      </p:pic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97415" y="3826413"/>
            <a:ext cx="6255434" cy="289961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621780" y="1767435"/>
            <a:ext cx="53310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Асимметричная </a:t>
            </a:r>
            <a:r>
              <a:rPr lang="ru-RU" dirty="0"/>
              <a:t>криптография — </a:t>
            </a:r>
            <a:r>
              <a:rPr lang="ru-RU" dirty="0"/>
              <a:t>это метод шифрования, в котором используется пара из двух разных, но математически связанных ключей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66466" y="394763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Открытый ключ (публичный) — доступен всем и используется для шифрования данных или проверки цифровой подписи. </a:t>
            </a:r>
            <a:r>
              <a:rPr lang="ru-RU" dirty="0"/>
              <a:t>Его можно свободно передавать по незащищенным </a:t>
            </a:r>
            <a:r>
              <a:rPr lang="ru-RU" dirty="0"/>
              <a:t>каналам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Закрытый ключ (приватный)- </a:t>
            </a:r>
            <a:r>
              <a:rPr lang="ru-RU" dirty="0"/>
              <a:t>хранится в строжайшем секрете владельцем и используется для расшифровки данных или создания цифровой подписи.</a:t>
            </a:r>
          </a:p>
        </p:txBody>
      </p:sp>
    </p:spTree>
    <p:extLst>
      <p:ext uri="{BB962C8B-B14F-4D97-AF65-F5344CB8AC3E}">
        <p14:creationId xmlns:p14="http://schemas.microsoft.com/office/powerpoint/2010/main" val="254394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358"/>
          </a:xfrm>
        </p:spPr>
        <p:txBody>
          <a:bodyPr/>
          <a:lstStyle/>
          <a:p>
            <a:r>
              <a:rPr lang="ru-RU" dirty="0" smtClean="0"/>
              <a:t>Цифровая подпись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19100" y="2859625"/>
            <a:ext cx="3898900" cy="174598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ECDSA</a:t>
            </a:r>
            <a:endParaRPr lang="ru-RU" sz="2400" dirty="0" smtClean="0"/>
          </a:p>
          <a:p>
            <a:r>
              <a:rPr lang="en-US" sz="2400" dirty="0" smtClean="0"/>
              <a:t>RSA (</a:t>
            </a:r>
            <a:r>
              <a:rPr lang="ru-RU" sz="2400" dirty="0" smtClean="0"/>
              <a:t>ключ не менее 2048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DSA</a:t>
            </a:r>
            <a:r>
              <a:rPr lang="ru-RU" sz="2400" dirty="0" smtClean="0"/>
              <a:t> (устарел)</a:t>
            </a:r>
            <a:endParaRPr lang="en-US" sz="2400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262" y="1672162"/>
            <a:ext cx="7969738" cy="465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31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Trust on First Use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4885" y="1690688"/>
            <a:ext cx="6582229" cy="479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1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Digital </a:t>
            </a:r>
            <a:r>
              <a:rPr lang="af-ZA" dirty="0" smtClean="0"/>
              <a:t>Certificates</a:t>
            </a:r>
            <a:r>
              <a:rPr lang="ru-RU" dirty="0" smtClean="0"/>
              <a:t> </a:t>
            </a:r>
            <a:r>
              <a:rPr lang="en-US" dirty="0" smtClean="0"/>
              <a:t>and </a:t>
            </a:r>
            <a:r>
              <a:rPr lang="en-US" dirty="0" smtClean="0"/>
              <a:t>Root </a:t>
            </a:r>
            <a:r>
              <a:rPr lang="en-US" dirty="0" smtClean="0"/>
              <a:t>certificate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5750" y="1550988"/>
            <a:ext cx="9080500" cy="509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6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SSH (Secure Shell) – TCP/22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13591"/>
            <a:ext cx="5181600" cy="3375405"/>
          </a:xfrm>
          <a:prstGeom prst="rect">
            <a:avLst/>
          </a:prstGeom>
        </p:spPr>
      </p:pic>
      <p:pic>
        <p:nvPicPr>
          <p:cNvPr id="3076" name="Picture 4" descr="Иконка SSH в стиле Cute Outline в PNG, SV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63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5409" y="-168812"/>
            <a:ext cx="8253046" cy="713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6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Аутентификация по ключу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8389" y="1383848"/>
            <a:ext cx="8855222" cy="50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1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Сервисы </a:t>
            </a:r>
            <a:r>
              <a:rPr lang="en-US" dirty="0" smtClean="0"/>
              <a:t>SSH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Удаленный </a:t>
            </a:r>
            <a:r>
              <a:rPr lang="en-US" dirty="0" smtClean="0"/>
              <a:t>CLI</a:t>
            </a:r>
            <a:r>
              <a:rPr lang="ru-RU" dirty="0" smtClean="0"/>
              <a:t>-доступ и запуск команд</a:t>
            </a:r>
          </a:p>
          <a:p>
            <a:r>
              <a:rPr lang="ru-RU" dirty="0" smtClean="0"/>
              <a:t>Безопасная передача файлов (</a:t>
            </a:r>
            <a:r>
              <a:rPr lang="en-US" dirty="0" smtClean="0"/>
              <a:t>SFTP </a:t>
            </a:r>
            <a:r>
              <a:rPr lang="ru-RU" dirty="0" smtClean="0"/>
              <a:t>и </a:t>
            </a:r>
            <a:r>
              <a:rPr lang="en-US" dirty="0" smtClean="0"/>
              <a:t>SCP)</a:t>
            </a:r>
          </a:p>
          <a:p>
            <a:r>
              <a:rPr lang="ru-RU" dirty="0" err="1" smtClean="0"/>
              <a:t>Туннелирование</a:t>
            </a:r>
            <a:r>
              <a:rPr lang="ru-RU" dirty="0" smtClean="0"/>
              <a:t> и перенаправление портов</a:t>
            </a:r>
            <a:r>
              <a:rPr lang="en-US" dirty="0" smtClean="0"/>
              <a:t>:</a:t>
            </a:r>
          </a:p>
          <a:p>
            <a:pPr lvl="1"/>
            <a:r>
              <a:rPr lang="ru-RU" dirty="0" smtClean="0"/>
              <a:t>Локальное (</a:t>
            </a:r>
            <a:r>
              <a:rPr lang="en-US" dirty="0" smtClean="0"/>
              <a:t>Local Forwarding). </a:t>
            </a:r>
            <a:r>
              <a:rPr lang="ru-RU" dirty="0" smtClean="0"/>
              <a:t>Проброс порта с локальной машины на удаленный сервер (безопасный доступ к приложению на удалённой машине).</a:t>
            </a:r>
          </a:p>
          <a:p>
            <a:pPr lvl="1"/>
            <a:r>
              <a:rPr lang="ru-RU" dirty="0" smtClean="0"/>
              <a:t>Удаленное (</a:t>
            </a:r>
            <a:r>
              <a:rPr lang="en-US" dirty="0" smtClean="0"/>
              <a:t>Remote Forwarding). </a:t>
            </a:r>
            <a:r>
              <a:rPr lang="ru-RU" dirty="0" smtClean="0"/>
              <a:t>Проброс удаленного порта на локальную машину (публикация локального сервиса через удаленную машину).</a:t>
            </a:r>
          </a:p>
          <a:p>
            <a:r>
              <a:rPr lang="ru-RU" dirty="0" smtClean="0"/>
              <a:t>Запуск графических приложений (</a:t>
            </a:r>
            <a:r>
              <a:rPr lang="en-US" dirty="0" smtClean="0"/>
              <a:t>X11 Forwarding</a:t>
            </a:r>
            <a:r>
              <a:rPr lang="ru-RU" dirty="0" smtClean="0"/>
              <a:t>)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448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DHCP (Dynamic Host Configuration Protocol</a:t>
            </a:r>
            <a:r>
              <a:rPr lang="en-US" dirty="0" smtClean="0"/>
              <a:t>) - </a:t>
            </a:r>
            <a:r>
              <a:rPr lang="ru-RU" dirty="0"/>
              <a:t>динамически назначает адреса IPv4 и другую информацию о конфигурации сети.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7614"/>
            <a:ext cx="10515600" cy="420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6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Режимы работы </a:t>
            </a:r>
            <a:r>
              <a:rPr lang="en-US" dirty="0" smtClean="0"/>
              <a:t>DHCP</a:t>
            </a:r>
            <a:r>
              <a:rPr lang="ru-RU" dirty="0" smtClean="0"/>
              <a:t>-сервера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/>
              <a:t>Ручное распределение</a:t>
            </a:r>
            <a:r>
              <a:rPr lang="ru-RU" sz="3200" dirty="0" smtClean="0"/>
              <a:t> (</a:t>
            </a:r>
            <a:r>
              <a:rPr lang="af-ZA" sz="3200" dirty="0" smtClean="0"/>
              <a:t>Manual Allocation / Static</a:t>
            </a:r>
            <a:r>
              <a:rPr lang="ru-RU" sz="3200" dirty="0" smtClean="0"/>
              <a:t>) – администратор вручную привязывает </a:t>
            </a:r>
            <a:r>
              <a:rPr lang="en-US" sz="3200" dirty="0" smtClean="0"/>
              <a:t>IP</a:t>
            </a:r>
            <a:r>
              <a:rPr lang="ru-RU" sz="3200" dirty="0" smtClean="0"/>
              <a:t>-адрес к </a:t>
            </a:r>
            <a:r>
              <a:rPr lang="en-US" sz="3200" dirty="0" smtClean="0"/>
              <a:t>MAC</a:t>
            </a:r>
            <a:r>
              <a:rPr lang="ru-RU" sz="3200" dirty="0" smtClean="0"/>
              <a:t>-адресу.</a:t>
            </a:r>
          </a:p>
          <a:p>
            <a:r>
              <a:rPr lang="ru-RU" sz="3200" b="1" dirty="0" smtClean="0"/>
              <a:t>Автоматическое распределение</a:t>
            </a:r>
            <a:r>
              <a:rPr lang="ru-RU" sz="3200" dirty="0" smtClean="0"/>
              <a:t> (</a:t>
            </a:r>
            <a:r>
              <a:rPr lang="af-ZA" sz="3200" dirty="0" smtClean="0"/>
              <a:t>Automatic Allocation</a:t>
            </a:r>
            <a:r>
              <a:rPr lang="ru-RU" sz="3200" dirty="0" smtClean="0"/>
              <a:t>) – сервер навсегда закрепляет за </a:t>
            </a:r>
            <a:r>
              <a:rPr lang="en-US" sz="3200" dirty="0" smtClean="0"/>
              <a:t>MAC-</a:t>
            </a:r>
            <a:r>
              <a:rPr lang="ru-RU" sz="3200" dirty="0" smtClean="0"/>
              <a:t>адресом свободный </a:t>
            </a:r>
            <a:r>
              <a:rPr lang="en-US" sz="3200" dirty="0" smtClean="0"/>
              <a:t>IP</a:t>
            </a:r>
            <a:r>
              <a:rPr lang="ru-RU" sz="3200" dirty="0" smtClean="0"/>
              <a:t>-адрес. Отсутствует понятие аренды.</a:t>
            </a:r>
          </a:p>
          <a:p>
            <a:r>
              <a:rPr lang="ru-RU" sz="3200" b="1" dirty="0" smtClean="0"/>
              <a:t>Динамическое распределение</a:t>
            </a:r>
            <a:r>
              <a:rPr lang="ru-RU" sz="3200" dirty="0" smtClean="0"/>
              <a:t> (</a:t>
            </a:r>
            <a:r>
              <a:rPr lang="af-ZA" sz="3200" dirty="0" smtClean="0"/>
              <a:t>Dynamic Allocation</a:t>
            </a:r>
            <a:r>
              <a:rPr lang="ru-RU" sz="3200" dirty="0" smtClean="0"/>
              <a:t>) – сервер выделяет </a:t>
            </a:r>
            <a:r>
              <a:rPr lang="en-US" sz="3200" dirty="0" smtClean="0"/>
              <a:t>IP-</a:t>
            </a:r>
            <a:r>
              <a:rPr lang="ru-RU" sz="3200" dirty="0" smtClean="0"/>
              <a:t>адрес из заданного полу на ограниченное время аренды (</a:t>
            </a:r>
            <a:r>
              <a:rPr lang="en-US" sz="3200" dirty="0" smtClean="0"/>
              <a:t>lease time).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474442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DORA (Discover, Offer, Request, </a:t>
            </a:r>
            <a:r>
              <a:rPr lang="en-US" dirty="0" err="1" smtClean="0"/>
              <a:t>Ack</a:t>
            </a:r>
            <a:r>
              <a:rPr lang="en-US" dirty="0" smtClean="0"/>
              <a:t>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3444" y="810101"/>
            <a:ext cx="8645112" cy="604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87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DORA (Discover, Offer, Request, </a:t>
            </a:r>
            <a:r>
              <a:rPr lang="en-US" dirty="0" err="1" smtClean="0"/>
              <a:t>Ack</a:t>
            </a:r>
            <a:r>
              <a:rPr lang="en-US" dirty="0" smtClean="0"/>
              <a:t>)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9138" y="1008264"/>
            <a:ext cx="8393723" cy="584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3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DORA (Discover, Offer, Request, </a:t>
            </a:r>
            <a:r>
              <a:rPr lang="en-US" dirty="0" err="1" smtClean="0"/>
              <a:t>Ack</a:t>
            </a:r>
            <a:r>
              <a:rPr lang="en-US" dirty="0" smtClean="0"/>
              <a:t>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2726" y="1005432"/>
            <a:ext cx="8426547" cy="585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74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DORA (Discover, Offer, Request, </a:t>
            </a:r>
            <a:r>
              <a:rPr lang="en-US" dirty="0" err="1" smtClean="0"/>
              <a:t>Ack</a:t>
            </a:r>
            <a:r>
              <a:rPr lang="en-US" dirty="0" smtClean="0"/>
              <a:t>)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997" y="943568"/>
            <a:ext cx="8314006" cy="580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7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5492" y="787157"/>
            <a:ext cx="3339905" cy="59147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Формат </a:t>
            </a:r>
            <a:r>
              <a:rPr lang="en-US" dirty="0" smtClean="0"/>
              <a:t>DCHP</a:t>
            </a:r>
            <a:r>
              <a:rPr lang="ru-RU" dirty="0" smtClean="0"/>
              <a:t> сообщения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7134" y="221907"/>
            <a:ext cx="6724866" cy="64853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5492" y="2098387"/>
            <a:ext cx="51916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/>
              <a:t>ciaddr</a:t>
            </a:r>
            <a:r>
              <a:rPr lang="en-US" sz="2800" dirty="0" smtClean="0"/>
              <a:t> – </a:t>
            </a:r>
            <a:r>
              <a:rPr lang="ru-RU" sz="2800" dirty="0" smtClean="0"/>
              <a:t>текущий </a:t>
            </a:r>
            <a:r>
              <a:rPr lang="en-US" sz="2800" dirty="0" smtClean="0"/>
              <a:t>IP</a:t>
            </a:r>
            <a:r>
              <a:rPr lang="ru-RU" sz="2800" dirty="0" smtClean="0"/>
              <a:t> адрес клиента</a:t>
            </a:r>
            <a:r>
              <a:rPr lang="en-US" sz="2800" dirty="0" smtClean="0"/>
              <a:t>.</a:t>
            </a:r>
          </a:p>
          <a:p>
            <a:r>
              <a:rPr lang="en-US" sz="2800" b="1" dirty="0" err="1" smtClean="0"/>
              <a:t>yiaddr</a:t>
            </a:r>
            <a:r>
              <a:rPr lang="en-US" sz="2800" b="1" dirty="0" smtClean="0"/>
              <a:t> </a:t>
            </a:r>
            <a:r>
              <a:rPr lang="en-US" sz="2800" dirty="0" smtClean="0"/>
              <a:t>- </a:t>
            </a:r>
            <a:r>
              <a:rPr lang="af-ZA" sz="2800" dirty="0" smtClean="0"/>
              <a:t>IP-</a:t>
            </a:r>
            <a:r>
              <a:rPr lang="ru-RU" sz="2800" dirty="0" smtClean="0"/>
              <a:t>адрес, предлагаемый </a:t>
            </a:r>
            <a:r>
              <a:rPr lang="af-ZA" sz="2800" dirty="0" smtClean="0"/>
              <a:t>DHCP-</a:t>
            </a:r>
            <a:r>
              <a:rPr lang="ru-RU" sz="2800" dirty="0" smtClean="0"/>
              <a:t>сервером клиенту.</a:t>
            </a:r>
          </a:p>
          <a:p>
            <a:r>
              <a:rPr lang="en-US" sz="2800" b="1" dirty="0" err="1" smtClean="0"/>
              <a:t>giaddr</a:t>
            </a:r>
            <a:r>
              <a:rPr lang="en-US" sz="2800" b="1" dirty="0" smtClean="0"/>
              <a:t> </a:t>
            </a:r>
            <a:r>
              <a:rPr lang="en-US" sz="2800" dirty="0" smtClean="0"/>
              <a:t>- IP</a:t>
            </a:r>
            <a:r>
              <a:rPr lang="ru-RU" sz="2800" dirty="0" smtClean="0"/>
              <a:t> адрес ретранслятор, передавшего </a:t>
            </a:r>
            <a:r>
              <a:rPr lang="en-US" sz="2800" dirty="0" smtClean="0"/>
              <a:t>DCHP</a:t>
            </a:r>
            <a:r>
              <a:rPr lang="ru-RU" sz="2800" dirty="0" smtClean="0"/>
              <a:t> сообщение</a:t>
            </a:r>
          </a:p>
          <a:p>
            <a:r>
              <a:rPr lang="en-US" sz="2800" b="1" dirty="0" err="1" smtClean="0"/>
              <a:t>chaddr</a:t>
            </a:r>
            <a:r>
              <a:rPr lang="en-US" sz="2800" dirty="0" smtClean="0"/>
              <a:t> – MAC</a:t>
            </a:r>
            <a:r>
              <a:rPr lang="ru-RU" sz="2800" dirty="0" smtClean="0"/>
              <a:t> адрес клиента</a:t>
            </a:r>
            <a:endParaRPr lang="en-US" sz="2800" b="1" dirty="0"/>
          </a:p>
          <a:p>
            <a:r>
              <a:rPr lang="en-US" sz="2800" b="1" dirty="0" smtClean="0"/>
              <a:t>options</a:t>
            </a:r>
            <a:r>
              <a:rPr lang="en-US" sz="2800" dirty="0" smtClean="0"/>
              <a:t> – </a:t>
            </a:r>
            <a:r>
              <a:rPr lang="ru-RU" sz="2800" dirty="0" smtClean="0"/>
              <a:t>список опций</a:t>
            </a:r>
          </a:p>
        </p:txBody>
      </p:sp>
    </p:spTree>
    <p:extLst>
      <p:ext uri="{BB962C8B-B14F-4D97-AF65-F5344CB8AC3E}">
        <p14:creationId xmlns:p14="http://schemas.microsoft.com/office/powerpoint/2010/main" val="7372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0400" y="238125"/>
            <a:ext cx="10515600" cy="4476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DCHP </a:t>
            </a:r>
            <a:r>
              <a:rPr lang="ru-RU" dirty="0" smtClean="0"/>
              <a:t>опции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033975"/>
              </p:ext>
            </p:extLst>
          </p:nvPr>
        </p:nvGraphicFramePr>
        <p:xfrm>
          <a:off x="330200" y="1024730"/>
          <a:ext cx="11455400" cy="5528466"/>
        </p:xfrm>
        <a:graphic>
          <a:graphicData uri="http://schemas.openxmlformats.org/drawingml/2006/table">
            <a:tbl>
              <a:tblPr/>
              <a:tblGrid>
                <a:gridCol w="1402419">
                  <a:extLst>
                    <a:ext uri="{9D8B030D-6E8A-4147-A177-3AD203B41FA5}">
                      <a16:colId xmlns:a16="http://schemas.microsoft.com/office/drawing/2014/main" val="1015433751"/>
                    </a:ext>
                  </a:extLst>
                </a:gridCol>
                <a:gridCol w="2665984">
                  <a:extLst>
                    <a:ext uri="{9D8B030D-6E8A-4147-A177-3AD203B41FA5}">
                      <a16:colId xmlns:a16="http://schemas.microsoft.com/office/drawing/2014/main" val="926851976"/>
                    </a:ext>
                  </a:extLst>
                </a:gridCol>
                <a:gridCol w="4523147">
                  <a:extLst>
                    <a:ext uri="{9D8B030D-6E8A-4147-A177-3AD203B41FA5}">
                      <a16:colId xmlns:a16="http://schemas.microsoft.com/office/drawing/2014/main" val="3478972156"/>
                    </a:ext>
                  </a:extLst>
                </a:gridCol>
                <a:gridCol w="2863850">
                  <a:extLst>
                    <a:ext uri="{9D8B030D-6E8A-4147-A177-3AD203B41FA5}">
                      <a16:colId xmlns:a16="http://schemas.microsoft.com/office/drawing/2014/main" val="2950405007"/>
                    </a:ext>
                  </a:extLst>
                </a:gridCol>
              </a:tblGrid>
              <a:tr h="329432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Код опции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Название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Описание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Пример значения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101787"/>
                  </a:ext>
                </a:extLst>
              </a:tr>
              <a:tr h="329432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1</a:t>
                      </a:r>
                      <a:endParaRPr lang="ru-RU" sz="1600" dirty="0">
                        <a:effectLst/>
                      </a:endParaRP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 dirty="0">
                          <a:effectLst/>
                        </a:rPr>
                        <a:t>Subnet Mask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Маска подсети клиента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255.255.255.0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242835"/>
                  </a:ext>
                </a:extLst>
              </a:tr>
              <a:tr h="488021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3</a:t>
                      </a:r>
                      <a:endParaRPr lang="ru-RU" sz="1600">
                        <a:effectLst/>
                      </a:endParaRP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 dirty="0">
                          <a:effectLst/>
                        </a:rPr>
                        <a:t>Router (Default Gateway)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>
                          <a:effectLst/>
                        </a:rPr>
                        <a:t>IP-</a:t>
                      </a:r>
                      <a:r>
                        <a:rPr lang="ru-RU" sz="1600">
                          <a:effectLst/>
                        </a:rPr>
                        <a:t>адрес шлюза по умолчанию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192.168.1.1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995128"/>
                  </a:ext>
                </a:extLst>
              </a:tr>
              <a:tr h="329432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6</a:t>
                      </a:r>
                      <a:endParaRPr lang="ru-RU" sz="1600">
                        <a:effectLst/>
                      </a:endParaRP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 dirty="0">
                          <a:effectLst/>
                        </a:rPr>
                        <a:t>DNS Servers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Список </a:t>
                      </a:r>
                      <a:r>
                        <a:rPr lang="af-ZA" sz="1600">
                          <a:effectLst/>
                        </a:rPr>
                        <a:t>DNS-</a:t>
                      </a:r>
                      <a:r>
                        <a:rPr lang="ru-RU" sz="1600">
                          <a:effectLst/>
                        </a:rPr>
                        <a:t>серверов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8.8.8.8, 1.1.1.1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037920"/>
                  </a:ext>
                </a:extLst>
              </a:tr>
              <a:tr h="329432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15</a:t>
                      </a:r>
                      <a:endParaRPr lang="ru-RU" sz="1600">
                        <a:effectLst/>
                      </a:endParaRP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 dirty="0">
                          <a:effectLst/>
                        </a:rPr>
                        <a:t>Domain Name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 dirty="0">
                          <a:effectLst/>
                        </a:rPr>
                        <a:t>DNS-</a:t>
                      </a:r>
                      <a:r>
                        <a:rPr lang="ru-RU" sz="1600" dirty="0">
                          <a:effectLst/>
                        </a:rPr>
                        <a:t>домен клиента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>
                          <a:effectLst/>
                        </a:rPr>
                        <a:t>company.local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370673"/>
                  </a:ext>
                </a:extLst>
              </a:tr>
              <a:tr h="488021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42</a:t>
                      </a:r>
                      <a:endParaRPr lang="ru-RU" sz="1600">
                        <a:effectLst/>
                      </a:endParaRP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 dirty="0">
                          <a:effectLst/>
                        </a:rPr>
                        <a:t>NTP Servers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Серверы синхронизации времени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192.168.1.10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804967"/>
                  </a:ext>
                </a:extLst>
              </a:tr>
              <a:tr h="329432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51</a:t>
                      </a:r>
                      <a:endParaRPr lang="ru-RU" sz="1600">
                        <a:effectLst/>
                      </a:endParaRP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>
                          <a:effectLst/>
                        </a:rPr>
                        <a:t>IP Address Lease Time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Время аренды </a:t>
                      </a:r>
                      <a:r>
                        <a:rPr lang="af-ZA" sz="1600" dirty="0">
                          <a:effectLst/>
                        </a:rPr>
                        <a:t>IP-</a:t>
                      </a:r>
                      <a:r>
                        <a:rPr lang="ru-RU" sz="1600" dirty="0">
                          <a:effectLst/>
                        </a:rPr>
                        <a:t>адреса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86400 (24 часа)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791566"/>
                  </a:ext>
                </a:extLst>
              </a:tr>
              <a:tr h="329432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54</a:t>
                      </a:r>
                      <a:endParaRPr lang="ru-RU" sz="1600">
                        <a:effectLst/>
                      </a:endParaRP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>
                          <a:effectLst/>
                        </a:rPr>
                        <a:t>DHCP Server Identifier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 dirty="0">
                          <a:effectLst/>
                        </a:rPr>
                        <a:t>IP-</a:t>
                      </a:r>
                      <a:r>
                        <a:rPr lang="ru-RU" sz="1600" dirty="0">
                          <a:effectLst/>
                        </a:rPr>
                        <a:t>адрес </a:t>
                      </a:r>
                      <a:r>
                        <a:rPr lang="af-ZA" sz="1600" dirty="0">
                          <a:effectLst/>
                        </a:rPr>
                        <a:t>DHCP-</a:t>
                      </a:r>
                      <a:r>
                        <a:rPr lang="ru-RU" sz="1600" dirty="0">
                          <a:effectLst/>
                        </a:rPr>
                        <a:t>сервера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192.168.1.2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09231"/>
                  </a:ext>
                </a:extLst>
              </a:tr>
              <a:tr h="488021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58</a:t>
                      </a:r>
                      <a:endParaRPr lang="ru-RU" sz="1600" dirty="0">
                        <a:effectLst/>
                      </a:endParaRP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>
                          <a:effectLst/>
                        </a:rPr>
                        <a:t>Renewal Time (T1)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Время первой попытки продления аренды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43200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551828"/>
                  </a:ext>
                </a:extLst>
              </a:tr>
              <a:tr h="695937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59</a:t>
                      </a:r>
                      <a:endParaRPr lang="ru-RU" sz="1600">
                        <a:effectLst/>
                      </a:endParaRP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>
                          <a:effectLst/>
                        </a:rPr>
                        <a:t>Rebinding Time (T2)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Время повторной попытки продления аренды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75600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065958"/>
                  </a:ext>
                </a:extLst>
              </a:tr>
              <a:tr h="695937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66</a:t>
                      </a:r>
                      <a:endParaRPr lang="ru-RU" sz="1600">
                        <a:effectLst/>
                      </a:endParaRP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>
                          <a:effectLst/>
                        </a:rPr>
                        <a:t>TFTP Server Name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Имя или IP TFTP-сервера (часто используется при PXE-загрузке)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192.168.1.20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564273"/>
                  </a:ext>
                </a:extLst>
              </a:tr>
              <a:tr h="695937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55</a:t>
                      </a:r>
                      <a:endParaRPr lang="ru-RU" sz="1600">
                        <a:effectLst/>
                      </a:endParaRP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600" dirty="0">
                          <a:effectLst/>
                        </a:rPr>
                        <a:t>Requested Parameters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Список запрашиваемых параметров (байт — параметр)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1,3,6,42</a:t>
                      </a:r>
                    </a:p>
                  </a:txBody>
                  <a:tcPr marL="60035" marR="60035" marT="30018" marB="300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349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572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DHCP Lease Time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4500" y="2435225"/>
            <a:ext cx="10515600" cy="2746375"/>
          </a:xfrm>
        </p:spPr>
        <p:txBody>
          <a:bodyPr/>
          <a:lstStyle/>
          <a:p>
            <a:r>
              <a:rPr lang="ru-RU" dirty="0"/>
              <a:t>T1 (</a:t>
            </a:r>
            <a:r>
              <a:rPr lang="ru-RU" dirty="0" err="1"/>
              <a:t>Renewal</a:t>
            </a:r>
            <a:r>
              <a:rPr lang="ru-RU" dirty="0"/>
              <a:t>) — 50% от времени аренды; по истечении T1 устройство отправляет DHCPREQUEST именно тому серверу, который выдал адрес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/>
              <a:t>T2 (</a:t>
            </a:r>
            <a:r>
              <a:rPr lang="ru-RU" dirty="0" err="1"/>
              <a:t>Rebinding</a:t>
            </a:r>
            <a:r>
              <a:rPr lang="ru-RU" dirty="0"/>
              <a:t>) — 7/8 от времени аренды; если первый сервер не ответил, устройство рассылает широковещательный запрос, чтобы продлить аренду или получить новый адрес</a:t>
            </a:r>
            <a:r>
              <a:rPr lang="ru-RU" dirty="0" smtClean="0"/>
              <a:t>.</a:t>
            </a:r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35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900" y="3129677"/>
            <a:ext cx="11760200" cy="29409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63950" y="736600"/>
            <a:ext cx="4864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UDP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/>
              <a:t>Порт </a:t>
            </a:r>
            <a:r>
              <a:rPr lang="en-US" sz="2800" dirty="0" smtClean="0"/>
              <a:t>67 – </a:t>
            </a:r>
            <a:r>
              <a:rPr lang="ru-RU" sz="2800" dirty="0" smtClean="0"/>
              <a:t>сервер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/>
              <a:t>Порт 68 – клиент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IP DST – 255.255.255.255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090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DHCPv4-</a:t>
            </a:r>
            <a:r>
              <a:rPr lang="ru-RU" dirty="0"/>
              <a:t>ретрансляция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120104"/>
            <a:ext cx="4714875" cy="3762375"/>
          </a:xfrm>
          <a:prstGeom prst="rect">
            <a:avLst/>
          </a:prstGeom>
        </p:spPr>
      </p:pic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86437" y="1400967"/>
            <a:ext cx="5843681" cy="520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7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NTP (Network Time Protocol)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4985" y="2451100"/>
            <a:ext cx="6170415" cy="3525951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75400" y="2841625"/>
            <a:ext cx="5181600" cy="2136775"/>
          </a:xfrm>
        </p:spPr>
        <p:txBody>
          <a:bodyPr/>
          <a:lstStyle/>
          <a:p>
            <a:r>
              <a:rPr lang="en-US" dirty="0" smtClean="0"/>
              <a:t>RFC5905</a:t>
            </a:r>
          </a:p>
          <a:p>
            <a:r>
              <a:rPr lang="en-US" dirty="0" smtClean="0"/>
              <a:t>UDP/123</a:t>
            </a:r>
          </a:p>
          <a:p>
            <a:r>
              <a:rPr lang="ru-RU" dirty="0" smtClean="0"/>
              <a:t>Иерархическая структура из уровней – «</a:t>
            </a:r>
            <a:r>
              <a:rPr lang="ru-RU" dirty="0" err="1" smtClean="0"/>
              <a:t>стратумов</a:t>
            </a:r>
            <a:r>
              <a:rPr lang="ru-RU" dirty="0" smtClean="0"/>
              <a:t>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6011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NTP </a:t>
            </a:r>
            <a:r>
              <a:rPr lang="ru-RU" dirty="0" smtClean="0"/>
              <a:t>– синхронизация времени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639" y="1197768"/>
            <a:ext cx="11176721" cy="40981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82900" y="5297545"/>
            <a:ext cx="698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Смещение времени: </a:t>
            </a:r>
            <a:r>
              <a:rPr lang="af-ZA" sz="2400" dirty="0" smtClean="0"/>
              <a:t>dt </a:t>
            </a:r>
            <a:r>
              <a:rPr lang="af-ZA" sz="2400" dirty="0"/>
              <a:t>= 0.5 * ((t2−t1) + (t3−t4</a:t>
            </a:r>
            <a:r>
              <a:rPr lang="af-ZA" sz="2400" dirty="0" smtClean="0"/>
              <a:t>))</a:t>
            </a:r>
            <a:endParaRPr lang="ru-RU" sz="2400" dirty="0" smtClean="0"/>
          </a:p>
          <a:p>
            <a:r>
              <a:rPr lang="ru-RU" sz="2400" dirty="0" smtClean="0"/>
              <a:t>Общее время передачи: </a:t>
            </a:r>
            <a:r>
              <a:rPr lang="af-ZA" sz="2400" dirty="0"/>
              <a:t>t = (t4−t1) − (t3−t2)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9464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SNMP (</a:t>
            </a:r>
            <a:r>
              <a:rPr lang="af-ZA" sz="4000" dirty="0"/>
              <a:t>Simple Network Management Protocol</a:t>
            </a:r>
            <a:r>
              <a:rPr lang="en-US" sz="4000" dirty="0" smtClean="0"/>
              <a:t>)</a:t>
            </a:r>
            <a:endParaRPr lang="ru-RU" sz="4000" dirty="0"/>
          </a:p>
        </p:txBody>
      </p:sp>
      <p:pic>
        <p:nvPicPr>
          <p:cNvPr id="21506" name="Picture 2" descr="https://habrastorage.org/r/w1560/getpro/habr/upload_files/5a9/095/b20/5a9095b20d1612fbf97b0ebc4c4e25a7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54" y="1467644"/>
            <a:ext cx="6990292" cy="524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442200" y="2530039"/>
            <a:ext cx="44069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333333"/>
                </a:solidFill>
                <a:effectLst/>
                <a:latin typeface="Fira Sans"/>
              </a:rPr>
              <a:t>Устройства в SNMP</a:t>
            </a:r>
          </a:p>
          <a:p>
            <a:pPr>
              <a:buFont typeface="+mj-lt"/>
              <a:buAutoNum type="arabicPeriod"/>
            </a:pPr>
            <a:r>
              <a:rPr lang="ru-RU" b="1" i="0" dirty="0" smtClean="0">
                <a:solidFill>
                  <a:srgbClr val="333333"/>
                </a:solidFill>
                <a:effectLst/>
                <a:latin typeface="-apple-system"/>
              </a:rPr>
              <a:t>Управляемые устройства (</a:t>
            </a:r>
            <a:r>
              <a:rPr lang="ru-RU" b="1" i="0" dirty="0" err="1" smtClean="0">
                <a:solidFill>
                  <a:srgbClr val="333333"/>
                </a:solidFill>
                <a:effectLst/>
                <a:latin typeface="-apple-system"/>
              </a:rPr>
              <a:t>Managed</a:t>
            </a:r>
            <a:r>
              <a:rPr lang="ru-RU" b="1" i="0" dirty="0" smtClean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ru-RU" b="1" i="0" dirty="0" err="1" smtClean="0">
                <a:solidFill>
                  <a:srgbClr val="333333"/>
                </a:solidFill>
                <a:effectLst/>
                <a:latin typeface="-apple-system"/>
              </a:rPr>
              <a:t>Devices</a:t>
            </a:r>
            <a:r>
              <a:rPr lang="ru-RU" b="1" i="0" dirty="0" smtClean="0">
                <a:solidFill>
                  <a:srgbClr val="333333"/>
                </a:solidFill>
                <a:effectLst/>
                <a:latin typeface="-apple-system"/>
              </a:rPr>
              <a:t>):</a:t>
            </a:r>
            <a:r>
              <a:rPr lang="ru-RU" b="0" i="0" dirty="0" smtClean="0">
                <a:solidFill>
                  <a:srgbClr val="333333"/>
                </a:solidFill>
                <a:effectLst/>
                <a:latin typeface="-apple-system"/>
              </a:rPr>
              <a:t> устройства, которые контролируются с помощью SNMP-агента.</a:t>
            </a:r>
          </a:p>
          <a:p>
            <a:pPr>
              <a:buFont typeface="+mj-lt"/>
              <a:buAutoNum type="arabicPeriod"/>
            </a:pPr>
            <a:r>
              <a:rPr lang="ru-RU" b="1" i="0" dirty="0" smtClean="0">
                <a:solidFill>
                  <a:srgbClr val="333333"/>
                </a:solidFill>
                <a:effectLst/>
                <a:latin typeface="-apple-system"/>
              </a:rPr>
              <a:t>Станция управления сетью (NMS):</a:t>
            </a:r>
            <a:r>
              <a:rPr lang="ru-RU" b="0" i="0" dirty="0" smtClean="0">
                <a:solidFill>
                  <a:srgbClr val="333333"/>
                </a:solidFill>
                <a:effectLst/>
                <a:latin typeface="-apple-system"/>
              </a:rPr>
              <a:t> сервер или система, управляющая устройствами. Также называется SNMP-сервером.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63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MIB </a:t>
            </a:r>
            <a:r>
              <a:rPr lang="ru-RU" dirty="0" smtClean="0"/>
              <a:t>и </a:t>
            </a:r>
            <a:r>
              <a:rPr lang="en-US" dirty="0" smtClean="0"/>
              <a:t>OID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190500" y="1863725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MIB (</a:t>
            </a:r>
            <a:r>
              <a:rPr lang="ru-RU" b="1" dirty="0" err="1"/>
              <a:t>Management</a:t>
            </a:r>
            <a:r>
              <a:rPr lang="ru-RU" b="1" dirty="0"/>
              <a:t> </a:t>
            </a:r>
            <a:r>
              <a:rPr lang="ru-RU" b="1" dirty="0" err="1"/>
              <a:t>Information</a:t>
            </a:r>
            <a:r>
              <a:rPr lang="ru-RU" b="1" dirty="0"/>
              <a:t> </a:t>
            </a:r>
            <a:r>
              <a:rPr lang="ru-RU" b="1" dirty="0" err="1"/>
              <a:t>Base</a:t>
            </a:r>
            <a:r>
              <a:rPr lang="ru-RU" b="1" dirty="0"/>
              <a:t>)</a:t>
            </a:r>
            <a:r>
              <a:rPr lang="ru-RU" dirty="0"/>
              <a:t> — это база данных, которая хранит информацию о параметрах устройства, управляемого через SNMP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OID (</a:t>
            </a:r>
            <a:r>
              <a:rPr lang="ru-RU" b="1" dirty="0" err="1"/>
              <a:t>Object</a:t>
            </a:r>
            <a:r>
              <a:rPr lang="ru-RU" b="1" dirty="0"/>
              <a:t> </a:t>
            </a:r>
            <a:r>
              <a:rPr lang="ru-RU" b="1" dirty="0" err="1"/>
              <a:t>Identifier</a:t>
            </a:r>
            <a:r>
              <a:rPr lang="ru-RU" b="1" dirty="0"/>
              <a:t>)</a:t>
            </a:r>
            <a:r>
              <a:rPr lang="ru-RU" dirty="0" smtClean="0"/>
              <a:t> — это уникальный цифровой адрес в виде последовательности чисел, который указывает на конкретный параметр или объект управления в сетевом устройстве.</a:t>
            </a:r>
            <a:endParaRPr lang="ru-RU" dirty="0"/>
          </a:p>
        </p:txBody>
      </p:sp>
      <p:pic>
        <p:nvPicPr>
          <p:cNvPr id="22530" name="Picture 2" descr="Пример на CMD snmpget -v:2c -c:public 192.168.1.1 1.3.6.1.2.1.1.5.0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1104900"/>
            <a:ext cx="66802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53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Компоненты </a:t>
            </a:r>
            <a:r>
              <a:rPr lang="af-ZA" b="1" dirty="0"/>
              <a:t>SNMP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8147"/>
            <a:ext cx="10515600" cy="402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8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сообщений </a:t>
            </a:r>
            <a:r>
              <a:rPr lang="af-ZA" dirty="0" smtClean="0"/>
              <a:t>SNMP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91075"/>
          </a:xfrm>
        </p:spPr>
        <p:txBody>
          <a:bodyPr>
            <a:normAutofit/>
          </a:bodyPr>
          <a:lstStyle/>
          <a:p>
            <a:r>
              <a:rPr lang="ru-RU" b="1" dirty="0"/>
              <a:t>Чтение:</a:t>
            </a:r>
            <a:endParaRPr lang="ru-RU" dirty="0"/>
          </a:p>
          <a:p>
            <a:pPr lvl="1"/>
            <a:r>
              <a:rPr lang="ru-RU" b="1" dirty="0" err="1"/>
              <a:t>Get</a:t>
            </a:r>
            <a:r>
              <a:rPr lang="ru-RU" b="1" dirty="0"/>
              <a:t>:</a:t>
            </a:r>
            <a:r>
              <a:rPr lang="ru-RU" dirty="0"/>
              <a:t> запрос данных.</a:t>
            </a:r>
          </a:p>
          <a:p>
            <a:pPr lvl="1"/>
            <a:r>
              <a:rPr lang="ru-RU" b="1" dirty="0" err="1"/>
              <a:t>GetNext</a:t>
            </a:r>
            <a:r>
              <a:rPr lang="ru-RU" b="1" dirty="0"/>
              <a:t>:</a:t>
            </a:r>
            <a:r>
              <a:rPr lang="ru-RU" dirty="0"/>
              <a:t> запрос следующего параметра.</a:t>
            </a:r>
          </a:p>
          <a:p>
            <a:pPr lvl="1"/>
            <a:r>
              <a:rPr lang="ru-RU" b="1" dirty="0" err="1"/>
              <a:t>GetBulk</a:t>
            </a:r>
            <a:r>
              <a:rPr lang="ru-RU" b="1" dirty="0"/>
              <a:t>:</a:t>
            </a:r>
            <a:r>
              <a:rPr lang="ru-RU" dirty="0"/>
              <a:t> запрос нескольких параметров сразу.</a:t>
            </a:r>
          </a:p>
          <a:p>
            <a:r>
              <a:rPr lang="ru-RU" b="1" dirty="0"/>
              <a:t>Запись:</a:t>
            </a:r>
            <a:endParaRPr lang="ru-RU" dirty="0"/>
          </a:p>
          <a:p>
            <a:pPr lvl="1"/>
            <a:r>
              <a:rPr lang="ru-RU" b="1" dirty="0" err="1"/>
              <a:t>Set</a:t>
            </a:r>
            <a:r>
              <a:rPr lang="ru-RU" b="1" dirty="0"/>
              <a:t>:</a:t>
            </a:r>
            <a:r>
              <a:rPr lang="ru-RU" dirty="0"/>
              <a:t> изменение данных (например, IP-адреса).</a:t>
            </a:r>
          </a:p>
          <a:p>
            <a:r>
              <a:rPr lang="ru-RU" b="1" dirty="0"/>
              <a:t>Уведомления:</a:t>
            </a:r>
            <a:endParaRPr lang="ru-RU" dirty="0"/>
          </a:p>
          <a:p>
            <a:pPr lvl="1"/>
            <a:r>
              <a:rPr lang="ru-RU" b="1" dirty="0" err="1"/>
              <a:t>Trap</a:t>
            </a:r>
            <a:r>
              <a:rPr lang="ru-RU" b="1" dirty="0"/>
              <a:t>:</a:t>
            </a:r>
            <a:r>
              <a:rPr lang="ru-RU" dirty="0"/>
              <a:t> уведомление без подтверждения.</a:t>
            </a:r>
          </a:p>
          <a:p>
            <a:pPr lvl="1"/>
            <a:r>
              <a:rPr lang="ru-RU" b="1" dirty="0"/>
              <a:t>Inform:</a:t>
            </a:r>
            <a:r>
              <a:rPr lang="ru-RU" dirty="0"/>
              <a:t> уведомление с подтверждением.</a:t>
            </a:r>
          </a:p>
          <a:p>
            <a:r>
              <a:rPr lang="ru-RU" b="1" dirty="0"/>
              <a:t>Ответы:</a:t>
            </a:r>
            <a:endParaRPr lang="ru-RU" dirty="0"/>
          </a:p>
          <a:p>
            <a:pPr lvl="1"/>
            <a:r>
              <a:rPr lang="ru-RU" dirty="0"/>
              <a:t>Ответ устройства на запросы </a:t>
            </a:r>
            <a:r>
              <a:rPr lang="ru-RU" dirty="0" err="1"/>
              <a:t>Get</a:t>
            </a:r>
            <a:r>
              <a:rPr lang="ru-RU" dirty="0"/>
              <a:t>, </a:t>
            </a:r>
            <a:r>
              <a:rPr lang="ru-RU" dirty="0" err="1"/>
              <a:t>Set</a:t>
            </a:r>
            <a:r>
              <a:rPr lang="ru-RU" dirty="0"/>
              <a:t> и Inform.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876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Версии </a:t>
            </a:r>
            <a:r>
              <a:rPr lang="af-ZA" dirty="0" smtClean="0"/>
              <a:t>SNMP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838200" y="2143125"/>
            <a:ext cx="10515600" cy="4351338"/>
          </a:xfrm>
        </p:spPr>
        <p:txBody>
          <a:bodyPr/>
          <a:lstStyle/>
          <a:p>
            <a:r>
              <a:rPr lang="ru-RU" b="1" dirty="0"/>
              <a:t>SNMPv1:</a:t>
            </a:r>
            <a:r>
              <a:rPr lang="ru-RU" dirty="0"/>
              <a:t> базовая версия с ограниченными возможностями.</a:t>
            </a:r>
          </a:p>
          <a:p>
            <a:r>
              <a:rPr lang="ru-RU" b="1" dirty="0"/>
              <a:t>SNMPv2</a:t>
            </a:r>
            <a:r>
              <a:rPr lang="ru-RU" dirty="0"/>
              <a:t>: Почти нигде не увидите когда его создавали он был очень сложным как структура и поэтому его урезали и заменили </a:t>
            </a:r>
            <a:r>
              <a:rPr lang="ru-RU" b="1" dirty="0"/>
              <a:t>SNMPv2c</a:t>
            </a:r>
            <a:endParaRPr lang="ru-RU" dirty="0"/>
          </a:p>
          <a:p>
            <a:r>
              <a:rPr lang="ru-RU" b="1" dirty="0"/>
              <a:t>SNMPv2c:</a:t>
            </a:r>
            <a:r>
              <a:rPr lang="ru-RU" dirty="0"/>
              <a:t> улучшенная версия с поддержкой </a:t>
            </a:r>
            <a:r>
              <a:rPr lang="ru-RU" dirty="0" err="1"/>
              <a:t>community</a:t>
            </a:r>
            <a:r>
              <a:rPr lang="ru-RU" dirty="0"/>
              <a:t> </a:t>
            </a:r>
            <a:r>
              <a:rPr lang="ru-RU" dirty="0" err="1"/>
              <a:t>strings</a:t>
            </a:r>
            <a:r>
              <a:rPr lang="ru-RU" dirty="0"/>
              <a:t> (строки аутентификации).</a:t>
            </a:r>
          </a:p>
          <a:p>
            <a:r>
              <a:rPr lang="ru-RU" b="1" dirty="0"/>
              <a:t>SNMPv3:</a:t>
            </a:r>
            <a:r>
              <a:rPr lang="ru-RU" dirty="0"/>
              <a:t> самая безопасная версия с шифрованием и аутентификацией.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176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ещё?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25000" lnSpcReduction="20000"/>
          </a:bodyPr>
          <a:lstStyle/>
          <a:p>
            <a:r>
              <a:rPr lang="af-ZA" sz="8000" b="1" dirty="0"/>
              <a:t>NETCONF</a:t>
            </a:r>
            <a:r>
              <a:rPr lang="af-ZA" sz="8000" dirty="0"/>
              <a:t> (830/tcp, </a:t>
            </a:r>
            <a:r>
              <a:rPr lang="ru-RU" sz="8000" dirty="0"/>
              <a:t>поверх </a:t>
            </a:r>
            <a:r>
              <a:rPr lang="af-ZA" sz="8000" dirty="0"/>
              <a:t>SSH) — </a:t>
            </a:r>
            <a:r>
              <a:rPr lang="ru-RU" sz="8000" dirty="0"/>
              <a:t>программная конфигурация, транзакции.</a:t>
            </a:r>
          </a:p>
          <a:p>
            <a:r>
              <a:rPr lang="af-ZA" sz="8000" b="1" dirty="0"/>
              <a:t>RESTCONF</a:t>
            </a:r>
            <a:r>
              <a:rPr lang="af-ZA" sz="8000" dirty="0"/>
              <a:t> (443/tcp) — REST-</a:t>
            </a:r>
            <a:r>
              <a:rPr lang="ru-RU" sz="8000" dirty="0"/>
              <a:t>обёртка над </a:t>
            </a:r>
            <a:r>
              <a:rPr lang="af-ZA" sz="8000" dirty="0"/>
              <a:t>YANG.</a:t>
            </a:r>
          </a:p>
          <a:p>
            <a:r>
              <a:rPr lang="af-ZA" sz="8000" b="1" dirty="0"/>
              <a:t>gNMI / gRPC</a:t>
            </a:r>
            <a:r>
              <a:rPr lang="af-ZA" sz="8000" dirty="0"/>
              <a:t> (</a:t>
            </a:r>
            <a:r>
              <a:rPr lang="ru-RU" sz="8000" dirty="0"/>
              <a:t>обычно 57400/</a:t>
            </a:r>
            <a:r>
              <a:rPr lang="af-ZA" sz="8000" dirty="0"/>
              <a:t>tcp) — </a:t>
            </a:r>
            <a:r>
              <a:rPr lang="ru-RU" sz="8000" dirty="0"/>
              <a:t>телеметрия и конфигурация.</a:t>
            </a:r>
          </a:p>
          <a:p>
            <a:r>
              <a:rPr lang="af-ZA" sz="8000" b="1" dirty="0"/>
              <a:t>TACACS+</a:t>
            </a:r>
            <a:r>
              <a:rPr lang="af-ZA" sz="8000" dirty="0"/>
              <a:t> (49/tcp) — AAA </a:t>
            </a:r>
            <a:r>
              <a:rPr lang="ru-RU" sz="8000" dirty="0"/>
              <a:t>для администрирования.</a:t>
            </a:r>
          </a:p>
          <a:p>
            <a:r>
              <a:rPr lang="af-ZA" sz="8000" b="1" dirty="0"/>
              <a:t>RADIUS</a:t>
            </a:r>
            <a:r>
              <a:rPr lang="af-ZA" sz="8000" dirty="0"/>
              <a:t> (1812/1813/udp) — AAA </a:t>
            </a:r>
            <a:r>
              <a:rPr lang="ru-RU" sz="8000" dirty="0"/>
              <a:t>для доступа в сеть.</a:t>
            </a:r>
          </a:p>
          <a:p>
            <a:r>
              <a:rPr lang="af-ZA" sz="8000" b="1" dirty="0"/>
              <a:t>Diameter</a:t>
            </a:r>
            <a:r>
              <a:rPr lang="af-ZA" sz="8000" dirty="0"/>
              <a:t> (3868/tcp, 3868/sctp) — AAA </a:t>
            </a:r>
            <a:r>
              <a:rPr lang="ru-RU" sz="8000" dirty="0"/>
              <a:t>в </a:t>
            </a:r>
            <a:r>
              <a:rPr lang="ru-RU" sz="8000" dirty="0" err="1"/>
              <a:t>телекоме</a:t>
            </a:r>
            <a:r>
              <a:rPr lang="ru-RU" sz="8000" dirty="0"/>
              <a:t>.</a:t>
            </a:r>
          </a:p>
          <a:p>
            <a:r>
              <a:rPr lang="af-ZA" sz="8000" b="1" dirty="0"/>
              <a:t>PTP</a:t>
            </a:r>
            <a:r>
              <a:rPr lang="af-ZA" sz="8000" dirty="0"/>
              <a:t> (IEEE 1588, </a:t>
            </a:r>
            <a:r>
              <a:rPr lang="ru-RU" sz="8000" dirty="0"/>
              <a:t>поверх </a:t>
            </a:r>
            <a:r>
              <a:rPr lang="af-ZA" sz="8000" dirty="0"/>
              <a:t>Ethernet/UDP) — </a:t>
            </a:r>
            <a:r>
              <a:rPr lang="ru-RU" sz="8000" dirty="0"/>
              <a:t>точная синхронизация.</a:t>
            </a:r>
          </a:p>
          <a:p>
            <a:r>
              <a:rPr lang="af-ZA" sz="8000" b="1" dirty="0"/>
              <a:t>LDAP</a:t>
            </a:r>
            <a:r>
              <a:rPr lang="af-ZA" sz="8000" dirty="0"/>
              <a:t> (389/tcp, 636 LDAPS) — </a:t>
            </a:r>
            <a:r>
              <a:rPr lang="ru-RU" sz="8000" dirty="0"/>
              <a:t>каталоги.</a:t>
            </a:r>
          </a:p>
          <a:p>
            <a:r>
              <a:rPr lang="af-ZA" sz="8000" b="1" dirty="0"/>
              <a:t>Kerberos</a:t>
            </a:r>
            <a:r>
              <a:rPr lang="af-ZA" sz="8000" dirty="0"/>
              <a:t> (88/tcp/udp) — </a:t>
            </a:r>
            <a:r>
              <a:rPr lang="ru-RU" sz="8000" dirty="0"/>
              <a:t>аутентификация.</a:t>
            </a:r>
          </a:p>
          <a:p>
            <a:r>
              <a:rPr lang="af-ZA" sz="8000" b="1" dirty="0"/>
              <a:t>Syslog</a:t>
            </a:r>
            <a:r>
              <a:rPr lang="af-ZA" sz="8000" dirty="0"/>
              <a:t> (514/udp, 6514/tcp TLS) — </a:t>
            </a:r>
            <a:r>
              <a:rPr lang="ru-RU" sz="8000" dirty="0"/>
              <a:t>сбор логов.</a:t>
            </a:r>
          </a:p>
          <a:p>
            <a:r>
              <a:rPr lang="ru-RU" sz="8000" b="1" dirty="0" err="1"/>
              <a:t>NetFlow</a:t>
            </a:r>
            <a:r>
              <a:rPr lang="ru-RU" sz="8000" b="1" dirty="0"/>
              <a:t> / IPFIX</a:t>
            </a:r>
            <a:r>
              <a:rPr lang="ru-RU" sz="8000" dirty="0"/>
              <a:t> (2055/</a:t>
            </a:r>
            <a:r>
              <a:rPr lang="ru-RU" sz="8000" dirty="0" err="1"/>
              <a:t>udp</a:t>
            </a:r>
            <a:r>
              <a:rPr lang="ru-RU" sz="8000" dirty="0"/>
              <a:t>, 4739/</a:t>
            </a:r>
            <a:r>
              <a:rPr lang="ru-RU" sz="8000" dirty="0" err="1"/>
              <a:t>udp</a:t>
            </a:r>
            <a:r>
              <a:rPr lang="ru-RU" sz="8000" dirty="0"/>
              <a:t>) — экспорт статистики трафика.</a:t>
            </a:r>
          </a:p>
          <a:p>
            <a:r>
              <a:rPr lang="ru-RU" sz="8000" b="1" dirty="0" err="1"/>
              <a:t>sFlow</a:t>
            </a:r>
            <a:r>
              <a:rPr lang="ru-RU" sz="8000" dirty="0"/>
              <a:t> (6343/</a:t>
            </a:r>
            <a:r>
              <a:rPr lang="ru-RU" sz="8000" dirty="0" err="1"/>
              <a:t>udp</a:t>
            </a:r>
            <a:r>
              <a:rPr lang="ru-RU" sz="8000" dirty="0"/>
              <a:t>) — </a:t>
            </a:r>
            <a:r>
              <a:rPr lang="ru-RU" sz="8000" dirty="0" err="1"/>
              <a:t>сэмплирование</a:t>
            </a:r>
            <a:r>
              <a:rPr lang="ru-RU" sz="8000" dirty="0"/>
              <a:t> трафика</a:t>
            </a:r>
            <a:r>
              <a:rPr lang="ru-RU" sz="8000" dirty="0" smtClean="0"/>
              <a:t>.</a:t>
            </a:r>
          </a:p>
          <a:p>
            <a:r>
              <a:rPr lang="af-ZA" sz="8000" b="1" dirty="0"/>
              <a:t>TFTP</a:t>
            </a:r>
            <a:r>
              <a:rPr lang="af-ZA" sz="8000" dirty="0"/>
              <a:t> (69/udp) — </a:t>
            </a:r>
            <a:r>
              <a:rPr lang="ru-RU" sz="8000" dirty="0"/>
              <a:t>заливка прошивок и </a:t>
            </a:r>
            <a:r>
              <a:rPr lang="ru-RU" sz="8000" dirty="0" err="1"/>
              <a:t>конфигов</a:t>
            </a:r>
            <a:r>
              <a:rPr lang="ru-RU" sz="8000" dirty="0"/>
              <a:t>.</a:t>
            </a:r>
          </a:p>
          <a:p>
            <a:r>
              <a:rPr lang="af-ZA" sz="8000" b="1" dirty="0"/>
              <a:t>FTP</a:t>
            </a:r>
            <a:r>
              <a:rPr lang="af-ZA" sz="8000" dirty="0"/>
              <a:t> (21/tcp) — legacy-</a:t>
            </a:r>
            <a:r>
              <a:rPr lang="ru-RU" sz="8000" dirty="0"/>
              <a:t>передача.</a:t>
            </a:r>
          </a:p>
          <a:p>
            <a:r>
              <a:rPr lang="af-ZA" sz="8000" b="1" dirty="0"/>
              <a:t>SFTP / SCP</a:t>
            </a:r>
            <a:r>
              <a:rPr lang="af-ZA" sz="8000" dirty="0"/>
              <a:t> (</a:t>
            </a:r>
            <a:r>
              <a:rPr lang="ru-RU" sz="8000" dirty="0"/>
              <a:t>поверх </a:t>
            </a:r>
            <a:r>
              <a:rPr lang="af-ZA" sz="8000" dirty="0"/>
              <a:t>SSH) — </a:t>
            </a:r>
            <a:r>
              <a:rPr lang="ru-RU" sz="8000" dirty="0"/>
              <a:t>безопасная передача.</a:t>
            </a:r>
          </a:p>
          <a:p>
            <a:r>
              <a:rPr lang="af-ZA" sz="8000" b="1" dirty="0"/>
              <a:t>HTTP/HTTPS</a:t>
            </a:r>
            <a:r>
              <a:rPr lang="af-ZA" sz="8000" dirty="0"/>
              <a:t> — </a:t>
            </a:r>
            <a:r>
              <a:rPr lang="ru-RU" sz="8000" dirty="0"/>
              <a:t>скачивание прошивок, веб-интерфейсы, </a:t>
            </a:r>
            <a:r>
              <a:rPr lang="af-ZA" sz="8000" dirty="0"/>
              <a:t>API.</a:t>
            </a:r>
          </a:p>
          <a:p>
            <a:r>
              <a:rPr lang="af-ZA" sz="8000" b="1" dirty="0"/>
              <a:t>SIP</a:t>
            </a:r>
            <a:r>
              <a:rPr lang="af-ZA" sz="8000" dirty="0"/>
              <a:t> (5060/5061) — VoIP-</a:t>
            </a:r>
            <a:r>
              <a:rPr lang="ru-RU" sz="8000" dirty="0"/>
              <a:t>сигнализация.</a:t>
            </a:r>
          </a:p>
          <a:p>
            <a:r>
              <a:rPr lang="af-ZA" sz="8000" b="1" dirty="0"/>
              <a:t>RTP / RTCP</a:t>
            </a:r>
            <a:r>
              <a:rPr lang="af-ZA" sz="8000" dirty="0"/>
              <a:t> — </a:t>
            </a:r>
            <a:r>
              <a:rPr lang="ru-RU" sz="8000" dirty="0" err="1"/>
              <a:t>медиапоток</a:t>
            </a:r>
            <a:r>
              <a:rPr lang="ru-RU" sz="8000" dirty="0" smtClean="0"/>
              <a:t>.</a:t>
            </a:r>
            <a:endParaRPr lang="ru-RU" sz="8000" dirty="0"/>
          </a:p>
          <a:p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124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4472</TotalTime>
  <Words>2136</Words>
  <Application>Microsoft Office PowerPoint</Application>
  <PresentationFormat>Широкоэкранный</PresentationFormat>
  <Paragraphs>375</Paragraphs>
  <Slides>61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70" baseType="lpstr">
      <vt:lpstr>-apple-system</vt:lpstr>
      <vt:lpstr>Arial</vt:lpstr>
      <vt:lpstr>Calibri</vt:lpstr>
      <vt:lpstr>Calibri Light</vt:lpstr>
      <vt:lpstr>Consolas</vt:lpstr>
      <vt:lpstr>Fira Sans</vt:lpstr>
      <vt:lpstr>Google Sans</vt:lpstr>
      <vt:lpstr>Google Sans Flex</vt:lpstr>
      <vt:lpstr>Тема Office</vt:lpstr>
      <vt:lpstr>Уровень приложений</vt:lpstr>
      <vt:lpstr>Модель взаимодействия</vt:lpstr>
      <vt:lpstr>Система доменных имён (DNS)</vt:lpstr>
      <vt:lpstr>DNS — компьютерная распределённая система для получения информации о доменах. Чаще всего используется для получения IP-адреса по имени.</vt:lpstr>
      <vt:lpstr>DNS-зона - выделенный сегмент доменного пространства, объединяющий ресурсы под общим управлением. Это административная единица, за которую отвечает конкретный сервер (или группа серверов)</vt:lpstr>
      <vt:lpstr>Глобальная система DNS</vt:lpstr>
      <vt:lpstr>Презентация PowerPoint</vt:lpstr>
      <vt:lpstr>DNS-сервер – поддерживает распределенную базу данных. DNS-клиент – обращается к северу с запросами. Резолвер – ПО, реализующее функционал клиента.</vt:lpstr>
      <vt:lpstr>Структура доменного имени</vt:lpstr>
      <vt:lpstr>Презентация PowerPoint</vt:lpstr>
      <vt:lpstr>Смешанная схема с кэширующим сервером</vt:lpstr>
      <vt:lpstr>Ресурсные записи</vt:lpstr>
      <vt:lpstr>Ресурсные записи</vt:lpstr>
      <vt:lpstr>Ресурсные записи</vt:lpstr>
      <vt:lpstr>Ресурсные записи</vt:lpstr>
      <vt:lpstr>Ресурсные записи</vt:lpstr>
      <vt:lpstr>Взаимодействие с сервером DNS</vt:lpstr>
      <vt:lpstr>Формат DNS сообщения</vt:lpstr>
      <vt:lpstr>Заголовок DNS сообщения</vt:lpstr>
      <vt:lpstr>Секция вопросов</vt:lpstr>
      <vt:lpstr>Секция ответов</vt:lpstr>
      <vt:lpstr>Как потрогать DNS - nslookup</vt:lpstr>
      <vt:lpstr>Как потрогать DNS - nslookup</vt:lpstr>
      <vt:lpstr>Как потрогать DNS - nslookup</vt:lpstr>
      <vt:lpstr>Протоколы удаленного управления</vt:lpstr>
      <vt:lpstr>Telnet (TCP/23)</vt:lpstr>
      <vt:lpstr>Telnet (TCP/23)</vt:lpstr>
      <vt:lpstr>telnet чтобы проверить TCP порт</vt:lpstr>
      <vt:lpstr>Защита передаваемой информации</vt:lpstr>
      <vt:lpstr>Презентация PowerPoint</vt:lpstr>
      <vt:lpstr>Обмен ключами по незащищенному каналу (алгоритм Диффи-Хелмана, DH) </vt:lpstr>
      <vt:lpstr>Man-in-the-Middle</vt:lpstr>
      <vt:lpstr>Криптографическая хеш-функция - это математический алгоритм, который отображает данные произвольного размера в битовый массив фиксированного размера.</vt:lpstr>
      <vt:lpstr>HMAC (Hash-based Message Authentication Code)</vt:lpstr>
      <vt:lpstr>Асимметричная криптография</vt:lpstr>
      <vt:lpstr>Цифровая подпись</vt:lpstr>
      <vt:lpstr>Trust on First Use</vt:lpstr>
      <vt:lpstr>Digital Certificates and Root certificate</vt:lpstr>
      <vt:lpstr>SSH (Secure Shell) – TCP/22</vt:lpstr>
      <vt:lpstr>Презентация PowerPoint</vt:lpstr>
      <vt:lpstr>Аутентификация по ключу</vt:lpstr>
      <vt:lpstr>Сервисы SSH</vt:lpstr>
      <vt:lpstr>DHCP (Dynamic Host Configuration Protocol) - динамически назначает адреса IPv4 и другую информацию о конфигурации сети.</vt:lpstr>
      <vt:lpstr>Режимы работы DHCP-сервера</vt:lpstr>
      <vt:lpstr>DORA (Discover, Offer, Request, Ack)</vt:lpstr>
      <vt:lpstr>DORA (Discover, Offer, Request, Ack)</vt:lpstr>
      <vt:lpstr>DORA (Discover, Offer, Request, Ack)</vt:lpstr>
      <vt:lpstr>DORA (Discover, Offer, Request, Ack)</vt:lpstr>
      <vt:lpstr>Формат DCHP сообщения</vt:lpstr>
      <vt:lpstr>DCHP опции</vt:lpstr>
      <vt:lpstr>DHCP Lease Time</vt:lpstr>
      <vt:lpstr>Презентация PowerPoint</vt:lpstr>
      <vt:lpstr>DHCPv4-ретрансляция</vt:lpstr>
      <vt:lpstr>NTP (Network Time Protocol)</vt:lpstr>
      <vt:lpstr>NTP – синхронизация времени</vt:lpstr>
      <vt:lpstr>SNMP (Simple Network Management Protocol)</vt:lpstr>
      <vt:lpstr>MIB и OID</vt:lpstr>
      <vt:lpstr>Компоненты SNMP</vt:lpstr>
      <vt:lpstr>Типы сообщений SNMP</vt:lpstr>
      <vt:lpstr>Версии SNMP</vt:lpstr>
      <vt:lpstr>Что ещё?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Уровень приложений</dc:title>
  <dc:creator>Тимур А. Нахтигаль</dc:creator>
  <cp:lastModifiedBy>Тимур А. Нахтигаль</cp:lastModifiedBy>
  <cp:revision>52</cp:revision>
  <dcterms:created xsi:type="dcterms:W3CDTF">2026-10-02T15:39:47Z</dcterms:created>
  <dcterms:modified xsi:type="dcterms:W3CDTF">2026-10-14T18:41:06Z</dcterms:modified>
</cp:coreProperties>
</file>