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92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8" r:id="rId12"/>
    <p:sldId id="269" r:id="rId13"/>
    <p:sldId id="266" r:id="rId14"/>
    <p:sldId id="267" r:id="rId15"/>
    <p:sldId id="270" r:id="rId16"/>
    <p:sldId id="271" r:id="rId17"/>
    <p:sldId id="272" r:id="rId18"/>
    <p:sldId id="339" r:id="rId19"/>
    <p:sldId id="340" r:id="rId20"/>
    <p:sldId id="341" r:id="rId21"/>
    <p:sldId id="342" r:id="rId22"/>
    <p:sldId id="343" r:id="rId23"/>
    <p:sldId id="344" r:id="rId24"/>
    <p:sldId id="345" r:id="rId25"/>
    <p:sldId id="273" r:id="rId26"/>
    <p:sldId id="274" r:id="rId27"/>
    <p:sldId id="275" r:id="rId28"/>
    <p:sldId id="276" r:id="rId29"/>
    <p:sldId id="277" r:id="rId30"/>
    <p:sldId id="338" r:id="rId31"/>
    <p:sldId id="346" r:id="rId32"/>
    <p:sldId id="347" r:id="rId33"/>
    <p:sldId id="348" r:id="rId34"/>
    <p:sldId id="349" r:id="rId35"/>
    <p:sldId id="281" r:id="rId36"/>
    <p:sldId id="313" r:id="rId37"/>
    <p:sldId id="282" r:id="rId38"/>
    <p:sldId id="283" r:id="rId39"/>
    <p:sldId id="314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303" r:id="rId54"/>
    <p:sldId id="299" r:id="rId55"/>
    <p:sldId id="300" r:id="rId56"/>
    <p:sldId id="301" r:id="rId57"/>
    <p:sldId id="302" r:id="rId58"/>
    <p:sldId id="336" r:id="rId59"/>
    <p:sldId id="315" r:id="rId60"/>
    <p:sldId id="284" r:id="rId61"/>
    <p:sldId id="304" r:id="rId62"/>
    <p:sldId id="305" r:id="rId63"/>
    <p:sldId id="306" r:id="rId64"/>
    <p:sldId id="307" r:id="rId65"/>
    <p:sldId id="308" r:id="rId66"/>
    <p:sldId id="309" r:id="rId67"/>
    <p:sldId id="310" r:id="rId68"/>
    <p:sldId id="316" r:id="rId69"/>
    <p:sldId id="311" r:id="rId70"/>
    <p:sldId id="312" r:id="rId71"/>
    <p:sldId id="317" r:id="rId72"/>
    <p:sldId id="318" r:id="rId73"/>
    <p:sldId id="319" r:id="rId74"/>
    <p:sldId id="320" r:id="rId75"/>
    <p:sldId id="321" r:id="rId76"/>
    <p:sldId id="322" r:id="rId77"/>
    <p:sldId id="323" r:id="rId78"/>
    <p:sldId id="324" r:id="rId79"/>
    <p:sldId id="337" r:id="rId80"/>
    <p:sldId id="325" r:id="rId81"/>
    <p:sldId id="326" r:id="rId82"/>
    <p:sldId id="327" r:id="rId83"/>
    <p:sldId id="328" r:id="rId84"/>
    <p:sldId id="329" r:id="rId85"/>
    <p:sldId id="330" r:id="rId86"/>
    <p:sldId id="331" r:id="rId87"/>
    <p:sldId id="332" r:id="rId88"/>
    <p:sldId id="333" r:id="rId89"/>
    <p:sldId id="334" r:id="rId90"/>
    <p:sldId id="335" r:id="rId9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63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2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7.15719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6-08T20:13:44.457"/>
    </inkml:context>
    <inkml:brush xml:id="br0">
      <inkml:brushProperty name="width" value="0.05" units="cm"/>
      <inkml:brushProperty name="height" value="0.05" units="cm"/>
      <inkml:brushProperty name="color" value="#ED1C24"/>
      <inkml:brushProperty name="fitToCurve" value="1"/>
    </inkml:brush>
  </inkml:definitions>
  <inkml:trace contextRef="#ctx0" brushRef="#br0">0 52 0,'25'0'47,"-25"25"-32,24-25-15,-24 24 0,26-24 16,-26 26-16,25-26 0,-25 25 0,24-25 16,-24 24-16,25-24 0,-25 25 0,26-25 0,-26 26 15,24-26-15,-24 24 0,25-24 0,-25 25 16,25-25-16,-25 25 0,24-25 0,-24 24 0,26-24 0,-26 26 15,25-26-15,-25 25 0,24-25 0,-24 24 0,25-24 0,-25 25 0,26 1 0,-2-26 0,-24 24 16,25-24-16,-25 25 0,25-25 0,-25 26 0,24-2 0,2-24 16,-26 25-16,25 0 0,-25-1 0,24-24 0,1 0 0,-25 26 15,26-1-15,-26-1 0,24-24 0,1 0 16,-25 25-16,25 1 0,1-26 16,-26 24-16,24-24 15,-24 25-15,25-25 0,-25 25 0,25-25 16,-25 26-1,24-26-15,2 0 32,-52 0 93</inkml:trace>
  <inkml:trace contextRef="#ctx0" brushRef="#br0" timeOffset="1850">25 824 0,'24'0'110,"-24"-25"-95,26 25-15,-26-25 16,25 1-16,-25-2 15,24 26-15,-24-25 0,0 1 16,25 24-16,-25-25 0,26 25 0,-26-26 0,0 2 16,24 24-16,-24-25 0,25 25 0,-25-25 15,25 1-15,-25-2 0,24 26 16,-24-25-16,0 1 0,26 24 0,-26-26 16,25 26-16,-25-25 0,0 1 0,24 24 0,-24-25 15,25 25-15,-25-26 0,26 2 16,-26-1-16,24 25 0,-24-25 15,25 25-15,-25-24 16,25 24-16,-25-26 16,24 26-16,-24-25 15,26 25-15,-26-24 0,25 24 16,-25-25-16,24 25 0,-24-26 16,25 26-16,-25-24 15,26 24-15,-26-25 16,24 25-16,-24-25 15,25 25-15,-25-24 32,25 24-17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2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7.15719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6-08T20:13:48.284"/>
    </inkml:context>
    <inkml:brush xml:id="br0">
      <inkml:brushProperty name="width" value="0.05" units="cm"/>
      <inkml:brushProperty name="height" value="0.05" units="cm"/>
      <inkml:brushProperty name="color" value="#ED1C24"/>
      <inkml:brushProperty name="fitToCurve" value="1"/>
    </inkml:brush>
  </inkml:definitions>
  <inkml:trace contextRef="#ctx0" brushRef="#br0">0 25 0,'25'0'94,"-1"0"-94,2 0 15,-26 26-15,25-26 0,-25 24 0,24-24 16,-24 25-16,25-25 0,-25 25 0,26-25 16,-26 24-16,24-24 0,-24 26 0,25-26 0,-25 25 15,25-25-15,-25 25 0,24-25 0,-24 24 0,26-24 0,-26 26 16,25-26-16,-25 25 0,24-25 0,-24 24 0,26-24 16,-26 26-16,25-26 0,-25 25 0,24-25 0,-24 24 0,25 1 15,-25 1-15,26-26 0,-26 24 16,24-24-16,-24 25 0,25-25 0,-25 25 15,25-25-15,-25 24 0,24-24 0,-24 26 0,26-26 16,-26 25-16,25-25 0,-25 24 0,24-24 0,-24 25 16,25-25-16,1 0 15,-26 26-15</inkml:trace>
  <inkml:trace contextRef="#ctx0" brushRef="#br0" timeOffset="1089">75 674 0,'25'0'62,"-1"0"-46,1 0-16,-25-26 16,26 26-16,-26-25 0,24 25 0,-24-24 15,25 24-15,-25-25 0,25 25 16,-25-26-16,24 26 0,-24-24 0,0-1 16,26 25-16,-26-25 0,25 25 0,-25-24 0,0-2 15,0 1-15,24 25 0,-24-24 0,26 24 16,-26-25-16,25-1 0,-25 2 15,24 24-15,-24-25 0,0-1 16,25 26-16,-25-24 0,26 24 16,-26-25-16,0 0 0,24 25 0,-24-26 15,0 2-15,25 24 0,-25-25 16,0 0 0,25 25-16,-25-24 0,24 24 15,-24-26 1,26 26-1,-1 0 32,-25-25-47,24 25 47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2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7.15719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6-08T20:13:53.896"/>
    </inkml:context>
    <inkml:brush xml:id="br0">
      <inkml:brushProperty name="width" value="0.05" units="cm"/>
      <inkml:brushProperty name="height" value="0.05" units="cm"/>
      <inkml:brushProperty name="color" value="#177D36"/>
      <inkml:brushProperty name="fitToCurve" value="1"/>
    </inkml:brush>
  </inkml:definitions>
  <inkml:trace contextRef="#ctx0" brushRef="#br0">0 352 0,'25'0'78,"-25"24"-62,26-24-1,-26 25 1,24-25-16,1 26 15,-25-2 1,25-24-16,-25 25 16,24 0-16,-24-1 15,26-24-15,-26 26 0,0-1 16,25-25 0,-25 24-16,0 1 15,0 1 1,24-26-16,-24 24 15,25-24-15,-25 25 0,0 0 0,26-25 16,-26 24-16,0 2 0,24-26 16,-24 25-16,25-25 0,-25 24 15,0 1-15,25-25 16,-25 26-16,24-2 16,-24-48 265,0-2-266,0 1 1,0 1 0,26 24-16,-26-25 15,0-1-15,25 26 16,-25-24-16,0-1 0,24 25 16,-24-25-16,0 1 15,25 24-15,-25-26 0,26 26 0,-26-25 16,24 25-16,-24-24 0,25-1 15,0 25-15,-25-26 0,24 2 16,2 24-16,-26-25 0,25 25 16,-25-25-16,0 1 0,24 24 0,1 0 15,-25-26-15,0 1 0,26 25 0,-1-24 16,-1 24-16,-24-25 0,25-1 16,1 26-16,-26-24 0,0-1 15,24 25-15,-24-25 0,25 25 0,-25-24 16,25 24-16,-25-26 0,24 26 15,-24-25-15,26 25 0,-26-24 0,25 24 16,-25-25-16,24 25 16,-24-26-16,25 26 0,-25-25 15,26 25-15,-26-24 16,24 24 0,-24-25-16,-24 25 140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F64A1B-B33A-494C-96A5-F502129919B1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B99A02-4480-463B-92FE-BF9C862E4D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602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81052cbe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81052cbe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6847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81052cbe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81052cbe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081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EA4CA9E-41A0-4A25-A87E-B4F1E3C13C9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3955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900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0140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7356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970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696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060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70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6513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939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385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35175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4823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8159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539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70269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CA9E-41A0-4A25-A87E-B4F1E3C13C9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8587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840631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4CA9E-41A0-4A25-A87E-B4F1E3C13C9C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23443-0281-45D8-A12C-B743A191E0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28650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netacad.sadlab.su/games/binary/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subnetipv4.com/" TargetMode="External"/><Relationship Id="rId2" Type="http://schemas.openxmlformats.org/officeDocument/2006/relationships/hyperlink" Target="https://www.meridianoutpost.com/resources/etools/network/VLSM-practice-generator.ph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visualsubnetcalc.com/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7" Type="http://schemas.openxmlformats.org/officeDocument/2006/relationships/image" Target="../media/image34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8.xml"/><Relationship Id="rId6" Type="http://schemas.openxmlformats.org/officeDocument/2006/relationships/customXml" Target="../ink/ink3.xml"/><Relationship Id="rId5" Type="http://schemas.openxmlformats.org/officeDocument/2006/relationships/image" Target="../media/image33.emf"/><Relationship Id="rId4" Type="http://schemas.openxmlformats.org/officeDocument/2006/relationships/customXml" Target="../ink/ink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Сетевой уровень (L3): Протокол IP, Маршрутизация и адресация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0349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Проблемы канального уровня (Зачем нужен L3</a:t>
            </a:r>
            <a:r>
              <a:rPr lang="ru-RU" b="1" dirty="0" smtClean="0"/>
              <a:t>?)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Несовместимость L2-технологий (</a:t>
            </a:r>
            <a:r>
              <a:rPr lang="ru-RU" dirty="0" err="1"/>
              <a:t>Ethernet</a:t>
            </a:r>
            <a:r>
              <a:rPr lang="ru-RU" dirty="0"/>
              <a:t>, </a:t>
            </a:r>
            <a:r>
              <a:rPr lang="ru-RU" dirty="0" err="1"/>
              <a:t>Wi-Fi</a:t>
            </a:r>
            <a:r>
              <a:rPr lang="ru-RU" dirty="0"/>
              <a:t>, PPP).</a:t>
            </a:r>
          </a:p>
          <a:p>
            <a:r>
              <a:rPr lang="ru-RU" dirty="0"/>
              <a:t>Плоская адресация: MAC-адрес привязан к «железу» и не масштабируется.</a:t>
            </a:r>
          </a:p>
          <a:p>
            <a:r>
              <a:rPr lang="ru-RU" dirty="0"/>
              <a:t>Ограничения таблиц коммутации и проблема широковещательного шторма.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299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Функции сетевого уровня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L3 обеспечивает межсетевое взаимодействие, глобальную логическую адресацию и изоляцию широковещательных доменов.</a:t>
            </a:r>
            <a:endParaRPr lang="en-US" b="1" dirty="0" smtClean="0"/>
          </a:p>
          <a:p>
            <a:r>
              <a:rPr lang="ru-RU" b="1" dirty="0" smtClean="0"/>
              <a:t>Услуга </a:t>
            </a:r>
            <a:r>
              <a:rPr lang="ru-RU" b="1" dirty="0"/>
              <a:t>связи «узел-узел». </a:t>
            </a:r>
            <a:r>
              <a:rPr lang="ru-RU" dirty="0" smtClean="0"/>
              <a:t>Сетевой </a:t>
            </a:r>
            <a:r>
              <a:rPr lang="ru-RU" dirty="0"/>
              <a:t>уровень должен обеспечивать связь между узлами, не имеющими возможности связаться напрямую</a:t>
            </a:r>
            <a:r>
              <a:rPr lang="ru-RU" dirty="0" smtClean="0"/>
              <a:t>.</a:t>
            </a:r>
          </a:p>
          <a:p>
            <a:r>
              <a:rPr lang="ru-RU" b="1" dirty="0"/>
              <a:t>Адресация оконечных устройств</a:t>
            </a:r>
            <a:r>
              <a:rPr lang="ru-RU" dirty="0"/>
              <a:t> - Оконечным устройствам необходимо назначить уникальный </a:t>
            </a:r>
            <a:r>
              <a:rPr lang="ru-RU" dirty="0" smtClean="0"/>
              <a:t>адрес </a:t>
            </a:r>
            <a:r>
              <a:rPr lang="ru-RU" dirty="0"/>
              <a:t>для возможности их идентификации в сети.</a:t>
            </a:r>
          </a:p>
          <a:p>
            <a:r>
              <a:rPr lang="ru-RU" b="1" dirty="0"/>
              <a:t>Маршрутизация</a:t>
            </a:r>
            <a:r>
              <a:rPr lang="ru-RU" dirty="0"/>
              <a:t> - Сетевой уровень предоставляет сервисы, с помощью которых пакеты направляются к узлу назначения в другой </a:t>
            </a:r>
            <a:r>
              <a:rPr lang="ru-RU" dirty="0" smtClean="0"/>
              <a:t>сети.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7373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b="1" dirty="0"/>
              <a:t>IP — Internet </a:t>
            </a:r>
            <a:r>
              <a:rPr lang="af-ZA" b="1" dirty="0" smtClean="0"/>
              <a:t>Protocol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74258" y="2398957"/>
            <a:ext cx="5451924" cy="3541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6332" y="2954215"/>
            <a:ext cx="48066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Протокол IP (</a:t>
            </a:r>
            <a:r>
              <a:rPr lang="ru-RU" dirty="0" err="1"/>
              <a:t>Internet</a:t>
            </a:r>
            <a:r>
              <a:rPr lang="ru-RU" dirty="0"/>
              <a:t> </a:t>
            </a:r>
            <a:r>
              <a:rPr lang="ru-RU" dirty="0" err="1"/>
              <a:t>Protocol</a:t>
            </a:r>
            <a:r>
              <a:rPr lang="ru-RU" dirty="0"/>
              <a:t>) — это "почтальон" интернета, отвечающий за маршрутизацию пакетов данных. Он был создан в 70-х, а в 1983 году стал общеобязательным стандартом, запустив глобальный рост сети. Сегодня мир переходит с версии IPv4 на версию IPv6 из-за нехватки адресов.</a:t>
            </a:r>
          </a:p>
        </p:txBody>
      </p:sp>
    </p:spTree>
    <p:extLst>
      <p:ext uri="{BB962C8B-B14F-4D97-AF65-F5344CB8AC3E}">
        <p14:creationId xmlns:p14="http://schemas.microsoft.com/office/powerpoint/2010/main" val="133278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Инкапсуляция </a:t>
            </a:r>
            <a:r>
              <a:rPr lang="af-ZA" b="1" dirty="0" smtClean="0"/>
              <a:t>IP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7055" y="1899291"/>
            <a:ext cx="7834714" cy="446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991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Инкапсуляция </a:t>
            </a:r>
            <a:r>
              <a:rPr lang="af-ZA" b="1" dirty="0" smtClean="0"/>
              <a:t>IP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4770" y="2249487"/>
            <a:ext cx="9474068" cy="361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69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Инкапсуляция </a:t>
            </a:r>
            <a:r>
              <a:rPr lang="af-ZA" b="1" dirty="0" smtClean="0"/>
              <a:t>IP</a:t>
            </a:r>
            <a:endParaRPr lang="ru-RU" dirty="0"/>
          </a:p>
        </p:txBody>
      </p:sp>
      <p:pic>
        <p:nvPicPr>
          <p:cNvPr id="1028" name="Picture 4" descr="Работа сетевых устройств на уровнях модели OSI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224" y="2097088"/>
            <a:ext cx="9191100" cy="4405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5123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Модель </a:t>
            </a:r>
            <a:r>
              <a:rPr lang="ru-RU" b="1" dirty="0" smtClean="0"/>
              <a:t>обслуживания </a:t>
            </a:r>
            <a:r>
              <a:rPr lang="en-US" b="1" dirty="0" smtClean="0"/>
              <a:t>IP – best effort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Без установления соединения </a:t>
            </a:r>
            <a:r>
              <a:rPr lang="ru-RU" dirty="0"/>
              <a:t>- </a:t>
            </a:r>
            <a:r>
              <a:rPr lang="ru-RU" dirty="0" smtClean="0"/>
              <a:t>перед </a:t>
            </a:r>
            <a:r>
              <a:rPr lang="ru-RU" dirty="0"/>
              <a:t>отправкой пакетов данных соединение с хостом назначения не устанавливается.</a:t>
            </a:r>
          </a:p>
          <a:p>
            <a:r>
              <a:rPr lang="ru-RU" b="1" dirty="0"/>
              <a:t>Негарантированная доставка</a:t>
            </a:r>
            <a:r>
              <a:rPr lang="ru-RU" dirty="0"/>
              <a:t> - </a:t>
            </a:r>
            <a:r>
              <a:rPr lang="ru-RU" dirty="0" smtClean="0"/>
              <a:t>IP-протокол </a:t>
            </a:r>
            <a:r>
              <a:rPr lang="ru-RU" dirty="0"/>
              <a:t>по своей сути неустойчив, так как доставка пакетов не гарантируется.</a:t>
            </a:r>
          </a:p>
          <a:p>
            <a:r>
              <a:rPr lang="ru-RU" b="1" dirty="0"/>
              <a:t>Независимость от среды</a:t>
            </a:r>
            <a:r>
              <a:rPr lang="ru-RU" dirty="0"/>
              <a:t> - работа не зависит от средства подключения (медный, оптоволоконный кабель или беспроводная среда).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6274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1413" y="164249"/>
            <a:ext cx="9905998" cy="1478570"/>
          </a:xfrm>
        </p:spPr>
        <p:txBody>
          <a:bodyPr/>
          <a:lstStyle/>
          <a:p>
            <a:r>
              <a:rPr lang="ru-RU" b="1" dirty="0"/>
              <a:t>Формат </a:t>
            </a:r>
            <a:r>
              <a:rPr lang="af-ZA" b="1" dirty="0"/>
              <a:t>IP-</a:t>
            </a:r>
            <a:r>
              <a:rPr lang="ru-RU" b="1" dirty="0" smtClean="0"/>
              <a:t>пакета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8683" y="1642819"/>
            <a:ext cx="6391458" cy="496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13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Структура </a:t>
            </a:r>
            <a:r>
              <a:rPr lang="af-ZA" b="1" dirty="0"/>
              <a:t>IPv4-</a:t>
            </a:r>
            <a:r>
              <a:rPr lang="ru-RU" b="1" dirty="0" smtClean="0"/>
              <a:t>адреса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1932964"/>
            <a:ext cx="9905999" cy="170705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IPv4-адрес — это уникальный 32-битный числовой идентификатор, присваиваемый каждому устройству в сети для его идентификации и маршрутизации трафика.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141412" y="453048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539" y="3734217"/>
            <a:ext cx="8855268" cy="283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58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 двоичной в десятичную</a:t>
            </a:r>
            <a:endParaRPr lang="ru-RU" dirty="0"/>
          </a:p>
        </p:txBody>
      </p:sp>
      <p:pic>
        <p:nvPicPr>
          <p:cNvPr id="4098" name="Picture 2" descr="Как переводить из двоичной системы в десятичную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2515" y="1900603"/>
            <a:ext cx="5187462" cy="3890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629400" y="3335762"/>
            <a:ext cx="4875211" cy="1020277"/>
          </a:xfrm>
        </p:spPr>
        <p:txBody>
          <a:bodyPr/>
          <a:lstStyle/>
          <a:p>
            <a:r>
              <a:rPr lang="ru-RU" dirty="0" smtClean="0"/>
              <a:t>Нужно выписать значения значащих разрядов и сложить их</a:t>
            </a:r>
            <a:endParaRPr lang="ru-RU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141412" y="453048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586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 десятичной в двоичную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68915" y="1723292"/>
            <a:ext cx="5156565" cy="4914900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Делим </a:t>
            </a:r>
            <a:r>
              <a:rPr lang="ru-RU" dirty="0" smtClean="0"/>
              <a:t>n​</a:t>
            </a:r>
            <a:r>
              <a:rPr lang="ru-RU" dirty="0"/>
              <a:t> на 2 и записываем остаток от деления.</a:t>
            </a:r>
          </a:p>
          <a:p>
            <a:r>
              <a:rPr lang="ru-RU" dirty="0"/>
              <a:t>Результат деления вновь делим на 2 и опять записываем остаток.</a:t>
            </a:r>
          </a:p>
          <a:p>
            <a:r>
              <a:rPr lang="ru-RU" dirty="0"/>
              <a:t>Повторяем операцию до тех пор, пока результат деления не будет равен нулю.</a:t>
            </a:r>
          </a:p>
          <a:p>
            <a:r>
              <a:rPr lang="ru-RU" dirty="0"/>
              <a:t>Записываем полученные остатки в обратном порядке. Полученное число и будет </a:t>
            </a:r>
            <a:r>
              <a:rPr lang="ru-RU" dirty="0" smtClean="0"/>
              <a:t>искомым​.</a:t>
            </a:r>
          </a:p>
          <a:p>
            <a:pPr marL="0" indent="0">
              <a:buNone/>
            </a:pPr>
            <a:r>
              <a:rPr lang="en-US" dirty="0" smtClean="0">
                <a:hlinkClick r:id="rId2"/>
              </a:rPr>
              <a:t>Binary Game</a:t>
            </a:r>
            <a:endParaRPr lang="ru-RU" dirty="0"/>
          </a:p>
        </p:txBody>
      </p:sp>
      <p:pic>
        <p:nvPicPr>
          <p:cNvPr id="5122" name="Picture 2" descr="Метод подбора степеней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612" y="1928812"/>
            <a:ext cx="4094712" cy="433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2350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6244" y="0"/>
            <a:ext cx="9905998" cy="1478570"/>
          </a:xfrm>
        </p:spPr>
        <p:txBody>
          <a:bodyPr/>
          <a:lstStyle/>
          <a:p>
            <a:r>
              <a:rPr lang="ru-RU" b="1" dirty="0"/>
              <a:t>Классовая </a:t>
            </a:r>
            <a:r>
              <a:rPr lang="ru-RU" b="1" dirty="0" smtClean="0"/>
              <a:t>адресация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6747" y="1216878"/>
            <a:ext cx="10359292" cy="1444261"/>
          </a:xfrm>
          <a:prstGeom prst="rect">
            <a:avLst/>
          </a:prstGeom>
        </p:spPr>
      </p:pic>
      <p:pic>
        <p:nvPicPr>
          <p:cNvPr id="3074" name="Picture 2" descr="Типы IPv4-адресов. Бесклассовая адресация. CCNA Routing and Switching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037" y="2907323"/>
            <a:ext cx="575310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97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Недостатки классовой адресации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1698259"/>
          </a:xfrm>
        </p:spPr>
        <p:txBody>
          <a:bodyPr/>
          <a:lstStyle/>
          <a:p>
            <a:r>
              <a:rPr lang="ru-RU" dirty="0" smtClean="0"/>
              <a:t>Перерасход адресов</a:t>
            </a:r>
          </a:p>
          <a:p>
            <a:r>
              <a:rPr lang="ru-RU" dirty="0" smtClean="0"/>
              <a:t>Отсутствие гибкости</a:t>
            </a:r>
          </a:p>
          <a:p>
            <a:r>
              <a:rPr lang="ru-RU" dirty="0" smtClean="0"/>
              <a:t>Большие таблицы маршрутизации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784081"/>
              </p:ext>
            </p:extLst>
          </p:nvPr>
        </p:nvGraphicFramePr>
        <p:xfrm>
          <a:off x="1371600" y="4100145"/>
          <a:ext cx="3226778" cy="2407920"/>
        </p:xfrm>
        <a:graphic>
          <a:graphicData uri="http://schemas.openxmlformats.org/drawingml/2006/table">
            <a:tbl>
              <a:tblPr/>
              <a:tblGrid>
                <a:gridCol w="712177">
                  <a:extLst>
                    <a:ext uri="{9D8B030D-6E8A-4147-A177-3AD203B41FA5}">
                      <a16:colId xmlns:a16="http://schemas.microsoft.com/office/drawing/2014/main" val="4037843665"/>
                    </a:ext>
                  </a:extLst>
                </a:gridCol>
                <a:gridCol w="2514601">
                  <a:extLst>
                    <a:ext uri="{9D8B030D-6E8A-4147-A177-3AD203B41FA5}">
                      <a16:colId xmlns:a16="http://schemas.microsoft.com/office/drawing/2014/main" val="36032409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Номер сети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Куда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79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3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Кампус университета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757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4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Кампус университета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0490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...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Кампус университета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5697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7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Кампус университета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012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15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Кампус университета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4849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...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Кампус университета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2882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19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Кампус университета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311425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141413" y="25415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119738"/>
              </p:ext>
            </p:extLst>
          </p:nvPr>
        </p:nvGraphicFramePr>
        <p:xfrm>
          <a:off x="7237413" y="4749750"/>
          <a:ext cx="4303713" cy="1108710"/>
        </p:xfrm>
        <a:graphic>
          <a:graphicData uri="http://schemas.openxmlformats.org/drawingml/2006/table">
            <a:tbl>
              <a:tblPr/>
              <a:tblGrid>
                <a:gridCol w="1342761">
                  <a:extLst>
                    <a:ext uri="{9D8B030D-6E8A-4147-A177-3AD203B41FA5}">
                      <a16:colId xmlns:a16="http://schemas.microsoft.com/office/drawing/2014/main" val="4265420527"/>
                    </a:ext>
                  </a:extLst>
                </a:gridCol>
                <a:gridCol w="2960952">
                  <a:extLst>
                    <a:ext uri="{9D8B030D-6E8A-4147-A177-3AD203B41FA5}">
                      <a16:colId xmlns:a16="http://schemas.microsoft.com/office/drawing/2014/main" val="12827823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Номер сети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Куда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242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3-7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Кампус университета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586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15-19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Кампус университета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5434204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141413" y="34655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Стрелка вправо 7"/>
          <p:cNvSpPr/>
          <p:nvPr/>
        </p:nvSpPr>
        <p:spPr>
          <a:xfrm>
            <a:off x="5029200" y="4871670"/>
            <a:ext cx="1951892" cy="7729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5841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dirty="0"/>
              <a:t>CIDR (Classless Inter-Domain Routing)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Описана в 1993 году в </a:t>
            </a:r>
            <a:r>
              <a:rPr lang="en-US" dirty="0" smtClean="0"/>
              <a:t>RFC 1517</a:t>
            </a:r>
            <a:endParaRPr lang="ru-RU" dirty="0" smtClean="0"/>
          </a:p>
          <a:p>
            <a:r>
              <a:rPr lang="ru-RU" dirty="0" smtClean="0"/>
              <a:t>Размер сети определяется «маской подсети»</a:t>
            </a:r>
            <a:endParaRPr lang="en-US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749" y="3732757"/>
            <a:ext cx="9621593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694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Связь адреса IPv4 с маской </a:t>
            </a:r>
            <a:r>
              <a:rPr lang="ru-RU" dirty="0" smtClean="0"/>
              <a:t>подсети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1285" y="2284658"/>
            <a:ext cx="8486253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393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1" y="328372"/>
            <a:ext cx="9905998" cy="1478570"/>
          </a:xfrm>
        </p:spPr>
        <p:txBody>
          <a:bodyPr/>
          <a:lstStyle/>
          <a:p>
            <a:r>
              <a:rPr lang="ru-RU" dirty="0" smtClean="0"/>
              <a:t>использование </a:t>
            </a:r>
            <a:r>
              <a:rPr lang="ru-RU" dirty="0"/>
              <a:t>масок подсети фиксированной длины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1842" y="1660219"/>
            <a:ext cx="5544539" cy="47405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54528" y="3472929"/>
            <a:ext cx="3898824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192.168.20.0/24</a:t>
            </a:r>
            <a:endParaRPr lang="ru-RU" sz="4000" dirty="0" smtClean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382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11165" y="2268419"/>
            <a:ext cx="10858500" cy="293663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    </a:t>
            </a:r>
            <a:r>
              <a:rPr lang="ru-RU" dirty="0" smtClean="0"/>
              <a:t>19</a:t>
            </a:r>
            <a:r>
              <a:rPr lang="en-US" dirty="0" smtClean="0"/>
              <a:t>2.            168.            20.                0</a:t>
            </a:r>
            <a:br>
              <a:rPr lang="en-US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11000000</a:t>
            </a:r>
            <a:r>
              <a:rPr lang="en-US" dirty="0" smtClean="0"/>
              <a:t> 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ru-RU" dirty="0" smtClean="0"/>
              <a:t>10101000</a:t>
            </a:r>
            <a:r>
              <a:rPr lang="en-US" dirty="0" smtClean="0"/>
              <a:t> 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ru-RU" dirty="0" smtClean="0"/>
              <a:t>00010100</a:t>
            </a:r>
            <a:r>
              <a:rPr lang="en-US" dirty="0" smtClean="0"/>
              <a:t> 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ru-RU" dirty="0" smtClean="0"/>
              <a:t>00000000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en-US" dirty="0" smtClean="0"/>
              <a:t>     255.           255.             255.             0</a:t>
            </a:r>
            <a:br>
              <a:rPr lang="en-US" dirty="0" smtClean="0"/>
            </a:b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>11111111</a:t>
            </a:r>
            <a:r>
              <a:rPr lang="en-US" dirty="0" smtClean="0"/>
              <a:t> 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ru-RU" dirty="0" smtClean="0"/>
              <a:t>11111111</a:t>
            </a:r>
            <a:r>
              <a:rPr lang="en-US" dirty="0" smtClean="0"/>
              <a:t> 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ru-RU" dirty="0" smtClean="0"/>
              <a:t>11111111</a:t>
            </a:r>
            <a:r>
              <a:rPr lang="en-US" dirty="0" smtClean="0"/>
              <a:t> 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ru-RU" dirty="0" smtClean="0"/>
              <a:t>00000000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 flipH="1">
            <a:off x="1521069" y="2242041"/>
            <a:ext cx="509954" cy="571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2883877" y="2193683"/>
            <a:ext cx="553915" cy="668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5014546" y="2193683"/>
            <a:ext cx="553915" cy="668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7019193" y="2193683"/>
            <a:ext cx="553915" cy="668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9023840" y="2154118"/>
            <a:ext cx="553915" cy="668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9146934" y="3928699"/>
            <a:ext cx="553915" cy="668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7019193" y="3928698"/>
            <a:ext cx="553915" cy="668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4891452" y="3927231"/>
            <a:ext cx="553915" cy="668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2941030" y="3927231"/>
            <a:ext cx="553915" cy="668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 flipH="1">
            <a:off x="3653204" y="2250833"/>
            <a:ext cx="509954" cy="571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 flipH="1">
            <a:off x="5640267" y="2250833"/>
            <a:ext cx="509954" cy="571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 flipH="1">
            <a:off x="7788520" y="2242040"/>
            <a:ext cx="509954" cy="571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 flipH="1">
            <a:off x="1411165" y="4023945"/>
            <a:ext cx="509954" cy="571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 flipH="1">
            <a:off x="3541834" y="4023945"/>
            <a:ext cx="509954" cy="571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 flipH="1">
            <a:off x="5722326" y="3975588"/>
            <a:ext cx="509954" cy="571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 flipH="1">
            <a:off x="7850067" y="3975588"/>
            <a:ext cx="509954" cy="571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252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6005" y="2725620"/>
            <a:ext cx="8699989" cy="50115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    </a:t>
            </a:r>
            <a:r>
              <a:rPr lang="ru-RU" dirty="0" smtClean="0"/>
              <a:t>19</a:t>
            </a:r>
            <a:r>
              <a:rPr lang="en-US" dirty="0" smtClean="0"/>
              <a:t>2.            168.            20.                0</a:t>
            </a:r>
            <a:br>
              <a:rPr lang="en-US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>
                <a:solidFill>
                  <a:srgbClr val="FF0000"/>
                </a:solidFill>
              </a:rPr>
              <a:t>11000000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ru-RU" dirty="0" smtClean="0">
                <a:solidFill>
                  <a:srgbClr val="FF0000"/>
                </a:solidFill>
              </a:rPr>
              <a:t>.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ru-RU" dirty="0" smtClean="0">
                <a:solidFill>
                  <a:srgbClr val="FF0000"/>
                </a:solidFill>
              </a:rPr>
              <a:t>10101000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ru-RU" dirty="0" smtClean="0">
                <a:solidFill>
                  <a:srgbClr val="FF0000"/>
                </a:solidFill>
              </a:rPr>
              <a:t>.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ru-RU" dirty="0" smtClean="0">
                <a:solidFill>
                  <a:srgbClr val="FF0000"/>
                </a:solidFill>
              </a:rPr>
              <a:t>00010100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ru-RU" dirty="0" smtClean="0">
                <a:solidFill>
                  <a:srgbClr val="FF0000"/>
                </a:solidFill>
              </a:rPr>
              <a:t>.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ru-RU" dirty="0" smtClean="0">
                <a:solidFill>
                  <a:srgbClr val="00B050"/>
                </a:solidFill>
              </a:rPr>
              <a:t>00000000</a:t>
            </a: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Правая фигурная скобка 2"/>
          <p:cNvSpPr/>
          <p:nvPr/>
        </p:nvSpPr>
        <p:spPr>
          <a:xfrm rot="5400000">
            <a:off x="4562841" y="611071"/>
            <a:ext cx="760535" cy="6180994"/>
          </a:xfrm>
          <a:prstGeom prst="rightBrace">
            <a:avLst>
              <a:gd name="adj1" fmla="val 3708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23" name="Правая фигурная скобка 22"/>
          <p:cNvSpPr/>
          <p:nvPr/>
        </p:nvSpPr>
        <p:spPr>
          <a:xfrm rot="5400000">
            <a:off x="8661154" y="2773982"/>
            <a:ext cx="760535" cy="1855175"/>
          </a:xfrm>
          <a:prstGeom prst="rightBrace">
            <a:avLst>
              <a:gd name="adj1" fmla="val 3708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16480" y="4176358"/>
            <a:ext cx="39095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Сетевая часть:</a:t>
            </a:r>
          </a:p>
          <a:p>
            <a:r>
              <a:rPr lang="ru-RU" b="1" dirty="0" smtClean="0"/>
              <a:t>Зафиксирована, не можем изменять</a:t>
            </a:r>
            <a:endParaRPr lang="ru-RU" b="1" dirty="0"/>
          </a:p>
        </p:txBody>
      </p:sp>
      <p:sp>
        <p:nvSpPr>
          <p:cNvPr id="6" name="TextBox 5"/>
          <p:cNvSpPr txBox="1"/>
          <p:nvPr/>
        </p:nvSpPr>
        <p:spPr>
          <a:xfrm>
            <a:off x="7836875" y="4119128"/>
            <a:ext cx="27594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Узловая часть:</a:t>
            </a:r>
          </a:p>
          <a:p>
            <a:r>
              <a:rPr lang="ru-RU" b="1" dirty="0" smtClean="0"/>
              <a:t>Можем свободно менять</a:t>
            </a:r>
          </a:p>
          <a:p>
            <a:r>
              <a:rPr lang="ru-RU" b="1" dirty="0" smtClean="0"/>
              <a:t>По своему усмотрению</a:t>
            </a:r>
            <a:endParaRPr lang="ru-RU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238375" y="5136980"/>
            <a:ext cx="828601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>
                <a:solidFill>
                  <a:srgbClr val="FF0000"/>
                </a:solidFill>
              </a:rPr>
              <a:t>11111111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ru-RU" sz="2800" dirty="0">
                <a:solidFill>
                  <a:srgbClr val="FF0000"/>
                </a:solidFill>
              </a:rPr>
              <a:t>.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ru-RU" sz="2800" dirty="0">
                <a:solidFill>
                  <a:srgbClr val="FF0000"/>
                </a:solidFill>
              </a:rPr>
              <a:t>11111111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ru-RU" sz="2800" dirty="0">
                <a:solidFill>
                  <a:srgbClr val="FF0000"/>
                </a:solidFill>
              </a:rPr>
              <a:t>.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ru-RU" sz="2800" dirty="0">
                <a:solidFill>
                  <a:srgbClr val="FF0000"/>
                </a:solidFill>
              </a:rPr>
              <a:t>11111111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ru-RU" sz="2800" dirty="0">
                <a:solidFill>
                  <a:srgbClr val="FF0000"/>
                </a:solidFill>
              </a:rPr>
              <a:t>.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ru-RU" sz="2800" dirty="0">
                <a:solidFill>
                  <a:srgbClr val="00B050"/>
                </a:solidFill>
              </a:rPr>
              <a:t>00000000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418619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9528" y="395659"/>
            <a:ext cx="4259141" cy="298933"/>
          </a:xfrm>
        </p:spPr>
        <p:txBody>
          <a:bodyPr>
            <a:normAutofit fontScale="90000"/>
          </a:bodyPr>
          <a:lstStyle/>
          <a:p>
            <a:r>
              <a:rPr lang="ru-RU" sz="2200" dirty="0" smtClean="0">
                <a:solidFill>
                  <a:srgbClr val="FF0000"/>
                </a:solidFill>
              </a:rPr>
              <a:t>11000000</a:t>
            </a:r>
            <a:r>
              <a:rPr lang="en-US" sz="2200" dirty="0" smtClean="0">
                <a:solidFill>
                  <a:srgbClr val="FF0000"/>
                </a:solidFill>
              </a:rPr>
              <a:t> </a:t>
            </a:r>
            <a:r>
              <a:rPr lang="ru-RU" sz="2200" dirty="0" smtClean="0">
                <a:solidFill>
                  <a:srgbClr val="FF0000"/>
                </a:solidFill>
              </a:rPr>
              <a:t>.</a:t>
            </a:r>
            <a:r>
              <a:rPr lang="en-US" sz="2200" dirty="0" smtClean="0">
                <a:solidFill>
                  <a:srgbClr val="FF0000"/>
                </a:solidFill>
              </a:rPr>
              <a:t> </a:t>
            </a:r>
            <a:r>
              <a:rPr lang="ru-RU" sz="2200" dirty="0" smtClean="0">
                <a:solidFill>
                  <a:srgbClr val="FF0000"/>
                </a:solidFill>
              </a:rPr>
              <a:t>10101000</a:t>
            </a:r>
            <a:r>
              <a:rPr lang="en-US" sz="2200" dirty="0" smtClean="0">
                <a:solidFill>
                  <a:srgbClr val="FF0000"/>
                </a:solidFill>
              </a:rPr>
              <a:t> </a:t>
            </a:r>
            <a:r>
              <a:rPr lang="ru-RU" sz="2200" dirty="0" smtClean="0">
                <a:solidFill>
                  <a:srgbClr val="FF0000"/>
                </a:solidFill>
              </a:rPr>
              <a:t>.</a:t>
            </a:r>
            <a:r>
              <a:rPr lang="en-US" sz="2200" dirty="0" smtClean="0">
                <a:solidFill>
                  <a:srgbClr val="FF0000"/>
                </a:solidFill>
              </a:rPr>
              <a:t> </a:t>
            </a:r>
            <a:r>
              <a:rPr lang="ru-RU" sz="2200" dirty="0" smtClean="0">
                <a:solidFill>
                  <a:srgbClr val="FF0000"/>
                </a:solidFill>
              </a:rPr>
              <a:t>00010100</a:t>
            </a:r>
            <a:r>
              <a:rPr lang="en-US" sz="2200" dirty="0" smtClean="0">
                <a:solidFill>
                  <a:srgbClr val="FF0000"/>
                </a:solidFill>
              </a:rPr>
              <a:t> </a:t>
            </a:r>
            <a:r>
              <a:rPr lang="ru-RU" sz="2200" dirty="0" smtClean="0">
                <a:solidFill>
                  <a:srgbClr val="FF0000"/>
                </a:solidFill>
              </a:rPr>
              <a:t>.</a:t>
            </a:r>
            <a:r>
              <a:rPr lang="en-US" sz="2200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cxnSp>
        <p:nvCxnSpPr>
          <p:cNvPr id="7" name="Прямая со стрелкой 6"/>
          <p:cNvCxnSpPr/>
          <p:nvPr/>
        </p:nvCxnSpPr>
        <p:spPr>
          <a:xfrm flipH="1" flipV="1">
            <a:off x="4967655" y="325316"/>
            <a:ext cx="826476" cy="70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99639" y="149447"/>
            <a:ext cx="35345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Сетевую часть пока убираем в сторону, работаем только с узловой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391255" y="1318848"/>
            <a:ext cx="80801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Давайте </a:t>
            </a:r>
            <a:r>
              <a:rPr lang="ru-RU" b="1" dirty="0"/>
              <a:t>рассмотрим узловую часть как </a:t>
            </a:r>
            <a:r>
              <a:rPr lang="en-US" b="1" dirty="0"/>
              <a:t>IP-</a:t>
            </a:r>
            <a:r>
              <a:rPr lang="ru-RU" b="1" dirty="0"/>
              <a:t>адрес в миниатюре!</a:t>
            </a:r>
          </a:p>
          <a:p>
            <a:r>
              <a:rPr lang="ru-RU" dirty="0" smtClean="0"/>
              <a:t>Разобьем её на два части по аналогии с </a:t>
            </a:r>
            <a:r>
              <a:rPr lang="en-US" dirty="0" smtClean="0"/>
              <a:t>IP</a:t>
            </a:r>
            <a:r>
              <a:rPr lang="ru-RU" dirty="0" smtClean="0"/>
              <a:t>-адресом: </a:t>
            </a:r>
            <a:r>
              <a:rPr lang="ru-RU" b="1" i="1" dirty="0" smtClean="0"/>
              <a:t>ПОДСЕТЕВУЮ </a:t>
            </a:r>
            <a:r>
              <a:rPr lang="ru-RU" b="1" dirty="0" smtClean="0"/>
              <a:t>и УЗЛОВУЮ </a:t>
            </a:r>
            <a:endParaRPr lang="ru-RU" dirty="0" smtClean="0"/>
          </a:p>
          <a:p>
            <a:endParaRPr lang="ru-RU" b="1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8541727" y="1072777"/>
            <a:ext cx="267252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rgbClr val="00B050"/>
                </a:solidFill>
              </a:rPr>
              <a:t>00000000</a:t>
            </a:r>
            <a:endParaRPr lang="ru-RU" b="1" dirty="0"/>
          </a:p>
        </p:txBody>
      </p:sp>
      <p:sp>
        <p:nvSpPr>
          <p:cNvPr id="17" name="Правая фигурная скобка 16"/>
          <p:cNvSpPr/>
          <p:nvPr/>
        </p:nvSpPr>
        <p:spPr>
          <a:xfrm rot="5400000">
            <a:off x="9560594" y="567511"/>
            <a:ext cx="494119" cy="2672526"/>
          </a:xfrm>
          <a:prstGeom prst="rightBrace">
            <a:avLst>
              <a:gd name="adj1" fmla="val 3708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50402" y="2170516"/>
            <a:ext cx="1855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Узловая часть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2424486" y="3429000"/>
            <a:ext cx="254316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b="1" dirty="0" smtClean="0"/>
              <a:t>Длина узловой части</a:t>
            </a:r>
          </a:p>
          <a:p>
            <a:pPr algn="r"/>
            <a:r>
              <a:rPr lang="ru-RU" b="1" dirty="0" smtClean="0"/>
              <a:t>0</a:t>
            </a:r>
            <a:endParaRPr lang="ru-RU" b="1" dirty="0"/>
          </a:p>
          <a:p>
            <a:pPr algn="r"/>
            <a:r>
              <a:rPr lang="ru-RU" b="1" dirty="0"/>
              <a:t>00</a:t>
            </a:r>
          </a:p>
          <a:p>
            <a:pPr algn="r"/>
            <a:r>
              <a:rPr lang="ru-RU" b="1" dirty="0"/>
              <a:t>000</a:t>
            </a:r>
          </a:p>
          <a:p>
            <a:pPr algn="r"/>
            <a:r>
              <a:rPr lang="ru-RU" b="1" dirty="0"/>
              <a:t>0000</a:t>
            </a:r>
          </a:p>
          <a:p>
            <a:pPr algn="r"/>
            <a:r>
              <a:rPr lang="ru-RU" b="1" dirty="0"/>
              <a:t>00000</a:t>
            </a:r>
          </a:p>
          <a:p>
            <a:pPr algn="r"/>
            <a:r>
              <a:rPr lang="ru-RU" b="1" dirty="0"/>
              <a:t>000000</a:t>
            </a:r>
          </a:p>
          <a:p>
            <a:pPr algn="r"/>
            <a:r>
              <a:rPr lang="ru-RU" b="1" dirty="0"/>
              <a:t>0000000</a:t>
            </a:r>
          </a:p>
          <a:p>
            <a:pPr algn="r"/>
            <a:r>
              <a:rPr lang="ru-RU" b="1" dirty="0"/>
              <a:t>00000000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391255" y="3429000"/>
            <a:ext cx="243913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Количество адресов</a:t>
            </a:r>
          </a:p>
          <a:p>
            <a:r>
              <a:rPr lang="ru-RU" b="1" dirty="0" smtClean="0"/>
              <a:t>2 </a:t>
            </a:r>
            <a:endParaRPr lang="ru-RU" b="1" dirty="0"/>
          </a:p>
          <a:p>
            <a:r>
              <a:rPr lang="ru-RU" b="1" dirty="0" smtClean="0"/>
              <a:t>4 </a:t>
            </a:r>
            <a:endParaRPr lang="ru-RU" b="1" dirty="0"/>
          </a:p>
          <a:p>
            <a:r>
              <a:rPr lang="ru-RU" b="1" dirty="0" smtClean="0"/>
              <a:t>8 </a:t>
            </a:r>
            <a:endParaRPr lang="ru-RU" b="1" dirty="0"/>
          </a:p>
          <a:p>
            <a:r>
              <a:rPr lang="ru-RU" b="1" dirty="0" smtClean="0"/>
              <a:t>16 </a:t>
            </a:r>
            <a:endParaRPr lang="ru-RU" b="1" dirty="0"/>
          </a:p>
          <a:p>
            <a:r>
              <a:rPr lang="ru-RU" b="1" dirty="0" smtClean="0"/>
              <a:t>32</a:t>
            </a:r>
            <a:endParaRPr lang="ru-RU" b="1" dirty="0"/>
          </a:p>
          <a:p>
            <a:r>
              <a:rPr lang="ru-RU" b="1" dirty="0" smtClean="0"/>
              <a:t>64</a:t>
            </a:r>
            <a:endParaRPr lang="ru-RU" b="1" dirty="0"/>
          </a:p>
          <a:p>
            <a:r>
              <a:rPr lang="ru-RU" b="1" dirty="0" smtClean="0"/>
              <a:t>128</a:t>
            </a:r>
            <a:endParaRPr lang="ru-RU" b="1" dirty="0"/>
          </a:p>
          <a:p>
            <a:r>
              <a:rPr lang="ru-RU" b="1" dirty="0" smtClean="0"/>
              <a:t>256</a:t>
            </a:r>
            <a:endParaRPr lang="ru-RU" b="1" dirty="0"/>
          </a:p>
        </p:txBody>
      </p:sp>
      <p:cxnSp>
        <p:nvCxnSpPr>
          <p:cNvPr id="22" name="Прямая со стрелкой 21"/>
          <p:cNvCxnSpPr/>
          <p:nvPr/>
        </p:nvCxnSpPr>
        <p:spPr>
          <a:xfrm flipH="1" flipV="1">
            <a:off x="4967655" y="4985239"/>
            <a:ext cx="826476" cy="483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/>
          <p:cNvSpPr/>
          <p:nvPr/>
        </p:nvSpPr>
        <p:spPr>
          <a:xfrm>
            <a:off x="5794131" y="3134042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/>
              <a:t>ШАГ №1: ОПРЕДЕЛИТЬСЯ С РАЗМЕРОМ НОВОЙ УЗЛОВОЙ ЧАСТИ</a:t>
            </a:r>
          </a:p>
          <a:p>
            <a:endParaRPr lang="ru-RU" dirty="0"/>
          </a:p>
          <a:p>
            <a:r>
              <a:rPr lang="ru-RU" dirty="0"/>
              <a:t>По заданию нужно разбить сети так, чтобы туда поместились 25, 15, 20 и 28 узлов. Нужно подобрать такую узловую часть, чтобы туда поместилось указанное количество узлов</a:t>
            </a:r>
            <a:r>
              <a:rPr lang="ru-RU" dirty="0" smtClean="0"/>
              <a:t>.</a:t>
            </a:r>
          </a:p>
          <a:p>
            <a:r>
              <a:rPr lang="ru-RU" dirty="0" smtClean="0"/>
              <a:t>Минимально </a:t>
            </a:r>
            <a:r>
              <a:rPr lang="ru-RU" dirty="0"/>
              <a:t>возможный размер узловой части для такого задания: </a:t>
            </a:r>
            <a:r>
              <a:rPr lang="ru-RU" b="1" dirty="0"/>
              <a:t>5 бит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954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24510" y="1514994"/>
            <a:ext cx="74869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ШАГ №2: ОТДЕЛЯЕМ НОВУЮ УЗЛОВУЮ ЧАСТЬ ОТ </a:t>
            </a:r>
            <a:r>
              <a:rPr lang="ru-RU" b="1" i="1" dirty="0" smtClean="0"/>
              <a:t>ПОДСЕТЕВОЙ</a:t>
            </a:r>
            <a:endParaRPr lang="ru-RU" b="1" dirty="0" smtClean="0"/>
          </a:p>
          <a:p>
            <a:r>
              <a:rPr lang="ru-RU" dirty="0" smtClean="0"/>
              <a:t>Теперь применим к нашему подобию </a:t>
            </a:r>
            <a:r>
              <a:rPr lang="en-US" dirty="0" smtClean="0"/>
              <a:t>IP</a:t>
            </a:r>
            <a:r>
              <a:rPr lang="ru-RU" dirty="0" smtClean="0"/>
              <a:t>-адреса маску </a:t>
            </a:r>
            <a:r>
              <a:rPr lang="ru-RU" b="1" i="1" dirty="0" smtClean="0"/>
              <a:t>подсети</a:t>
            </a:r>
            <a:endParaRPr lang="ru-RU" i="1" dirty="0"/>
          </a:p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723843" y="2415876"/>
            <a:ext cx="303480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000  </a:t>
            </a:r>
            <a:r>
              <a:rPr lang="ru-RU" sz="4400" b="1" dirty="0" smtClean="0">
                <a:solidFill>
                  <a:srgbClr val="00B050"/>
                </a:solidFill>
              </a:rPr>
              <a:t> 00000</a:t>
            </a:r>
            <a:endParaRPr lang="ru-RU" b="1" dirty="0"/>
          </a:p>
        </p:txBody>
      </p:sp>
      <p:sp>
        <p:nvSpPr>
          <p:cNvPr id="6" name="Правая фигурная скобка 5"/>
          <p:cNvSpPr/>
          <p:nvPr/>
        </p:nvSpPr>
        <p:spPr>
          <a:xfrm rot="5400000">
            <a:off x="6694597" y="3384197"/>
            <a:ext cx="494119" cy="1503484"/>
          </a:xfrm>
          <a:prstGeom prst="rightBrace">
            <a:avLst>
              <a:gd name="adj1" fmla="val 3708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42462" y="4350269"/>
            <a:ext cx="1010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Узловая</a:t>
            </a:r>
          </a:p>
        </p:txBody>
      </p:sp>
      <p:sp>
        <p:nvSpPr>
          <p:cNvPr id="8" name="Правая фигурная скобка 7"/>
          <p:cNvSpPr/>
          <p:nvPr/>
        </p:nvSpPr>
        <p:spPr>
          <a:xfrm rot="5400000">
            <a:off x="5002081" y="3599658"/>
            <a:ext cx="494119" cy="1010708"/>
          </a:xfrm>
          <a:prstGeom prst="rightBrace">
            <a:avLst>
              <a:gd name="adj1" fmla="val 3708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1268143" y="149447"/>
            <a:ext cx="4259141" cy="298933"/>
          </a:xfrm>
        </p:spPr>
        <p:txBody>
          <a:bodyPr>
            <a:noAutofit/>
          </a:bodyPr>
          <a:lstStyle/>
          <a:p>
            <a:r>
              <a:rPr lang="ru-RU" sz="1800" dirty="0" smtClean="0">
                <a:solidFill>
                  <a:srgbClr val="FF0000"/>
                </a:solidFill>
              </a:rPr>
              <a:t>11000000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ru-RU" sz="1800" dirty="0" smtClean="0">
                <a:solidFill>
                  <a:srgbClr val="FF0000"/>
                </a:solidFill>
              </a:rPr>
              <a:t>.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ru-RU" sz="1800" dirty="0" smtClean="0">
                <a:solidFill>
                  <a:srgbClr val="FF0000"/>
                </a:solidFill>
              </a:rPr>
              <a:t>10101000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ru-RU" sz="1800" dirty="0" smtClean="0">
                <a:solidFill>
                  <a:srgbClr val="FF0000"/>
                </a:solidFill>
              </a:rPr>
              <a:t>.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ru-RU" sz="1800" dirty="0" smtClean="0">
                <a:solidFill>
                  <a:srgbClr val="FF0000"/>
                </a:solidFill>
              </a:rPr>
              <a:t>00010100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ru-RU" sz="1800" dirty="0" smtClean="0">
                <a:solidFill>
                  <a:srgbClr val="FF0000"/>
                </a:solidFill>
              </a:rPr>
              <a:t>.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endParaRPr lang="ru-RU" sz="2800" dirty="0"/>
          </a:p>
        </p:txBody>
      </p:sp>
      <p:cxnSp>
        <p:nvCxnSpPr>
          <p:cNvPr id="10" name="Прямая со стрелкой 9"/>
          <p:cNvCxnSpPr/>
          <p:nvPr/>
        </p:nvCxnSpPr>
        <p:spPr>
          <a:xfrm flipH="1" flipV="1">
            <a:off x="4967655" y="325316"/>
            <a:ext cx="826476" cy="70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99639" y="149447"/>
            <a:ext cx="58644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Адрес оригинальной сети никуда не делся, просто он нам всё ещё не нужен</a:t>
            </a:r>
            <a:endParaRPr lang="ru-RU" sz="16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4723844" y="3200591"/>
            <a:ext cx="303480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111</a:t>
            </a:r>
            <a:r>
              <a:rPr lang="ru-RU" sz="4400" b="1" dirty="0" smtClean="0">
                <a:solidFill>
                  <a:srgbClr val="00B050"/>
                </a:solidFill>
              </a:rPr>
              <a:t>   00000</a:t>
            </a:r>
            <a:endParaRPr lang="ru-RU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3024510" y="4815618"/>
            <a:ext cx="6523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/>
              <a:t>Маска </a:t>
            </a:r>
            <a:r>
              <a:rPr lang="ru-RU" b="1" i="1" dirty="0" smtClean="0"/>
              <a:t>подсети</a:t>
            </a:r>
            <a:r>
              <a:rPr lang="ru-RU" dirty="0" smtClean="0"/>
              <a:t> так же как и обычная сетевая маска равна 1 там, где расположена </a:t>
            </a:r>
            <a:r>
              <a:rPr lang="ru-RU" b="1" i="1" dirty="0" err="1" smtClean="0"/>
              <a:t>подсетевая</a:t>
            </a:r>
            <a:r>
              <a:rPr lang="ru-RU" b="1" i="1" dirty="0" smtClean="0"/>
              <a:t> </a:t>
            </a:r>
            <a:r>
              <a:rPr lang="ru-RU" dirty="0" smtClean="0"/>
              <a:t>адреса, и </a:t>
            </a:r>
            <a:r>
              <a:rPr lang="ru-RU" b="1" dirty="0" smtClean="0"/>
              <a:t>0 </a:t>
            </a:r>
            <a:r>
              <a:rPr lang="ru-RU" dirty="0" smtClean="0"/>
              <a:t>там, где расположена узловая часть адреса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4526075" y="4345723"/>
            <a:ext cx="1446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err="1" smtClean="0"/>
              <a:t>Подсетевая</a:t>
            </a:r>
            <a:endParaRPr lang="ru-RU" b="1" i="1" dirty="0" smtClean="0"/>
          </a:p>
        </p:txBody>
      </p:sp>
      <p:cxnSp>
        <p:nvCxnSpPr>
          <p:cNvPr id="16" name="Прямая со стрелкой 15"/>
          <p:cNvCxnSpPr/>
          <p:nvPr/>
        </p:nvCxnSpPr>
        <p:spPr>
          <a:xfrm>
            <a:off x="3024510" y="3387396"/>
            <a:ext cx="1433190" cy="11754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689038" y="3002011"/>
            <a:ext cx="1446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ЭТО МАСКА</a:t>
            </a:r>
          </a:p>
          <a:p>
            <a:r>
              <a:rPr lang="ru-RU" b="1" i="1" dirty="0" smtClean="0"/>
              <a:t>ПОДСЕТИ</a:t>
            </a:r>
          </a:p>
        </p:txBody>
      </p:sp>
    </p:spTree>
    <p:extLst>
      <p:ext uri="{BB962C8B-B14F-4D97-AF65-F5344CB8AC3E}">
        <p14:creationId xmlns:p14="http://schemas.microsoft.com/office/powerpoint/2010/main" val="314349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78326" y="848536"/>
            <a:ext cx="7486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ШАГ №3: </a:t>
            </a:r>
            <a:r>
              <a:rPr lang="ru-RU" dirty="0" smtClean="0"/>
              <a:t>НАЧИНАЕМ МЕНЯТЬ </a:t>
            </a:r>
            <a:r>
              <a:rPr lang="ru-RU" b="1" i="1" dirty="0" smtClean="0"/>
              <a:t>ПОДСЕТЕВУЮ </a:t>
            </a:r>
            <a:r>
              <a:rPr lang="ru-RU" dirty="0" smtClean="0"/>
              <a:t>ЧАСТЬ АДРЕСА, ЧТОБЫ ПОЛУЧИТЬ АДРЕСА</a:t>
            </a:r>
            <a:r>
              <a:rPr lang="ru-RU" b="1" dirty="0" smtClean="0"/>
              <a:t> </a:t>
            </a:r>
            <a:r>
              <a:rPr lang="ru-RU" b="1" i="1" dirty="0" smtClean="0"/>
              <a:t>ПОДСЕТЕЙ</a:t>
            </a:r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1268143" y="149447"/>
            <a:ext cx="4259141" cy="298933"/>
          </a:xfrm>
        </p:spPr>
        <p:txBody>
          <a:bodyPr>
            <a:noAutofit/>
          </a:bodyPr>
          <a:lstStyle/>
          <a:p>
            <a:r>
              <a:rPr lang="ru-RU" sz="1800" dirty="0" smtClean="0">
                <a:solidFill>
                  <a:srgbClr val="FF0000"/>
                </a:solidFill>
              </a:rPr>
              <a:t>11000000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ru-RU" sz="1800" dirty="0" smtClean="0">
                <a:solidFill>
                  <a:srgbClr val="FF0000"/>
                </a:solidFill>
              </a:rPr>
              <a:t>.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ru-RU" sz="1800" dirty="0" smtClean="0">
                <a:solidFill>
                  <a:srgbClr val="FF0000"/>
                </a:solidFill>
              </a:rPr>
              <a:t>10101000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ru-RU" sz="1800" dirty="0" smtClean="0">
                <a:solidFill>
                  <a:srgbClr val="FF0000"/>
                </a:solidFill>
              </a:rPr>
              <a:t>.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ru-RU" sz="1800" dirty="0" smtClean="0">
                <a:solidFill>
                  <a:srgbClr val="FF0000"/>
                </a:solidFill>
              </a:rPr>
              <a:t>00010100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ru-RU" sz="1800" dirty="0" smtClean="0">
                <a:solidFill>
                  <a:srgbClr val="FF0000"/>
                </a:solidFill>
              </a:rPr>
              <a:t>.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endParaRPr lang="ru-RU" sz="2800" dirty="0"/>
          </a:p>
        </p:txBody>
      </p:sp>
      <p:cxnSp>
        <p:nvCxnSpPr>
          <p:cNvPr id="6" name="Прямая со стрелкой 5"/>
          <p:cNvCxnSpPr/>
          <p:nvPr/>
        </p:nvCxnSpPr>
        <p:spPr>
          <a:xfrm flipH="1" flipV="1">
            <a:off x="4967655" y="325316"/>
            <a:ext cx="826476" cy="70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99639" y="149447"/>
            <a:ext cx="58644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Адрес оригинальной сети никуда не делся, просто он нам всё ещё не нужен</a:t>
            </a:r>
            <a:endParaRPr lang="ru-RU" sz="14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4156180" y="2406410"/>
            <a:ext cx="3345788" cy="3970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000        </a:t>
            </a:r>
            <a:r>
              <a:rPr lang="ru-RU" sz="2800" b="1" dirty="0" smtClean="0">
                <a:solidFill>
                  <a:srgbClr val="00B050"/>
                </a:solidFill>
              </a:rPr>
              <a:t>         00000</a:t>
            </a:r>
          </a:p>
          <a:p>
            <a:r>
              <a:rPr lang="ru-RU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001        </a:t>
            </a:r>
            <a:r>
              <a:rPr lang="ru-RU" sz="2800" b="1" dirty="0" smtClean="0">
                <a:solidFill>
                  <a:srgbClr val="00B050"/>
                </a:solidFill>
              </a:rPr>
              <a:t>         </a:t>
            </a:r>
            <a:r>
              <a:rPr lang="ru-RU" sz="2800" b="1" dirty="0">
                <a:solidFill>
                  <a:srgbClr val="00B050"/>
                </a:solidFill>
              </a:rPr>
              <a:t>00000</a:t>
            </a:r>
          </a:p>
          <a:p>
            <a:r>
              <a:rPr lang="ru-RU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010        </a:t>
            </a:r>
            <a:r>
              <a:rPr lang="ru-RU" sz="2800" b="1" dirty="0" smtClean="0">
                <a:solidFill>
                  <a:srgbClr val="00B050"/>
                </a:solidFill>
              </a:rPr>
              <a:t>         </a:t>
            </a:r>
            <a:r>
              <a:rPr lang="ru-RU" sz="2800" b="1" dirty="0">
                <a:solidFill>
                  <a:srgbClr val="00B050"/>
                </a:solidFill>
              </a:rPr>
              <a:t>00000</a:t>
            </a:r>
          </a:p>
          <a:p>
            <a:r>
              <a:rPr lang="ru-RU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011        </a:t>
            </a:r>
            <a:r>
              <a:rPr lang="ru-RU" sz="2800" b="1" dirty="0" smtClean="0">
                <a:solidFill>
                  <a:srgbClr val="00B050"/>
                </a:solidFill>
              </a:rPr>
              <a:t>         </a:t>
            </a:r>
            <a:r>
              <a:rPr lang="ru-RU" sz="2800" b="1" dirty="0">
                <a:solidFill>
                  <a:srgbClr val="00B050"/>
                </a:solidFill>
              </a:rPr>
              <a:t>00000</a:t>
            </a:r>
          </a:p>
          <a:p>
            <a:r>
              <a:rPr lang="ru-RU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100        </a:t>
            </a:r>
            <a:r>
              <a:rPr lang="ru-RU" sz="2800" b="1" dirty="0" smtClean="0">
                <a:solidFill>
                  <a:srgbClr val="00B050"/>
                </a:solidFill>
              </a:rPr>
              <a:t>         </a:t>
            </a:r>
            <a:r>
              <a:rPr lang="ru-RU" sz="2800" b="1" dirty="0">
                <a:solidFill>
                  <a:srgbClr val="00B050"/>
                </a:solidFill>
              </a:rPr>
              <a:t>00000</a:t>
            </a:r>
          </a:p>
          <a:p>
            <a:r>
              <a:rPr lang="ru-RU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101        </a:t>
            </a:r>
            <a:r>
              <a:rPr lang="ru-RU" sz="2800" b="1" dirty="0" smtClean="0">
                <a:solidFill>
                  <a:srgbClr val="00B050"/>
                </a:solidFill>
              </a:rPr>
              <a:t>         </a:t>
            </a:r>
            <a:r>
              <a:rPr lang="ru-RU" sz="2800" b="1" dirty="0">
                <a:solidFill>
                  <a:srgbClr val="00B050"/>
                </a:solidFill>
              </a:rPr>
              <a:t>00000</a:t>
            </a:r>
          </a:p>
          <a:p>
            <a:r>
              <a:rPr lang="ru-RU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110        </a:t>
            </a:r>
            <a:r>
              <a:rPr lang="ru-RU" sz="2800" b="1" dirty="0" smtClean="0">
                <a:solidFill>
                  <a:srgbClr val="00B050"/>
                </a:solidFill>
              </a:rPr>
              <a:t>         </a:t>
            </a:r>
            <a:r>
              <a:rPr lang="ru-RU" sz="2800" b="1" dirty="0">
                <a:solidFill>
                  <a:srgbClr val="00B050"/>
                </a:solidFill>
              </a:rPr>
              <a:t>00000</a:t>
            </a:r>
          </a:p>
          <a:p>
            <a:r>
              <a:rPr lang="ru-RU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111        </a:t>
            </a:r>
            <a:r>
              <a:rPr lang="ru-RU" sz="2800" b="1" dirty="0" smtClean="0">
                <a:solidFill>
                  <a:srgbClr val="00B050"/>
                </a:solidFill>
              </a:rPr>
              <a:t>         </a:t>
            </a:r>
            <a:r>
              <a:rPr lang="ru-RU" sz="2800" b="1" dirty="0">
                <a:solidFill>
                  <a:srgbClr val="00B050"/>
                </a:solidFill>
              </a:rPr>
              <a:t>00000</a:t>
            </a:r>
          </a:p>
          <a:p>
            <a:endParaRPr lang="ru-RU" sz="2800" b="1" dirty="0" smtClean="0">
              <a:solidFill>
                <a:srgbClr val="00B050"/>
              </a:solidFill>
            </a:endParaRPr>
          </a:p>
        </p:txBody>
      </p:sp>
      <p:sp>
        <p:nvSpPr>
          <p:cNvPr id="9" name="Правая фигурная скобка 8"/>
          <p:cNvSpPr/>
          <p:nvPr/>
        </p:nvSpPr>
        <p:spPr>
          <a:xfrm rot="16200000">
            <a:off x="6646178" y="1759654"/>
            <a:ext cx="494119" cy="1054947"/>
          </a:xfrm>
          <a:prstGeom prst="rightBrace">
            <a:avLst>
              <a:gd name="adj1" fmla="val 3708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85906" y="1636216"/>
            <a:ext cx="1010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Узловая</a:t>
            </a:r>
          </a:p>
        </p:txBody>
      </p:sp>
      <p:sp>
        <p:nvSpPr>
          <p:cNvPr id="11" name="Правая фигурная скобка 10"/>
          <p:cNvSpPr/>
          <p:nvPr/>
        </p:nvSpPr>
        <p:spPr>
          <a:xfrm rot="16200000">
            <a:off x="4280841" y="1895447"/>
            <a:ext cx="494119" cy="668496"/>
          </a:xfrm>
          <a:prstGeom prst="rightBrace">
            <a:avLst>
              <a:gd name="adj1" fmla="val 3708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04835" y="1604685"/>
            <a:ext cx="1446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err="1" smtClean="0"/>
              <a:t>Подсетевая</a:t>
            </a:r>
            <a:endParaRPr lang="ru-RU" b="1" i="1" dirty="0" smtClean="0"/>
          </a:p>
        </p:txBody>
      </p:sp>
      <p:cxnSp>
        <p:nvCxnSpPr>
          <p:cNvPr id="17" name="Прямая со стрелкой 16"/>
          <p:cNvCxnSpPr/>
          <p:nvPr/>
        </p:nvCxnSpPr>
        <p:spPr>
          <a:xfrm flipH="1">
            <a:off x="7614139" y="3094892"/>
            <a:ext cx="1134207" cy="844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81242" y="1895023"/>
            <a:ext cx="37675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Узловую часть фиксируем равную нулям – в адресе </a:t>
            </a:r>
            <a:r>
              <a:rPr lang="ru-RU" b="1" i="1" dirty="0" smtClean="0"/>
              <a:t>подсети</a:t>
            </a:r>
            <a:r>
              <a:rPr lang="ru-RU" i="1" dirty="0" smtClean="0"/>
              <a:t>, </a:t>
            </a:r>
            <a:r>
              <a:rPr lang="ru-RU" dirty="0" smtClean="0"/>
              <a:t>как и в адресе сети – узловая часть равна нуля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832687" y="3036374"/>
            <a:ext cx="28265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err="1" smtClean="0"/>
              <a:t>подсетевую</a:t>
            </a:r>
            <a:r>
              <a:rPr lang="ru-RU" i="1" dirty="0" smtClean="0"/>
              <a:t> часть меняем, перебирая все возможные варианты</a:t>
            </a:r>
          </a:p>
          <a:p>
            <a:endParaRPr lang="ru-RU" i="1" dirty="0"/>
          </a:p>
          <a:p>
            <a:r>
              <a:rPr lang="ru-RU" i="1" dirty="0" smtClean="0"/>
              <a:t>Итого 8 подсетей, что логично, так как размер </a:t>
            </a:r>
            <a:r>
              <a:rPr lang="ru-RU" i="1" dirty="0" err="1" smtClean="0"/>
              <a:t>подсетевой</a:t>
            </a:r>
            <a:r>
              <a:rPr lang="ru-RU" i="1" dirty="0" smtClean="0"/>
              <a:t> части 3 бита</a:t>
            </a:r>
            <a:endParaRPr lang="ru-RU" dirty="0"/>
          </a:p>
        </p:txBody>
      </p:sp>
      <p:sp>
        <p:nvSpPr>
          <p:cNvPr id="26" name="Правая фигурная скобка 25"/>
          <p:cNvSpPr/>
          <p:nvPr/>
        </p:nvSpPr>
        <p:spPr>
          <a:xfrm rot="10800000">
            <a:off x="3549889" y="2534187"/>
            <a:ext cx="494119" cy="3312698"/>
          </a:xfrm>
          <a:prstGeom prst="rightBrace">
            <a:avLst>
              <a:gd name="adj1" fmla="val 3708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955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141413" y="2705333"/>
            <a:ext cx="9164688" cy="3970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rgbClr val="FF0000"/>
                </a:solidFill>
              </a:rPr>
              <a:t>11000000 . 10101000 . 00010100 . </a:t>
            </a:r>
            <a:r>
              <a:rPr lang="ru-RU" sz="2800" b="1" dirty="0" smtClean="0">
                <a:solidFill>
                  <a:srgbClr val="FF0000"/>
                </a:solidFill>
              </a:rPr>
              <a:t>        </a:t>
            </a:r>
            <a:r>
              <a:rPr lang="ru-RU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000        </a:t>
            </a:r>
            <a:r>
              <a:rPr lang="ru-RU" sz="2800" b="1" dirty="0" smtClean="0">
                <a:solidFill>
                  <a:srgbClr val="00B050"/>
                </a:solidFill>
              </a:rPr>
              <a:t>    00000</a:t>
            </a:r>
          </a:p>
          <a:p>
            <a:r>
              <a:rPr lang="ru-RU" sz="2800" b="1" dirty="0">
                <a:solidFill>
                  <a:srgbClr val="FF0000"/>
                </a:solidFill>
              </a:rPr>
              <a:t>11000000 . 10101000 . 00010100 . </a:t>
            </a:r>
            <a:r>
              <a:rPr lang="ru-RU" sz="2800" b="1" dirty="0" smtClean="0">
                <a:solidFill>
                  <a:srgbClr val="FF0000"/>
                </a:solidFill>
              </a:rPr>
              <a:t>        </a:t>
            </a:r>
            <a:r>
              <a:rPr lang="ru-RU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001        </a:t>
            </a:r>
            <a:r>
              <a:rPr lang="ru-RU" sz="2800" b="1" dirty="0" smtClean="0">
                <a:solidFill>
                  <a:srgbClr val="00B050"/>
                </a:solidFill>
              </a:rPr>
              <a:t>    00000</a:t>
            </a:r>
            <a:endParaRPr lang="ru-RU" sz="2800" b="1" dirty="0">
              <a:solidFill>
                <a:srgbClr val="00B050"/>
              </a:solidFill>
            </a:endParaRPr>
          </a:p>
          <a:p>
            <a:r>
              <a:rPr lang="ru-RU" sz="2800" b="1" dirty="0">
                <a:solidFill>
                  <a:srgbClr val="FF0000"/>
                </a:solidFill>
              </a:rPr>
              <a:t>11000000 . 10101000 . 00010100 . </a:t>
            </a:r>
            <a:r>
              <a:rPr lang="ru-RU" sz="2800" b="1" dirty="0" smtClean="0">
                <a:solidFill>
                  <a:srgbClr val="FF0000"/>
                </a:solidFill>
              </a:rPr>
              <a:t>        </a:t>
            </a:r>
            <a:r>
              <a:rPr lang="ru-RU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010        </a:t>
            </a:r>
            <a:r>
              <a:rPr lang="ru-RU" sz="2800" b="1" dirty="0" smtClean="0">
                <a:solidFill>
                  <a:srgbClr val="00B050"/>
                </a:solidFill>
              </a:rPr>
              <a:t>    00000</a:t>
            </a:r>
            <a:endParaRPr lang="ru-RU" sz="2800" b="1" dirty="0">
              <a:solidFill>
                <a:srgbClr val="00B050"/>
              </a:solidFill>
            </a:endParaRPr>
          </a:p>
          <a:p>
            <a:r>
              <a:rPr lang="ru-RU" sz="2800" b="1" dirty="0">
                <a:solidFill>
                  <a:srgbClr val="FF0000"/>
                </a:solidFill>
              </a:rPr>
              <a:t>11000000 . 10101000 . 00010100 . </a:t>
            </a:r>
            <a:r>
              <a:rPr lang="ru-RU" sz="2800" b="1" dirty="0" smtClean="0">
                <a:solidFill>
                  <a:srgbClr val="FF0000"/>
                </a:solidFill>
              </a:rPr>
              <a:t>        </a:t>
            </a:r>
            <a:r>
              <a:rPr lang="ru-RU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011        </a:t>
            </a:r>
            <a:r>
              <a:rPr lang="ru-RU" sz="2800" b="1" dirty="0" smtClean="0">
                <a:solidFill>
                  <a:srgbClr val="00B050"/>
                </a:solidFill>
              </a:rPr>
              <a:t>    00000</a:t>
            </a:r>
            <a:endParaRPr lang="ru-RU" sz="2800" b="1" dirty="0">
              <a:solidFill>
                <a:srgbClr val="00B050"/>
              </a:solidFill>
            </a:endParaRPr>
          </a:p>
          <a:p>
            <a:r>
              <a:rPr lang="ru-RU" sz="2800" b="1" dirty="0">
                <a:solidFill>
                  <a:srgbClr val="FF0000"/>
                </a:solidFill>
              </a:rPr>
              <a:t>11000000 . 10101000 . 00010100 . </a:t>
            </a:r>
            <a:r>
              <a:rPr lang="ru-RU" sz="2800" b="1" dirty="0" smtClean="0">
                <a:solidFill>
                  <a:srgbClr val="FF0000"/>
                </a:solidFill>
              </a:rPr>
              <a:t>        </a:t>
            </a:r>
            <a:r>
              <a:rPr lang="ru-RU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100        </a:t>
            </a:r>
            <a:r>
              <a:rPr lang="ru-RU" sz="2800" b="1" dirty="0" smtClean="0">
                <a:solidFill>
                  <a:srgbClr val="00B050"/>
                </a:solidFill>
              </a:rPr>
              <a:t>    00000</a:t>
            </a:r>
            <a:endParaRPr lang="ru-RU" sz="2800" b="1" dirty="0">
              <a:solidFill>
                <a:srgbClr val="00B050"/>
              </a:solidFill>
            </a:endParaRPr>
          </a:p>
          <a:p>
            <a:r>
              <a:rPr lang="ru-RU" sz="2800" b="1" dirty="0">
                <a:solidFill>
                  <a:srgbClr val="FF0000"/>
                </a:solidFill>
              </a:rPr>
              <a:t>11000000 . 10101000 . 00010100 . </a:t>
            </a:r>
            <a:r>
              <a:rPr lang="ru-RU" sz="2800" b="1" dirty="0" smtClean="0">
                <a:solidFill>
                  <a:srgbClr val="FF0000"/>
                </a:solidFill>
              </a:rPr>
              <a:t>        </a:t>
            </a:r>
            <a:r>
              <a:rPr lang="ru-RU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101        </a:t>
            </a:r>
            <a:r>
              <a:rPr lang="ru-RU" sz="2800" b="1" dirty="0" smtClean="0">
                <a:solidFill>
                  <a:srgbClr val="00B050"/>
                </a:solidFill>
              </a:rPr>
              <a:t>    00000</a:t>
            </a:r>
            <a:endParaRPr lang="ru-RU" sz="2800" b="1" dirty="0">
              <a:solidFill>
                <a:srgbClr val="00B050"/>
              </a:solidFill>
            </a:endParaRPr>
          </a:p>
          <a:p>
            <a:r>
              <a:rPr lang="ru-RU" sz="2800" b="1" dirty="0">
                <a:solidFill>
                  <a:srgbClr val="FF0000"/>
                </a:solidFill>
              </a:rPr>
              <a:t>11000000 . 10101000 . 00010100 . </a:t>
            </a:r>
            <a:r>
              <a:rPr lang="ru-RU" sz="2800" b="1" dirty="0" smtClean="0">
                <a:solidFill>
                  <a:srgbClr val="FF0000"/>
                </a:solidFill>
              </a:rPr>
              <a:t>        </a:t>
            </a:r>
            <a:r>
              <a:rPr lang="ru-RU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110        </a:t>
            </a:r>
            <a:r>
              <a:rPr lang="ru-RU" sz="2800" b="1" dirty="0" smtClean="0">
                <a:solidFill>
                  <a:srgbClr val="00B050"/>
                </a:solidFill>
              </a:rPr>
              <a:t>    00000</a:t>
            </a:r>
            <a:endParaRPr lang="ru-RU" sz="2800" b="1" dirty="0">
              <a:solidFill>
                <a:srgbClr val="00B050"/>
              </a:solidFill>
            </a:endParaRPr>
          </a:p>
          <a:p>
            <a:r>
              <a:rPr lang="ru-RU" sz="2800" b="1" dirty="0">
                <a:solidFill>
                  <a:srgbClr val="FF0000"/>
                </a:solidFill>
              </a:rPr>
              <a:t>11000000 . 10101000 . 00010100 . </a:t>
            </a:r>
            <a:r>
              <a:rPr lang="ru-RU" sz="2800" b="1" dirty="0" smtClean="0">
                <a:solidFill>
                  <a:srgbClr val="FF0000"/>
                </a:solidFill>
              </a:rPr>
              <a:t>        </a:t>
            </a:r>
            <a:r>
              <a:rPr lang="ru-RU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111        </a:t>
            </a:r>
            <a:r>
              <a:rPr lang="ru-RU" sz="2800" b="1" dirty="0" smtClean="0">
                <a:solidFill>
                  <a:srgbClr val="00B050"/>
                </a:solidFill>
              </a:rPr>
              <a:t>    00000</a:t>
            </a:r>
            <a:endParaRPr lang="ru-RU" sz="2800" b="1" dirty="0">
              <a:solidFill>
                <a:srgbClr val="00B050"/>
              </a:solidFill>
            </a:endParaRPr>
          </a:p>
          <a:p>
            <a:endParaRPr lang="ru-RU" sz="2800" b="1" dirty="0" smtClean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92042" y="539867"/>
            <a:ext cx="54424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ШАГ №4: ОПРЕДЕЛЯЕМ ПОЛНЫЙ АДРЕС ПОДСЕТИ</a:t>
            </a:r>
          </a:p>
          <a:p>
            <a:r>
              <a:rPr lang="ru-RU" dirty="0" smtClean="0"/>
              <a:t>ДОБАВЛЯЕМ АДРЕС СЕТИ К АДРЕСАМ ПОДСЕТЕЙ</a:t>
            </a:r>
            <a:endParaRPr lang="ru-RU" b="1" i="1" dirty="0" smtClean="0"/>
          </a:p>
        </p:txBody>
      </p:sp>
      <p:sp>
        <p:nvSpPr>
          <p:cNvPr id="10" name="Правая фигурная скобка 9"/>
          <p:cNvSpPr/>
          <p:nvPr/>
        </p:nvSpPr>
        <p:spPr>
          <a:xfrm rot="16200000">
            <a:off x="3598783" y="6426"/>
            <a:ext cx="494119" cy="5408859"/>
          </a:xfrm>
          <a:prstGeom prst="rightBrace">
            <a:avLst>
              <a:gd name="adj1" fmla="val 3708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1" name="Правая фигурная скобка 10"/>
          <p:cNvSpPr/>
          <p:nvPr/>
        </p:nvSpPr>
        <p:spPr>
          <a:xfrm rot="16200000">
            <a:off x="7394170" y="2284430"/>
            <a:ext cx="494119" cy="852852"/>
          </a:xfrm>
          <a:prstGeom prst="rightBrace">
            <a:avLst>
              <a:gd name="adj1" fmla="val 3708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2" name="Правая фигурная скобка 11"/>
          <p:cNvSpPr/>
          <p:nvPr/>
        </p:nvSpPr>
        <p:spPr>
          <a:xfrm rot="16200000">
            <a:off x="9298458" y="2139696"/>
            <a:ext cx="494119" cy="1166444"/>
          </a:xfrm>
          <a:prstGeom prst="rightBrace">
            <a:avLst>
              <a:gd name="adj1" fmla="val 3708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19118" y="2108504"/>
            <a:ext cx="2053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АДРЕС ОСНОВНОЙ СЕТИ</a:t>
            </a:r>
            <a:endParaRPr lang="ru-RU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6914651" y="2150418"/>
            <a:ext cx="1453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АДРЕС ПОДСЕТИ</a:t>
            </a:r>
            <a:endParaRPr lang="ru-RU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8834480" y="2168081"/>
            <a:ext cx="14716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НОВАЯ УЗЛОВАЯ</a:t>
            </a:r>
            <a:endParaRPr lang="ru-RU" sz="1400" dirty="0"/>
          </a:p>
        </p:txBody>
      </p:sp>
      <p:sp>
        <p:nvSpPr>
          <p:cNvPr id="16" name="Правая фигурная скобка 15"/>
          <p:cNvSpPr/>
          <p:nvPr/>
        </p:nvSpPr>
        <p:spPr>
          <a:xfrm rot="16200000">
            <a:off x="8452667" y="236460"/>
            <a:ext cx="494119" cy="3666683"/>
          </a:xfrm>
          <a:prstGeom prst="rightBrace">
            <a:avLst>
              <a:gd name="adj1" fmla="val 3708"/>
              <a:gd name="adj2" fmla="val 50000"/>
            </a:avLst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47165" y="1512164"/>
            <a:ext cx="20340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/>
              <a:t>СТАРАЯ УЗЛОВАЯ ЧАСТЬ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085200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861646" y="2758087"/>
            <a:ext cx="1046284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FF0000"/>
                </a:solidFill>
              </a:rPr>
              <a:t>11000000 . 10101000 . 00010100 . </a:t>
            </a:r>
            <a:r>
              <a:rPr lang="ru-RU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000</a:t>
            </a:r>
            <a:r>
              <a:rPr lang="ru-RU" sz="2800" b="1" dirty="0" smtClean="0">
                <a:solidFill>
                  <a:srgbClr val="00B050"/>
                </a:solidFill>
              </a:rPr>
              <a:t> 00000</a:t>
            </a:r>
            <a:r>
              <a:rPr lang="en-US" sz="2800" b="1" dirty="0" smtClean="0">
                <a:solidFill>
                  <a:srgbClr val="00B050"/>
                </a:solidFill>
              </a:rPr>
              <a:t> </a:t>
            </a:r>
            <a:r>
              <a:rPr lang="en-US" sz="2800" b="1" dirty="0" smtClean="0"/>
              <a:t>- 1</a:t>
            </a:r>
            <a:r>
              <a:rPr lang="ru-RU" sz="2800" b="1" dirty="0" smtClean="0"/>
              <a:t>92.</a:t>
            </a:r>
            <a:r>
              <a:rPr lang="en-US" sz="2800" b="1" dirty="0" smtClean="0"/>
              <a:t>168.20.0/27</a:t>
            </a:r>
            <a:endParaRPr lang="ru-RU" sz="2800" b="1" dirty="0" smtClean="0"/>
          </a:p>
          <a:p>
            <a:r>
              <a:rPr lang="ru-RU" sz="2800" b="1" dirty="0" smtClean="0">
                <a:solidFill>
                  <a:srgbClr val="FF0000"/>
                </a:solidFill>
              </a:rPr>
              <a:t>11000000 . 10101000 . 00010100 . </a:t>
            </a:r>
            <a:r>
              <a:rPr lang="ru-RU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001 </a:t>
            </a:r>
            <a:r>
              <a:rPr lang="ru-RU" sz="2800" b="1" dirty="0" smtClean="0">
                <a:solidFill>
                  <a:srgbClr val="00B050"/>
                </a:solidFill>
              </a:rPr>
              <a:t>00000</a:t>
            </a:r>
            <a:r>
              <a:rPr lang="en-US" sz="2800" b="1" dirty="0" smtClean="0">
                <a:solidFill>
                  <a:schemeClr val="bg2"/>
                </a:solidFill>
              </a:rPr>
              <a:t> </a:t>
            </a:r>
            <a:r>
              <a:rPr lang="en-US" sz="2800" b="1" dirty="0" smtClean="0"/>
              <a:t>- 1</a:t>
            </a:r>
            <a:r>
              <a:rPr lang="ru-RU" sz="2800" b="1" dirty="0" smtClean="0"/>
              <a:t>92.</a:t>
            </a:r>
            <a:r>
              <a:rPr lang="en-US" sz="2800" b="1" dirty="0" smtClean="0"/>
              <a:t>168.20.32</a:t>
            </a:r>
            <a:r>
              <a:rPr lang="en-US" sz="2800" b="1" dirty="0"/>
              <a:t>/27</a:t>
            </a:r>
            <a:endParaRPr lang="en-US" sz="2800" b="1" dirty="0" smtClean="0"/>
          </a:p>
          <a:p>
            <a:r>
              <a:rPr lang="ru-RU" sz="2800" b="1" dirty="0" smtClean="0">
                <a:solidFill>
                  <a:srgbClr val="FF0000"/>
                </a:solidFill>
              </a:rPr>
              <a:t>11000000 </a:t>
            </a:r>
            <a:r>
              <a:rPr lang="ru-RU" sz="2800" b="1" dirty="0">
                <a:solidFill>
                  <a:srgbClr val="FF0000"/>
                </a:solidFill>
              </a:rPr>
              <a:t>. 10101000 . 00010100 . </a:t>
            </a:r>
            <a:r>
              <a:rPr lang="ru-RU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010 </a:t>
            </a:r>
            <a:r>
              <a:rPr lang="ru-RU" sz="2800" b="1" dirty="0" smtClean="0">
                <a:solidFill>
                  <a:srgbClr val="00B050"/>
                </a:solidFill>
              </a:rPr>
              <a:t>00000</a:t>
            </a:r>
            <a:r>
              <a:rPr lang="en-US" sz="2800" b="1" dirty="0" smtClean="0">
                <a:solidFill>
                  <a:srgbClr val="00B050"/>
                </a:solidFill>
              </a:rPr>
              <a:t> </a:t>
            </a:r>
            <a:r>
              <a:rPr lang="en-US" sz="2800" b="1" dirty="0"/>
              <a:t>- 1</a:t>
            </a:r>
            <a:r>
              <a:rPr lang="ru-RU" sz="2800" b="1" dirty="0"/>
              <a:t>92.</a:t>
            </a:r>
            <a:r>
              <a:rPr lang="en-US" sz="2800" b="1" dirty="0" smtClean="0"/>
              <a:t>168.20.64</a:t>
            </a:r>
            <a:r>
              <a:rPr lang="en-US" sz="2800" b="1" dirty="0"/>
              <a:t>/27</a:t>
            </a:r>
            <a:endParaRPr lang="ru-RU" sz="2800" b="1" dirty="0"/>
          </a:p>
          <a:p>
            <a:r>
              <a:rPr lang="ru-RU" sz="2800" b="1" dirty="0">
                <a:solidFill>
                  <a:srgbClr val="FF0000"/>
                </a:solidFill>
              </a:rPr>
              <a:t>11000000 . 10101000 . 00010100 . </a:t>
            </a:r>
            <a:r>
              <a:rPr lang="ru-RU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011 </a:t>
            </a:r>
            <a:r>
              <a:rPr lang="ru-RU" sz="2800" b="1" dirty="0" smtClean="0">
                <a:solidFill>
                  <a:srgbClr val="00B050"/>
                </a:solidFill>
              </a:rPr>
              <a:t>00000</a:t>
            </a:r>
            <a:r>
              <a:rPr lang="en-US" sz="2800" b="1" dirty="0" smtClean="0">
                <a:solidFill>
                  <a:srgbClr val="00B050"/>
                </a:solidFill>
              </a:rPr>
              <a:t> </a:t>
            </a:r>
            <a:r>
              <a:rPr lang="en-US" sz="2800" b="1" dirty="0" smtClean="0"/>
              <a:t>- </a:t>
            </a:r>
            <a:r>
              <a:rPr lang="en-US" sz="2800" b="1" dirty="0"/>
              <a:t>1</a:t>
            </a:r>
            <a:r>
              <a:rPr lang="ru-RU" sz="2800" b="1" dirty="0"/>
              <a:t>92.</a:t>
            </a:r>
            <a:r>
              <a:rPr lang="en-US" sz="2800" b="1" dirty="0" smtClean="0"/>
              <a:t>168.20.96</a:t>
            </a:r>
            <a:r>
              <a:rPr lang="en-US" sz="2800" b="1" dirty="0"/>
              <a:t>/27</a:t>
            </a:r>
            <a:endParaRPr lang="ru-RU" sz="2800" b="1" dirty="0"/>
          </a:p>
          <a:p>
            <a:r>
              <a:rPr lang="ru-RU" sz="2800" b="1" dirty="0">
                <a:solidFill>
                  <a:srgbClr val="FF0000"/>
                </a:solidFill>
              </a:rPr>
              <a:t>11000000 . 10101000 . 00010100 . </a:t>
            </a:r>
            <a:r>
              <a:rPr lang="ru-RU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100 </a:t>
            </a:r>
            <a:r>
              <a:rPr lang="ru-RU" sz="2800" b="1" dirty="0" smtClean="0">
                <a:solidFill>
                  <a:srgbClr val="00B050"/>
                </a:solidFill>
              </a:rPr>
              <a:t>00000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en-US" sz="2800" b="1" dirty="0"/>
              <a:t>- 1</a:t>
            </a:r>
            <a:r>
              <a:rPr lang="ru-RU" sz="2800" b="1" dirty="0"/>
              <a:t>92.</a:t>
            </a:r>
            <a:r>
              <a:rPr lang="en-US" sz="2800" b="1" dirty="0" smtClean="0"/>
              <a:t>168.20.128</a:t>
            </a:r>
            <a:r>
              <a:rPr lang="en-US" sz="2800" b="1" dirty="0"/>
              <a:t>/27</a:t>
            </a:r>
            <a:endParaRPr lang="ru-RU" sz="2800" b="1" dirty="0"/>
          </a:p>
          <a:p>
            <a:r>
              <a:rPr lang="ru-RU" sz="2800" b="1" dirty="0">
                <a:solidFill>
                  <a:srgbClr val="FF0000"/>
                </a:solidFill>
              </a:rPr>
              <a:t>11000000 . 10101000 . 00010100 . </a:t>
            </a:r>
            <a:r>
              <a:rPr lang="ru-RU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101 </a:t>
            </a:r>
            <a:r>
              <a:rPr lang="ru-RU" sz="2800" b="1" dirty="0" smtClean="0">
                <a:solidFill>
                  <a:srgbClr val="00B050"/>
                </a:solidFill>
              </a:rPr>
              <a:t>00000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en-US" sz="2800" b="1" dirty="0"/>
              <a:t>- 1</a:t>
            </a:r>
            <a:r>
              <a:rPr lang="ru-RU" sz="2800" b="1" dirty="0"/>
              <a:t>92.</a:t>
            </a:r>
            <a:r>
              <a:rPr lang="en-US" sz="2800" b="1" dirty="0" smtClean="0"/>
              <a:t>168.20.160</a:t>
            </a:r>
            <a:r>
              <a:rPr lang="en-US" sz="2800" b="1" dirty="0"/>
              <a:t>/27</a:t>
            </a:r>
            <a:endParaRPr lang="ru-RU" sz="2800" b="1" dirty="0"/>
          </a:p>
          <a:p>
            <a:r>
              <a:rPr lang="ru-RU" sz="2800" b="1" dirty="0">
                <a:solidFill>
                  <a:srgbClr val="FF0000"/>
                </a:solidFill>
              </a:rPr>
              <a:t>11000000 . 10101000 . 00010100 . </a:t>
            </a:r>
            <a:r>
              <a:rPr lang="ru-RU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110 </a:t>
            </a:r>
            <a:r>
              <a:rPr lang="ru-RU" sz="2800" b="1" dirty="0" smtClean="0">
                <a:solidFill>
                  <a:srgbClr val="00B050"/>
                </a:solidFill>
              </a:rPr>
              <a:t>00000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en-US" sz="2800" b="1" dirty="0"/>
              <a:t>- 1</a:t>
            </a:r>
            <a:r>
              <a:rPr lang="ru-RU" sz="2800" b="1" dirty="0"/>
              <a:t>92.</a:t>
            </a:r>
            <a:r>
              <a:rPr lang="en-US" sz="2800" b="1" dirty="0" smtClean="0"/>
              <a:t>168.20.192</a:t>
            </a:r>
            <a:r>
              <a:rPr lang="en-US" sz="2800" b="1" dirty="0"/>
              <a:t>/27</a:t>
            </a:r>
            <a:endParaRPr lang="ru-RU" sz="2800" b="1" dirty="0"/>
          </a:p>
          <a:p>
            <a:r>
              <a:rPr lang="ru-RU" sz="2800" b="1" dirty="0">
                <a:solidFill>
                  <a:srgbClr val="FF0000"/>
                </a:solidFill>
              </a:rPr>
              <a:t>11000000 . 10101000 . 00010100 . </a:t>
            </a:r>
            <a:r>
              <a:rPr lang="ru-RU" sz="28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111 </a:t>
            </a:r>
            <a:r>
              <a:rPr lang="ru-RU" sz="2800" b="1" dirty="0" smtClean="0">
                <a:solidFill>
                  <a:srgbClr val="00B050"/>
                </a:solidFill>
              </a:rPr>
              <a:t>00000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en-US" sz="2800" b="1" dirty="0"/>
              <a:t>- 1</a:t>
            </a:r>
            <a:r>
              <a:rPr lang="ru-RU" sz="2800" b="1" dirty="0"/>
              <a:t>92.</a:t>
            </a:r>
            <a:r>
              <a:rPr lang="en-US" sz="2800" b="1" dirty="0" smtClean="0"/>
              <a:t>168.20.224</a:t>
            </a:r>
            <a:r>
              <a:rPr lang="en-US" sz="2800" b="1" dirty="0"/>
              <a:t>/27</a:t>
            </a:r>
            <a:endParaRPr lang="ru-RU" sz="2800" b="1" dirty="0"/>
          </a:p>
          <a:p>
            <a:endParaRPr lang="ru-RU" sz="2800" b="1" dirty="0" smtClean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38347" y="2269619"/>
            <a:ext cx="5157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ШАГ №</a:t>
            </a:r>
            <a:r>
              <a:rPr lang="en-US" b="1" dirty="0" smtClean="0"/>
              <a:t>6</a:t>
            </a:r>
            <a:r>
              <a:rPr lang="ru-RU" b="1" dirty="0" smtClean="0"/>
              <a:t>: ПЕРЕВОДИМ ОБРАТНО В ДЕСЯТИЧНУЮ</a:t>
            </a:r>
            <a:endParaRPr lang="ru-RU" b="1" i="1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4186755" y="325494"/>
            <a:ext cx="5157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ШАГ №</a:t>
            </a:r>
            <a:r>
              <a:rPr lang="en-US" b="1" dirty="0" smtClean="0"/>
              <a:t>5</a:t>
            </a:r>
            <a:r>
              <a:rPr lang="ru-RU" b="1" dirty="0" smtClean="0"/>
              <a:t>: ОПРЕДЕЛЯЕМ ПОЛНУЮ МАСКУ </a:t>
            </a:r>
            <a:endParaRPr lang="ru-RU" b="1" i="1" dirty="0" smtClean="0"/>
          </a:p>
        </p:txBody>
      </p:sp>
      <p:sp>
        <p:nvSpPr>
          <p:cNvPr id="19" name="Прямоугольник 18"/>
          <p:cNvSpPr/>
          <p:nvPr/>
        </p:nvSpPr>
        <p:spPr>
          <a:xfrm>
            <a:off x="1031264" y="694826"/>
            <a:ext cx="99327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БЫЛО - </a:t>
            </a:r>
            <a:r>
              <a:rPr lang="ru-RU" sz="2800" dirty="0" smtClean="0">
                <a:solidFill>
                  <a:srgbClr val="FF0000"/>
                </a:solidFill>
              </a:rPr>
              <a:t>11111111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ru-RU" sz="2800" dirty="0">
                <a:solidFill>
                  <a:srgbClr val="FF0000"/>
                </a:solidFill>
              </a:rPr>
              <a:t>.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ru-RU" sz="2800" dirty="0">
                <a:solidFill>
                  <a:srgbClr val="FF0000"/>
                </a:solidFill>
              </a:rPr>
              <a:t>11111111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ru-RU" sz="2800" dirty="0">
                <a:solidFill>
                  <a:srgbClr val="FF0000"/>
                </a:solidFill>
              </a:rPr>
              <a:t>.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ru-RU" sz="2800" dirty="0">
                <a:solidFill>
                  <a:srgbClr val="FF0000"/>
                </a:solidFill>
              </a:rPr>
              <a:t>11111111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ru-RU" sz="2800" dirty="0">
                <a:solidFill>
                  <a:srgbClr val="FF0000"/>
                </a:solidFill>
              </a:rPr>
              <a:t>.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ru-RU" sz="2800" dirty="0" smtClean="0">
                <a:solidFill>
                  <a:srgbClr val="00B050"/>
                </a:solidFill>
              </a:rPr>
              <a:t>000 00000 </a:t>
            </a:r>
            <a:r>
              <a:rPr lang="ru-RU" sz="2000" dirty="0" smtClean="0"/>
              <a:t>или </a:t>
            </a:r>
            <a:r>
              <a:rPr lang="en-US" sz="2400" dirty="0" smtClean="0"/>
              <a:t>/24</a:t>
            </a:r>
            <a:endParaRPr lang="ru-RU" sz="2400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946456" y="1196377"/>
            <a:ext cx="1013185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СТАЛО </a:t>
            </a:r>
            <a:r>
              <a:rPr lang="ru-RU" sz="2800" dirty="0"/>
              <a:t>- </a:t>
            </a:r>
            <a:r>
              <a:rPr lang="ru-RU" sz="2800" dirty="0" smtClean="0">
                <a:solidFill>
                  <a:srgbClr val="FF0000"/>
                </a:solidFill>
              </a:rPr>
              <a:t>11111111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ru-RU" sz="2800" dirty="0">
                <a:solidFill>
                  <a:srgbClr val="FF0000"/>
                </a:solidFill>
              </a:rPr>
              <a:t>.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ru-RU" sz="2800" dirty="0">
                <a:solidFill>
                  <a:srgbClr val="FF0000"/>
                </a:solidFill>
              </a:rPr>
              <a:t>11111111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ru-RU" sz="2800" dirty="0">
                <a:solidFill>
                  <a:srgbClr val="FF0000"/>
                </a:solidFill>
              </a:rPr>
              <a:t>.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ru-RU" sz="2800" dirty="0">
                <a:solidFill>
                  <a:srgbClr val="FF0000"/>
                </a:solidFill>
              </a:rPr>
              <a:t>11111111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ru-RU" sz="2800" dirty="0">
                <a:solidFill>
                  <a:srgbClr val="FF0000"/>
                </a:solidFill>
              </a:rPr>
              <a:t>.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ru-RU" sz="28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111 </a:t>
            </a:r>
            <a:r>
              <a:rPr lang="ru-RU" sz="2800" dirty="0" smtClean="0">
                <a:solidFill>
                  <a:srgbClr val="00B050"/>
                </a:solidFill>
              </a:rPr>
              <a:t>00000</a:t>
            </a:r>
            <a:r>
              <a:rPr lang="en-US" sz="2800" dirty="0" smtClean="0">
                <a:solidFill>
                  <a:srgbClr val="00B050"/>
                </a:solidFill>
              </a:rPr>
              <a:t> </a:t>
            </a:r>
            <a:r>
              <a:rPr lang="ru-RU" sz="2000" dirty="0" smtClean="0"/>
              <a:t>или </a:t>
            </a:r>
            <a:r>
              <a:rPr lang="en-US" sz="2400" dirty="0" smtClean="0"/>
              <a:t>/27</a:t>
            </a:r>
            <a:endParaRPr lang="ru-RU" sz="2400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555268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масок подсети фиксированной длины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8707" y="2097088"/>
            <a:ext cx="6626482" cy="438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010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Маски подсети переменной длины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3096" y="1850904"/>
            <a:ext cx="5222631" cy="456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01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Маски подсети переменной длины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1384" y="2097088"/>
            <a:ext cx="4648434" cy="398065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286" y="1977598"/>
            <a:ext cx="4429125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02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Маски подсети переменной длины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6261" y="2003303"/>
            <a:ext cx="7716302" cy="440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0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Маски подсети переменной длины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5168" y="1976926"/>
            <a:ext cx="7481663" cy="442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94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090246" y="425470"/>
            <a:ext cx="10462847" cy="643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FF0000"/>
                </a:solidFill>
              </a:rPr>
              <a:t>11000000 . 10101000 . 00010100 . </a:t>
            </a:r>
            <a:r>
              <a:rPr lang="ru-RU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000</a:t>
            </a:r>
            <a:r>
              <a:rPr lang="ru-RU" sz="2400" b="1" dirty="0" smtClean="0">
                <a:solidFill>
                  <a:srgbClr val="00B050"/>
                </a:solidFill>
              </a:rPr>
              <a:t> 00000</a:t>
            </a:r>
            <a:r>
              <a:rPr lang="en-US" sz="2400" b="1" dirty="0" smtClean="0">
                <a:solidFill>
                  <a:srgbClr val="00B050"/>
                </a:solidFill>
              </a:rPr>
              <a:t> </a:t>
            </a:r>
            <a:r>
              <a:rPr lang="en-US" sz="2400" b="1" dirty="0" smtClean="0"/>
              <a:t>- 1</a:t>
            </a:r>
            <a:r>
              <a:rPr lang="ru-RU" sz="2400" b="1" dirty="0" smtClean="0"/>
              <a:t>92.</a:t>
            </a:r>
            <a:r>
              <a:rPr lang="en-US" sz="2400" b="1" dirty="0" smtClean="0"/>
              <a:t>168.20.0/27</a:t>
            </a:r>
            <a:endParaRPr lang="ru-RU" sz="2400" b="1" dirty="0" smtClean="0"/>
          </a:p>
          <a:p>
            <a:r>
              <a:rPr lang="ru-RU" sz="2400" b="1" dirty="0" smtClean="0">
                <a:solidFill>
                  <a:srgbClr val="FF0000"/>
                </a:solidFill>
              </a:rPr>
              <a:t>11000000 . 10101000 . 00010100 . </a:t>
            </a:r>
            <a:r>
              <a:rPr lang="ru-RU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001 </a:t>
            </a:r>
            <a:r>
              <a:rPr lang="ru-RU" sz="2400" b="1" dirty="0" smtClean="0">
                <a:solidFill>
                  <a:srgbClr val="00B050"/>
                </a:solidFill>
              </a:rPr>
              <a:t>00000</a:t>
            </a:r>
            <a:r>
              <a:rPr lang="en-US" sz="2400" b="1" dirty="0" smtClean="0">
                <a:solidFill>
                  <a:schemeClr val="bg2"/>
                </a:solidFill>
              </a:rPr>
              <a:t> </a:t>
            </a:r>
            <a:r>
              <a:rPr lang="en-US" sz="2400" b="1" dirty="0" smtClean="0"/>
              <a:t>- 1</a:t>
            </a:r>
            <a:r>
              <a:rPr lang="ru-RU" sz="2400" b="1" dirty="0" smtClean="0"/>
              <a:t>92.</a:t>
            </a:r>
            <a:r>
              <a:rPr lang="en-US" sz="2400" b="1" dirty="0" smtClean="0"/>
              <a:t>168.20.32</a:t>
            </a:r>
            <a:r>
              <a:rPr lang="en-US" sz="2400" b="1" dirty="0"/>
              <a:t>/27</a:t>
            </a:r>
            <a:endParaRPr lang="en-US" sz="2400" b="1" dirty="0" smtClean="0"/>
          </a:p>
          <a:p>
            <a:r>
              <a:rPr lang="ru-RU" sz="2400" b="1" dirty="0" smtClean="0">
                <a:solidFill>
                  <a:srgbClr val="FF0000"/>
                </a:solidFill>
              </a:rPr>
              <a:t>11000000 </a:t>
            </a:r>
            <a:r>
              <a:rPr lang="ru-RU" sz="2400" b="1" dirty="0">
                <a:solidFill>
                  <a:srgbClr val="FF0000"/>
                </a:solidFill>
              </a:rPr>
              <a:t>. 10101000 . 00010100 . </a:t>
            </a:r>
            <a:r>
              <a:rPr lang="ru-RU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010 </a:t>
            </a:r>
            <a:r>
              <a:rPr lang="ru-RU" sz="2400" b="1" dirty="0" smtClean="0">
                <a:solidFill>
                  <a:srgbClr val="00B050"/>
                </a:solidFill>
              </a:rPr>
              <a:t>00000</a:t>
            </a:r>
            <a:r>
              <a:rPr lang="en-US" sz="2400" b="1" dirty="0" smtClean="0">
                <a:solidFill>
                  <a:srgbClr val="00B050"/>
                </a:solidFill>
              </a:rPr>
              <a:t> </a:t>
            </a:r>
            <a:r>
              <a:rPr lang="en-US" sz="2400" b="1" dirty="0"/>
              <a:t>- 1</a:t>
            </a:r>
            <a:r>
              <a:rPr lang="ru-RU" sz="2400" b="1" dirty="0"/>
              <a:t>92.</a:t>
            </a:r>
            <a:r>
              <a:rPr lang="en-US" sz="2400" b="1" dirty="0" smtClean="0"/>
              <a:t>168.20.64</a:t>
            </a:r>
            <a:r>
              <a:rPr lang="en-US" sz="2400" b="1" dirty="0"/>
              <a:t>/27</a:t>
            </a:r>
            <a:endParaRPr lang="ru-RU" sz="2400" b="1" dirty="0"/>
          </a:p>
          <a:p>
            <a:r>
              <a:rPr lang="ru-RU" sz="2400" b="1" dirty="0">
                <a:solidFill>
                  <a:srgbClr val="FF0000"/>
                </a:solidFill>
              </a:rPr>
              <a:t>11000000 . 10101000 . 00010100 . </a:t>
            </a:r>
            <a:r>
              <a:rPr lang="ru-RU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011 </a:t>
            </a:r>
            <a:r>
              <a:rPr lang="ru-RU" sz="2400" b="1" dirty="0" smtClean="0">
                <a:solidFill>
                  <a:srgbClr val="00B050"/>
                </a:solidFill>
              </a:rPr>
              <a:t>00000</a:t>
            </a:r>
            <a:r>
              <a:rPr lang="en-US" sz="2400" b="1" dirty="0" smtClean="0">
                <a:solidFill>
                  <a:srgbClr val="00B050"/>
                </a:solidFill>
              </a:rPr>
              <a:t> </a:t>
            </a:r>
            <a:r>
              <a:rPr lang="en-US" sz="2400" b="1" dirty="0" smtClean="0"/>
              <a:t>- </a:t>
            </a:r>
            <a:r>
              <a:rPr lang="en-US" sz="2400" b="1" dirty="0"/>
              <a:t>1</a:t>
            </a:r>
            <a:r>
              <a:rPr lang="ru-RU" sz="2400" b="1" dirty="0"/>
              <a:t>92.</a:t>
            </a:r>
            <a:r>
              <a:rPr lang="en-US" sz="2400" b="1" dirty="0" smtClean="0"/>
              <a:t>168.20.96</a:t>
            </a:r>
            <a:r>
              <a:rPr lang="en-US" sz="2400" b="1" dirty="0"/>
              <a:t>/27</a:t>
            </a:r>
            <a:endParaRPr lang="ru-RU" sz="2400" b="1" dirty="0"/>
          </a:p>
          <a:p>
            <a:r>
              <a:rPr lang="ru-RU" sz="2400" b="1" dirty="0">
                <a:solidFill>
                  <a:srgbClr val="FF0000"/>
                </a:solidFill>
              </a:rPr>
              <a:t>11000000 . 10101000 . 00010100 . </a:t>
            </a:r>
            <a:r>
              <a:rPr lang="ru-RU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100 </a:t>
            </a:r>
            <a:r>
              <a:rPr lang="ru-RU" sz="2400" b="1" dirty="0" smtClean="0">
                <a:solidFill>
                  <a:srgbClr val="00B050"/>
                </a:solidFill>
              </a:rPr>
              <a:t>00000</a:t>
            </a:r>
            <a:r>
              <a:rPr lang="en-US" sz="2400" b="1" dirty="0">
                <a:solidFill>
                  <a:schemeClr val="bg2"/>
                </a:solidFill>
              </a:rPr>
              <a:t> </a:t>
            </a:r>
            <a:r>
              <a:rPr lang="en-US" sz="2400" b="1" dirty="0"/>
              <a:t>- 1</a:t>
            </a:r>
            <a:r>
              <a:rPr lang="ru-RU" sz="2400" b="1" dirty="0"/>
              <a:t>92.</a:t>
            </a:r>
            <a:r>
              <a:rPr lang="en-US" sz="2400" b="1" dirty="0" smtClean="0"/>
              <a:t>168.20.128</a:t>
            </a:r>
            <a:r>
              <a:rPr lang="en-US" sz="2400" b="1" dirty="0"/>
              <a:t>/27</a:t>
            </a:r>
            <a:endParaRPr lang="ru-RU" sz="2400" b="1" dirty="0"/>
          </a:p>
          <a:p>
            <a:r>
              <a:rPr lang="ru-RU" sz="2400" b="1" dirty="0">
                <a:solidFill>
                  <a:srgbClr val="FF0000"/>
                </a:solidFill>
              </a:rPr>
              <a:t>11000000 . 10101000 . 00010100 . </a:t>
            </a:r>
            <a:r>
              <a:rPr lang="ru-RU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101 </a:t>
            </a:r>
            <a:r>
              <a:rPr lang="ru-RU" sz="2400" b="1" dirty="0" smtClean="0">
                <a:solidFill>
                  <a:srgbClr val="00B050"/>
                </a:solidFill>
              </a:rPr>
              <a:t>00000</a:t>
            </a:r>
            <a:r>
              <a:rPr lang="en-US" sz="2400" b="1" dirty="0">
                <a:solidFill>
                  <a:schemeClr val="bg2"/>
                </a:solidFill>
              </a:rPr>
              <a:t> </a:t>
            </a:r>
            <a:r>
              <a:rPr lang="en-US" sz="2400" b="1" dirty="0"/>
              <a:t>- 1</a:t>
            </a:r>
            <a:r>
              <a:rPr lang="ru-RU" sz="2400" b="1" dirty="0"/>
              <a:t>92.</a:t>
            </a:r>
            <a:r>
              <a:rPr lang="en-US" sz="2400" b="1" dirty="0" smtClean="0"/>
              <a:t>168.20.160</a:t>
            </a:r>
            <a:r>
              <a:rPr lang="en-US" sz="2400" b="1" dirty="0"/>
              <a:t>/27</a:t>
            </a:r>
            <a:endParaRPr lang="ru-RU" sz="2400" b="1" dirty="0"/>
          </a:p>
          <a:p>
            <a:r>
              <a:rPr lang="ru-RU" sz="2400" b="1" dirty="0">
                <a:solidFill>
                  <a:srgbClr val="FF0000"/>
                </a:solidFill>
              </a:rPr>
              <a:t>11000000 . 10101000 . 00010100 . </a:t>
            </a:r>
            <a:r>
              <a:rPr lang="ru-RU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110 </a:t>
            </a:r>
            <a:r>
              <a:rPr lang="ru-RU" sz="2400" b="1" dirty="0" smtClean="0">
                <a:solidFill>
                  <a:srgbClr val="00B050"/>
                </a:solidFill>
              </a:rPr>
              <a:t>00000</a:t>
            </a:r>
            <a:r>
              <a:rPr lang="en-US" sz="2400" b="1" dirty="0">
                <a:solidFill>
                  <a:schemeClr val="bg2"/>
                </a:solidFill>
              </a:rPr>
              <a:t> </a:t>
            </a:r>
            <a:r>
              <a:rPr lang="en-US" sz="2400" b="1" dirty="0"/>
              <a:t>- 1</a:t>
            </a:r>
            <a:r>
              <a:rPr lang="ru-RU" sz="2400" b="1" dirty="0"/>
              <a:t>92.</a:t>
            </a:r>
            <a:r>
              <a:rPr lang="en-US" sz="2400" b="1" dirty="0" smtClean="0"/>
              <a:t>168.20.192</a:t>
            </a:r>
            <a:r>
              <a:rPr lang="en-US" sz="2400" b="1" dirty="0"/>
              <a:t>/27</a:t>
            </a:r>
            <a:endParaRPr lang="ru-RU" sz="2400" b="1" dirty="0"/>
          </a:p>
          <a:p>
            <a:r>
              <a:rPr lang="ru-RU" sz="2400" b="1" dirty="0">
                <a:solidFill>
                  <a:srgbClr val="FF0000"/>
                </a:solidFill>
              </a:rPr>
              <a:t>11000000 . 10101000 . 00010100 . </a:t>
            </a:r>
            <a:r>
              <a:rPr lang="ru-RU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111 </a:t>
            </a:r>
            <a:r>
              <a:rPr lang="ru-RU" sz="2400" b="1" dirty="0" smtClean="0">
                <a:solidFill>
                  <a:srgbClr val="00B050"/>
                </a:solidFill>
              </a:rPr>
              <a:t>00000</a:t>
            </a:r>
            <a:r>
              <a:rPr lang="en-US" sz="2400" b="1" dirty="0">
                <a:solidFill>
                  <a:schemeClr val="bg2"/>
                </a:solidFill>
              </a:rPr>
              <a:t> </a:t>
            </a:r>
            <a:r>
              <a:rPr lang="en-US" sz="2400" b="1" dirty="0"/>
              <a:t>- 1</a:t>
            </a:r>
            <a:r>
              <a:rPr lang="ru-RU" sz="2400" b="1" dirty="0"/>
              <a:t>92.</a:t>
            </a:r>
            <a:r>
              <a:rPr lang="en-US" sz="2400" b="1" dirty="0" smtClean="0"/>
              <a:t>168.20.224/27</a:t>
            </a:r>
          </a:p>
          <a:p>
            <a:r>
              <a:rPr lang="en-US" sz="2400" b="1" dirty="0"/>
              <a:t>	</a:t>
            </a:r>
            <a:r>
              <a:rPr lang="ru-RU" sz="2400" b="1" dirty="0">
                <a:solidFill>
                  <a:srgbClr val="FF0000"/>
                </a:solidFill>
              </a:rPr>
              <a:t>11000000 . 10101000 . 00010100 . </a:t>
            </a:r>
            <a:r>
              <a:rPr lang="en-US" sz="2400" b="1" dirty="0" smtClean="0">
                <a:solidFill>
                  <a:srgbClr val="FF0000"/>
                </a:solidFill>
              </a:rPr>
              <a:t>111</a:t>
            </a: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000 </a:t>
            </a:r>
            <a:r>
              <a:rPr lang="ru-RU" sz="2400" b="1" dirty="0" smtClean="0">
                <a:solidFill>
                  <a:srgbClr val="00B050"/>
                </a:solidFill>
              </a:rPr>
              <a:t>00</a:t>
            </a:r>
            <a:r>
              <a:rPr lang="en-US" sz="2400" b="1" dirty="0" smtClean="0">
                <a:solidFill>
                  <a:schemeClr val="bg2"/>
                </a:solidFill>
              </a:rPr>
              <a:t> </a:t>
            </a:r>
            <a:r>
              <a:rPr lang="en-US" sz="2400" b="1" dirty="0"/>
              <a:t>- 1</a:t>
            </a:r>
            <a:r>
              <a:rPr lang="ru-RU" sz="2400" b="1" dirty="0"/>
              <a:t>92.</a:t>
            </a:r>
            <a:r>
              <a:rPr lang="en-US" sz="2400" b="1" dirty="0" smtClean="0"/>
              <a:t>168.20.224/30</a:t>
            </a:r>
            <a:endParaRPr lang="en-US" sz="2400" b="1" dirty="0"/>
          </a:p>
          <a:p>
            <a:r>
              <a:rPr lang="en-US" sz="2400" b="1" dirty="0" smtClean="0">
                <a:solidFill>
                  <a:srgbClr val="FF0000"/>
                </a:solidFill>
              </a:rPr>
              <a:t>	</a:t>
            </a:r>
            <a:r>
              <a:rPr lang="ru-RU" sz="2400" b="1" dirty="0">
                <a:solidFill>
                  <a:srgbClr val="FF0000"/>
                </a:solidFill>
              </a:rPr>
              <a:t>11000000 . 10101000 . 00010100 . </a:t>
            </a:r>
            <a:r>
              <a:rPr lang="en-US" sz="2400" b="1" dirty="0">
                <a:solidFill>
                  <a:srgbClr val="FF0000"/>
                </a:solidFill>
              </a:rPr>
              <a:t>111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001 </a:t>
            </a:r>
            <a:r>
              <a:rPr lang="ru-RU" sz="2400" b="1" dirty="0">
                <a:solidFill>
                  <a:srgbClr val="00B050"/>
                </a:solidFill>
              </a:rPr>
              <a:t>00</a:t>
            </a:r>
            <a:r>
              <a:rPr lang="en-US" sz="2400" b="1" dirty="0">
                <a:solidFill>
                  <a:schemeClr val="bg2"/>
                </a:solidFill>
              </a:rPr>
              <a:t> </a:t>
            </a:r>
            <a:r>
              <a:rPr lang="en-US" sz="2400" b="1" dirty="0"/>
              <a:t>- 1</a:t>
            </a:r>
            <a:r>
              <a:rPr lang="ru-RU" sz="2400" b="1" dirty="0"/>
              <a:t>92.</a:t>
            </a:r>
            <a:r>
              <a:rPr lang="en-US" sz="2400" b="1" dirty="0" smtClean="0"/>
              <a:t>168.20.228/30</a:t>
            </a:r>
            <a:endParaRPr lang="en-US" sz="2400" b="1" dirty="0"/>
          </a:p>
          <a:p>
            <a:r>
              <a:rPr lang="en-US" sz="2400" b="1" dirty="0" smtClean="0">
                <a:solidFill>
                  <a:srgbClr val="FF0000"/>
                </a:solidFill>
              </a:rPr>
              <a:t>	</a:t>
            </a:r>
            <a:r>
              <a:rPr lang="ru-RU" sz="2400" b="1" dirty="0" smtClean="0">
                <a:solidFill>
                  <a:srgbClr val="FF0000"/>
                </a:solidFill>
              </a:rPr>
              <a:t>11000000 </a:t>
            </a:r>
            <a:r>
              <a:rPr lang="ru-RU" sz="2400" b="1" dirty="0">
                <a:solidFill>
                  <a:srgbClr val="FF0000"/>
                </a:solidFill>
              </a:rPr>
              <a:t>. 10101000 . 00010100 . </a:t>
            </a:r>
            <a:r>
              <a:rPr lang="en-US" sz="2400" b="1" dirty="0">
                <a:solidFill>
                  <a:srgbClr val="FF0000"/>
                </a:solidFill>
              </a:rPr>
              <a:t>111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010 </a:t>
            </a:r>
            <a:r>
              <a:rPr lang="ru-RU" sz="2400" b="1" dirty="0">
                <a:solidFill>
                  <a:srgbClr val="00B050"/>
                </a:solidFill>
              </a:rPr>
              <a:t>00</a:t>
            </a:r>
            <a:r>
              <a:rPr lang="en-US" sz="2400" b="1" dirty="0">
                <a:solidFill>
                  <a:schemeClr val="bg2"/>
                </a:solidFill>
              </a:rPr>
              <a:t> </a:t>
            </a:r>
            <a:r>
              <a:rPr lang="en-US" sz="2400" b="1" dirty="0"/>
              <a:t>- 1</a:t>
            </a:r>
            <a:r>
              <a:rPr lang="ru-RU" sz="2400" b="1" dirty="0"/>
              <a:t>92.</a:t>
            </a:r>
            <a:r>
              <a:rPr lang="en-US" sz="2400" b="1" dirty="0" smtClean="0"/>
              <a:t>168.20.232/30</a:t>
            </a:r>
            <a:endParaRPr lang="en-US" sz="2400" b="1" dirty="0"/>
          </a:p>
          <a:p>
            <a:r>
              <a:rPr lang="en-US" sz="2400" b="1" dirty="0" smtClean="0">
                <a:solidFill>
                  <a:srgbClr val="FF0000"/>
                </a:solidFill>
              </a:rPr>
              <a:t>	</a:t>
            </a:r>
            <a:r>
              <a:rPr lang="ru-RU" sz="2400" b="1" dirty="0" smtClean="0">
                <a:solidFill>
                  <a:srgbClr val="FF0000"/>
                </a:solidFill>
              </a:rPr>
              <a:t>11000000 </a:t>
            </a:r>
            <a:r>
              <a:rPr lang="ru-RU" sz="2400" b="1" dirty="0">
                <a:solidFill>
                  <a:srgbClr val="FF0000"/>
                </a:solidFill>
              </a:rPr>
              <a:t>. 10101000 . 00010100 . </a:t>
            </a:r>
            <a:r>
              <a:rPr lang="en-US" sz="2400" b="1" dirty="0">
                <a:solidFill>
                  <a:srgbClr val="FF0000"/>
                </a:solidFill>
              </a:rPr>
              <a:t>111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011 </a:t>
            </a:r>
            <a:r>
              <a:rPr lang="ru-RU" sz="2400" b="1" dirty="0">
                <a:solidFill>
                  <a:srgbClr val="00B050"/>
                </a:solidFill>
              </a:rPr>
              <a:t>00</a:t>
            </a:r>
            <a:r>
              <a:rPr lang="en-US" sz="2400" b="1" dirty="0">
                <a:solidFill>
                  <a:schemeClr val="bg2"/>
                </a:solidFill>
              </a:rPr>
              <a:t> </a:t>
            </a:r>
            <a:r>
              <a:rPr lang="en-US" sz="2400" b="1" dirty="0"/>
              <a:t>- 1</a:t>
            </a:r>
            <a:r>
              <a:rPr lang="ru-RU" sz="2400" b="1" dirty="0"/>
              <a:t>92.</a:t>
            </a:r>
            <a:r>
              <a:rPr lang="en-US" sz="2400" b="1" dirty="0" smtClean="0"/>
              <a:t>168.20.236/30</a:t>
            </a:r>
          </a:p>
          <a:p>
            <a:r>
              <a:rPr lang="en-US" sz="2400" b="1" dirty="0"/>
              <a:t>	</a:t>
            </a:r>
            <a:r>
              <a:rPr lang="ru-RU" sz="2400" b="1" dirty="0">
                <a:solidFill>
                  <a:srgbClr val="FF0000"/>
                </a:solidFill>
              </a:rPr>
              <a:t>11000000 . 10101000 . 00010100 . </a:t>
            </a:r>
            <a:r>
              <a:rPr lang="en-US" sz="2400" b="1" dirty="0">
                <a:solidFill>
                  <a:srgbClr val="FF0000"/>
                </a:solidFill>
              </a:rPr>
              <a:t>111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100 </a:t>
            </a:r>
            <a:r>
              <a:rPr lang="ru-RU" sz="2400" b="1" dirty="0">
                <a:solidFill>
                  <a:srgbClr val="00B050"/>
                </a:solidFill>
              </a:rPr>
              <a:t>00</a:t>
            </a:r>
            <a:r>
              <a:rPr lang="en-US" sz="2400" b="1" dirty="0">
                <a:solidFill>
                  <a:schemeClr val="bg2"/>
                </a:solidFill>
              </a:rPr>
              <a:t> </a:t>
            </a:r>
            <a:r>
              <a:rPr lang="en-US" sz="2400" b="1" dirty="0"/>
              <a:t>- 1</a:t>
            </a:r>
            <a:r>
              <a:rPr lang="ru-RU" sz="2400" b="1" dirty="0"/>
              <a:t>92.</a:t>
            </a:r>
            <a:r>
              <a:rPr lang="en-US" sz="2400" b="1" dirty="0" smtClean="0"/>
              <a:t>168.20.240/30</a:t>
            </a:r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	</a:t>
            </a:r>
            <a:r>
              <a:rPr lang="ru-RU" sz="2400" b="1" dirty="0">
                <a:solidFill>
                  <a:srgbClr val="FF0000"/>
                </a:solidFill>
              </a:rPr>
              <a:t>11000000 . 10101000 . 00010100 . </a:t>
            </a:r>
            <a:r>
              <a:rPr lang="en-US" sz="2400" b="1" dirty="0">
                <a:solidFill>
                  <a:srgbClr val="FF0000"/>
                </a:solidFill>
              </a:rPr>
              <a:t>111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101 </a:t>
            </a:r>
            <a:r>
              <a:rPr lang="ru-RU" sz="2400" b="1" dirty="0">
                <a:solidFill>
                  <a:srgbClr val="00B050"/>
                </a:solidFill>
              </a:rPr>
              <a:t>00</a:t>
            </a:r>
            <a:r>
              <a:rPr lang="en-US" sz="2400" b="1" dirty="0">
                <a:solidFill>
                  <a:schemeClr val="bg2"/>
                </a:solidFill>
              </a:rPr>
              <a:t> </a:t>
            </a:r>
            <a:r>
              <a:rPr lang="en-US" sz="2400" b="1" dirty="0"/>
              <a:t>- 1</a:t>
            </a:r>
            <a:r>
              <a:rPr lang="ru-RU" sz="2400" b="1" dirty="0"/>
              <a:t>92.</a:t>
            </a:r>
            <a:r>
              <a:rPr lang="en-US" sz="2400" b="1" dirty="0" smtClean="0"/>
              <a:t>168.20.244/30</a:t>
            </a:r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	</a:t>
            </a:r>
            <a:r>
              <a:rPr lang="ru-RU" sz="2400" b="1" dirty="0">
                <a:solidFill>
                  <a:srgbClr val="FF0000"/>
                </a:solidFill>
              </a:rPr>
              <a:t>11000000 . 10101000 . 00010100 . </a:t>
            </a:r>
            <a:r>
              <a:rPr lang="en-US" sz="2400" b="1" dirty="0">
                <a:solidFill>
                  <a:srgbClr val="FF0000"/>
                </a:solidFill>
              </a:rPr>
              <a:t>111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110 </a:t>
            </a:r>
            <a:r>
              <a:rPr lang="ru-RU" sz="2400" b="1" dirty="0">
                <a:solidFill>
                  <a:srgbClr val="00B050"/>
                </a:solidFill>
              </a:rPr>
              <a:t>00</a:t>
            </a:r>
            <a:r>
              <a:rPr lang="en-US" sz="2400" b="1" dirty="0">
                <a:solidFill>
                  <a:schemeClr val="bg2"/>
                </a:solidFill>
              </a:rPr>
              <a:t> </a:t>
            </a:r>
            <a:r>
              <a:rPr lang="en-US" sz="2400" b="1" dirty="0"/>
              <a:t>- 1</a:t>
            </a:r>
            <a:r>
              <a:rPr lang="ru-RU" sz="2400" b="1" dirty="0"/>
              <a:t>92.</a:t>
            </a:r>
            <a:r>
              <a:rPr lang="en-US" sz="2400" b="1" dirty="0" smtClean="0"/>
              <a:t>168.20.2</a:t>
            </a:r>
            <a:r>
              <a:rPr lang="ru-RU" sz="2400" b="1" dirty="0" smtClean="0"/>
              <a:t>48</a:t>
            </a:r>
            <a:r>
              <a:rPr lang="en-US" sz="2400" b="1" dirty="0" smtClean="0"/>
              <a:t>/30</a:t>
            </a:r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	</a:t>
            </a:r>
            <a:r>
              <a:rPr lang="ru-RU" sz="2400" b="1" dirty="0">
                <a:solidFill>
                  <a:srgbClr val="FF0000"/>
                </a:solidFill>
              </a:rPr>
              <a:t>11000000 . 10101000 . 00010100 . </a:t>
            </a:r>
            <a:r>
              <a:rPr lang="en-US" sz="2400" b="1" dirty="0">
                <a:solidFill>
                  <a:srgbClr val="FF0000"/>
                </a:solidFill>
              </a:rPr>
              <a:t>111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111 </a:t>
            </a:r>
            <a:r>
              <a:rPr lang="ru-RU" sz="2400" b="1" dirty="0">
                <a:solidFill>
                  <a:srgbClr val="00B050"/>
                </a:solidFill>
              </a:rPr>
              <a:t>00</a:t>
            </a:r>
            <a:r>
              <a:rPr lang="en-US" sz="2400" b="1" dirty="0">
                <a:solidFill>
                  <a:schemeClr val="bg2"/>
                </a:solidFill>
              </a:rPr>
              <a:t> </a:t>
            </a:r>
            <a:r>
              <a:rPr lang="en-US" sz="2400" b="1" dirty="0"/>
              <a:t>- 1</a:t>
            </a:r>
            <a:r>
              <a:rPr lang="ru-RU" sz="2400" b="1" dirty="0"/>
              <a:t>92.</a:t>
            </a:r>
            <a:r>
              <a:rPr lang="en-US" sz="2400" b="1" dirty="0" smtClean="0"/>
              <a:t>168.20.2</a:t>
            </a:r>
            <a:r>
              <a:rPr lang="ru-RU" sz="2400" b="1" dirty="0" smtClean="0"/>
              <a:t>52</a:t>
            </a:r>
            <a:r>
              <a:rPr lang="en-US" sz="2400" b="1" dirty="0" smtClean="0"/>
              <a:t>/30</a:t>
            </a:r>
            <a:endParaRPr lang="ru-RU" sz="2400" b="1" dirty="0"/>
          </a:p>
          <a:p>
            <a:endParaRPr lang="ru-RU" sz="2800" b="1" dirty="0" smtClean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86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52546" y="276559"/>
            <a:ext cx="6096000" cy="69249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</a:rPr>
              <a:t>192.168.10.0/24</a:t>
            </a:r>
            <a:endParaRPr lang="ru-RU" sz="2400" dirty="0"/>
          </a:p>
          <a:p>
            <a:pPr lvl="1"/>
            <a:r>
              <a:rPr lang="ru-RU" sz="2400" dirty="0">
                <a:latin typeface="Arial" panose="020B0604020202020204" pitchFamily="34" charset="0"/>
              </a:rPr>
              <a:t>192.168.10.0/27</a:t>
            </a:r>
            <a:endParaRPr lang="ru-RU" sz="2400" dirty="0"/>
          </a:p>
          <a:p>
            <a:pPr lvl="1"/>
            <a:r>
              <a:rPr lang="ru-RU" sz="2400" dirty="0">
                <a:latin typeface="Arial" panose="020B0604020202020204" pitchFamily="34" charset="0"/>
              </a:rPr>
              <a:t>192.168.10.32/27</a:t>
            </a:r>
            <a:endParaRPr lang="ru-RU" sz="2400" dirty="0"/>
          </a:p>
          <a:p>
            <a:pPr lvl="1"/>
            <a:r>
              <a:rPr lang="ru-RU" sz="2400" dirty="0">
                <a:latin typeface="Arial" panose="020B0604020202020204" pitchFamily="34" charset="0"/>
              </a:rPr>
              <a:t>192.168.10.64/27</a:t>
            </a:r>
            <a:endParaRPr lang="ru-RU" sz="2400" dirty="0"/>
          </a:p>
          <a:p>
            <a:pPr lvl="1"/>
            <a:r>
              <a:rPr lang="ru-RU" sz="2400" dirty="0">
                <a:latin typeface="Arial" panose="020B0604020202020204" pitchFamily="34" charset="0"/>
              </a:rPr>
              <a:t>192.168.10.96/27</a:t>
            </a:r>
            <a:endParaRPr lang="ru-RU" sz="2400" dirty="0"/>
          </a:p>
          <a:p>
            <a:pPr lvl="1"/>
            <a:r>
              <a:rPr lang="ru-RU" sz="2400" dirty="0">
                <a:latin typeface="Arial" panose="020B0604020202020204" pitchFamily="34" charset="0"/>
              </a:rPr>
              <a:t>192.168.10.128/27</a:t>
            </a:r>
            <a:endParaRPr lang="ru-RU" sz="2400" dirty="0"/>
          </a:p>
          <a:p>
            <a:pPr lvl="1"/>
            <a:r>
              <a:rPr lang="ru-RU" sz="2400" dirty="0">
                <a:latin typeface="Arial" panose="020B0604020202020204" pitchFamily="34" charset="0"/>
              </a:rPr>
              <a:t>192.168.10.160/27</a:t>
            </a:r>
            <a:endParaRPr lang="ru-RU" sz="2400" dirty="0"/>
          </a:p>
          <a:p>
            <a:pPr lvl="1"/>
            <a:r>
              <a:rPr lang="ru-RU" sz="2400" dirty="0">
                <a:latin typeface="Arial" panose="020B0604020202020204" pitchFamily="34" charset="0"/>
              </a:rPr>
              <a:t>192.168.10.192/27</a:t>
            </a:r>
            <a:endParaRPr lang="ru-RU" sz="2400" dirty="0"/>
          </a:p>
          <a:p>
            <a:pPr lvl="1"/>
            <a:r>
              <a:rPr lang="ru-RU" sz="2400" dirty="0">
                <a:latin typeface="Arial" panose="020B0604020202020204" pitchFamily="34" charset="0"/>
              </a:rPr>
              <a:t>192.168.10.224/27</a:t>
            </a:r>
            <a:endParaRPr lang="ru-RU" sz="2400" dirty="0"/>
          </a:p>
          <a:p>
            <a:r>
              <a:rPr lang="ru-RU" sz="2400" dirty="0" smtClean="0">
                <a:latin typeface="Arial" panose="020B0604020202020204" pitchFamily="34" charset="0"/>
              </a:rPr>
              <a:t>		192.168.10.224/30</a:t>
            </a:r>
            <a:endParaRPr lang="ru-RU" sz="2400" dirty="0"/>
          </a:p>
          <a:p>
            <a:r>
              <a:rPr lang="ru-RU" sz="2400" dirty="0" smtClean="0">
                <a:latin typeface="Arial" panose="020B0604020202020204" pitchFamily="34" charset="0"/>
              </a:rPr>
              <a:t>		192.168.10.228/30</a:t>
            </a:r>
            <a:endParaRPr lang="ru-RU" sz="2400" dirty="0"/>
          </a:p>
          <a:p>
            <a:r>
              <a:rPr lang="ru-RU" sz="2400" dirty="0" smtClean="0">
                <a:latin typeface="Arial" panose="020B0604020202020204" pitchFamily="34" charset="0"/>
              </a:rPr>
              <a:t>		192.168.10.232/30</a:t>
            </a:r>
            <a:endParaRPr lang="ru-RU" sz="2400" dirty="0"/>
          </a:p>
          <a:p>
            <a:pPr lvl="2"/>
            <a:r>
              <a:rPr lang="ru-RU" sz="2400" dirty="0">
                <a:latin typeface="Arial" panose="020B0604020202020204" pitchFamily="34" charset="0"/>
              </a:rPr>
              <a:t>192.168.10.236/30</a:t>
            </a:r>
            <a:endParaRPr lang="ru-RU" sz="2400" dirty="0"/>
          </a:p>
          <a:p>
            <a:pPr lvl="2"/>
            <a:r>
              <a:rPr lang="ru-RU" sz="2400" dirty="0">
                <a:latin typeface="Arial" panose="020B0604020202020204" pitchFamily="34" charset="0"/>
              </a:rPr>
              <a:t>192.168.10.240/30</a:t>
            </a:r>
            <a:endParaRPr lang="ru-RU" sz="2400" dirty="0"/>
          </a:p>
          <a:p>
            <a:pPr lvl="2"/>
            <a:r>
              <a:rPr lang="ru-RU" sz="2400" dirty="0">
                <a:latin typeface="Arial" panose="020B0604020202020204" pitchFamily="34" charset="0"/>
              </a:rPr>
              <a:t>192.168.10.244/30</a:t>
            </a:r>
            <a:endParaRPr lang="ru-RU" sz="2400" dirty="0"/>
          </a:p>
          <a:p>
            <a:pPr lvl="2"/>
            <a:r>
              <a:rPr lang="ru-RU" sz="2400" dirty="0">
                <a:latin typeface="Arial" panose="020B0604020202020204" pitchFamily="34" charset="0"/>
              </a:rPr>
              <a:t>192.168.10.248/30</a:t>
            </a:r>
            <a:endParaRPr lang="ru-RU" sz="2400" dirty="0"/>
          </a:p>
          <a:p>
            <a:pPr lvl="2"/>
            <a:r>
              <a:rPr lang="ru-RU" sz="2400" dirty="0">
                <a:latin typeface="Arial" panose="020B0604020202020204" pitchFamily="34" charset="0"/>
              </a:rPr>
              <a:t>192.168.10.252/30</a:t>
            </a:r>
            <a:endParaRPr lang="ru-RU" sz="2400" dirty="0"/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671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358053" y="294227"/>
            <a:ext cx="6096000" cy="69249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</a:rPr>
              <a:t>192.168.10.0/24</a:t>
            </a:r>
            <a:endParaRPr lang="ru-RU" sz="2400" dirty="0"/>
          </a:p>
          <a:p>
            <a:pPr lvl="1"/>
            <a:r>
              <a:rPr lang="ru-RU" sz="2400" dirty="0">
                <a:latin typeface="Arial" panose="020B0604020202020204" pitchFamily="34" charset="0"/>
              </a:rPr>
              <a:t>192.168.10.0/27</a:t>
            </a:r>
            <a:endParaRPr lang="ru-RU" sz="2400" dirty="0"/>
          </a:p>
          <a:p>
            <a:pPr lvl="1"/>
            <a:r>
              <a:rPr lang="ru-RU" sz="2400" dirty="0">
                <a:latin typeface="Arial" panose="020B0604020202020204" pitchFamily="34" charset="0"/>
              </a:rPr>
              <a:t>192.168.10.32/27</a:t>
            </a:r>
            <a:endParaRPr lang="ru-RU" sz="2400" dirty="0"/>
          </a:p>
          <a:p>
            <a:pPr lvl="1"/>
            <a:r>
              <a:rPr lang="ru-RU" sz="2400" dirty="0">
                <a:latin typeface="Arial" panose="020B0604020202020204" pitchFamily="34" charset="0"/>
              </a:rPr>
              <a:t>192.168.10.64/27</a:t>
            </a:r>
            <a:endParaRPr lang="ru-RU" sz="2400" dirty="0"/>
          </a:p>
          <a:p>
            <a:pPr lvl="1"/>
            <a:r>
              <a:rPr lang="ru-RU" sz="2400" dirty="0">
                <a:latin typeface="Arial" panose="020B0604020202020204" pitchFamily="34" charset="0"/>
              </a:rPr>
              <a:t>192.168.10.96/27</a:t>
            </a:r>
            <a:endParaRPr lang="ru-RU" sz="2400" dirty="0"/>
          </a:p>
          <a:p>
            <a:pPr lvl="2"/>
            <a:r>
              <a:rPr lang="ru-RU" sz="2400" dirty="0">
                <a:latin typeface="Arial" panose="020B0604020202020204" pitchFamily="34" charset="0"/>
              </a:rPr>
              <a:t>192.168.10.96/30 </a:t>
            </a:r>
            <a:endParaRPr lang="ru-RU" sz="2400" dirty="0" smtClean="0">
              <a:latin typeface="Arial" panose="020B0604020202020204" pitchFamily="34" charset="0"/>
            </a:endParaRPr>
          </a:p>
          <a:p>
            <a:pPr lvl="2"/>
            <a:r>
              <a:rPr lang="ru-RU" sz="2400" dirty="0" smtClean="0">
                <a:latin typeface="Arial" panose="020B0604020202020204" pitchFamily="34" charset="0"/>
              </a:rPr>
              <a:t>192.168.10.100/30 </a:t>
            </a:r>
            <a:r>
              <a:rPr lang="ru-RU" sz="2400" dirty="0">
                <a:latin typeface="Arial" panose="020B0604020202020204" pitchFamily="34" charset="0"/>
              </a:rPr>
              <a:t>      </a:t>
            </a:r>
            <a:endParaRPr lang="ru-RU" sz="2400" dirty="0" smtClean="0">
              <a:latin typeface="Arial" panose="020B0604020202020204" pitchFamily="34" charset="0"/>
            </a:endParaRPr>
          </a:p>
          <a:p>
            <a:pPr lvl="2"/>
            <a:r>
              <a:rPr lang="ru-RU" sz="2400" dirty="0" smtClean="0">
                <a:latin typeface="Arial" panose="020B0604020202020204" pitchFamily="34" charset="0"/>
              </a:rPr>
              <a:t>192.168.10.104/30 </a:t>
            </a:r>
          </a:p>
          <a:p>
            <a:pPr lvl="2"/>
            <a:r>
              <a:rPr lang="ru-RU" sz="2400" dirty="0" smtClean="0">
                <a:latin typeface="Arial" panose="020B0604020202020204" pitchFamily="34" charset="0"/>
              </a:rPr>
              <a:t>192.168.10.108/30 </a:t>
            </a:r>
          </a:p>
          <a:p>
            <a:pPr lvl="2"/>
            <a:r>
              <a:rPr lang="ru-RU" sz="2400" dirty="0" smtClean="0">
                <a:latin typeface="Arial" panose="020B0604020202020204" pitchFamily="34" charset="0"/>
              </a:rPr>
              <a:t>192.168.10.112/30 </a:t>
            </a:r>
          </a:p>
          <a:p>
            <a:pPr lvl="2"/>
            <a:r>
              <a:rPr lang="ru-RU" sz="2400" dirty="0" smtClean="0">
                <a:latin typeface="Arial" panose="020B0604020202020204" pitchFamily="34" charset="0"/>
              </a:rPr>
              <a:t>192.168.10.116/30 </a:t>
            </a:r>
          </a:p>
          <a:p>
            <a:pPr lvl="2"/>
            <a:r>
              <a:rPr lang="ru-RU" sz="2400" dirty="0" smtClean="0">
                <a:latin typeface="Arial" panose="020B0604020202020204" pitchFamily="34" charset="0"/>
              </a:rPr>
              <a:t>192.168.10.120/30 </a:t>
            </a:r>
          </a:p>
          <a:p>
            <a:pPr lvl="2"/>
            <a:r>
              <a:rPr lang="ru-RU" sz="2400" dirty="0" smtClean="0">
                <a:latin typeface="Arial" panose="020B0604020202020204" pitchFamily="34" charset="0"/>
              </a:rPr>
              <a:t>192.168.10.124/30</a:t>
            </a:r>
            <a:endParaRPr lang="ru-RU" sz="2400" dirty="0"/>
          </a:p>
          <a:p>
            <a:pPr lvl="1"/>
            <a:r>
              <a:rPr lang="ru-RU" sz="2400" dirty="0">
                <a:latin typeface="Arial" panose="020B0604020202020204" pitchFamily="34" charset="0"/>
              </a:rPr>
              <a:t>192.168.10.128/27</a:t>
            </a:r>
            <a:endParaRPr lang="ru-RU" sz="2400" dirty="0"/>
          </a:p>
          <a:p>
            <a:pPr lvl="1"/>
            <a:r>
              <a:rPr lang="ru-RU" sz="2400" dirty="0">
                <a:latin typeface="Arial" panose="020B0604020202020204" pitchFamily="34" charset="0"/>
              </a:rPr>
              <a:t>192.168.10.160/27</a:t>
            </a:r>
            <a:endParaRPr lang="ru-RU" sz="2400" dirty="0"/>
          </a:p>
          <a:p>
            <a:pPr lvl="1"/>
            <a:r>
              <a:rPr lang="ru-RU" sz="2400" dirty="0">
                <a:latin typeface="Arial" panose="020B0604020202020204" pitchFamily="34" charset="0"/>
              </a:rPr>
              <a:t>192.168.10.192/27</a:t>
            </a:r>
            <a:endParaRPr lang="ru-RU" sz="2400" dirty="0"/>
          </a:p>
          <a:p>
            <a:pPr lvl="1"/>
            <a:r>
              <a:rPr lang="ru-RU" sz="2400" dirty="0">
                <a:latin typeface="Arial" panose="020B0604020202020204" pitchFamily="34" charset="0"/>
              </a:rPr>
              <a:t>192.168.10.224/27</a:t>
            </a:r>
            <a:endParaRPr lang="ru-RU" sz="2400" dirty="0"/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78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628292" y="1081179"/>
            <a:ext cx="6096000" cy="538609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</a:rPr>
              <a:t>192.168.10.0/24</a:t>
            </a:r>
            <a:endParaRPr lang="ru-RU" sz="2800" dirty="0"/>
          </a:p>
          <a:p>
            <a:pPr lvl="1"/>
            <a:r>
              <a:rPr lang="ru-RU" sz="2800" dirty="0">
                <a:latin typeface="Arial" panose="020B0604020202020204" pitchFamily="34" charset="0"/>
              </a:rPr>
              <a:t>192.168.10.128/25</a:t>
            </a:r>
            <a:endParaRPr lang="ru-RU" sz="2800" dirty="0"/>
          </a:p>
          <a:p>
            <a:pPr lvl="3"/>
            <a:r>
              <a:rPr lang="ru-RU" sz="2800" dirty="0">
                <a:latin typeface="Arial" panose="020B0604020202020204" pitchFamily="34" charset="0"/>
              </a:rPr>
              <a:t>192.168.10.0/27</a:t>
            </a:r>
            <a:endParaRPr lang="ru-RU" sz="2800" dirty="0"/>
          </a:p>
          <a:p>
            <a:pPr lvl="3"/>
            <a:r>
              <a:rPr lang="ru-RU" sz="2800" dirty="0">
                <a:latin typeface="Arial" panose="020B0604020202020204" pitchFamily="34" charset="0"/>
              </a:rPr>
              <a:t>192.168.10.32/27</a:t>
            </a:r>
            <a:endParaRPr lang="ru-RU" sz="2800" dirty="0"/>
          </a:p>
          <a:p>
            <a:pPr lvl="3"/>
            <a:r>
              <a:rPr lang="ru-RU" sz="2800" dirty="0">
                <a:latin typeface="Arial" panose="020B0604020202020204" pitchFamily="34" charset="0"/>
              </a:rPr>
              <a:t>192.168.10.64/27</a:t>
            </a:r>
            <a:endParaRPr lang="ru-RU" sz="2800" dirty="0"/>
          </a:p>
          <a:p>
            <a:pPr lvl="3"/>
            <a:r>
              <a:rPr lang="ru-RU" sz="2800" dirty="0">
                <a:latin typeface="Arial" panose="020B0604020202020204" pitchFamily="34" charset="0"/>
              </a:rPr>
              <a:t>192.168.10.96/27</a:t>
            </a:r>
            <a:endParaRPr lang="ru-RU" sz="2800" dirty="0"/>
          </a:p>
          <a:p>
            <a:pPr lvl="5"/>
            <a:r>
              <a:rPr lang="ru-RU" sz="2800" dirty="0" smtClean="0">
                <a:latin typeface="Arial" panose="020B0604020202020204" pitchFamily="34" charset="0"/>
              </a:rPr>
              <a:t>192.168.10.96/30</a:t>
            </a:r>
          </a:p>
          <a:p>
            <a:pPr lvl="5"/>
            <a:r>
              <a:rPr lang="ru-RU" sz="2800" dirty="0" smtClean="0">
                <a:latin typeface="Arial" panose="020B0604020202020204" pitchFamily="34" charset="0"/>
              </a:rPr>
              <a:t>192.168.10.100/30</a:t>
            </a:r>
            <a:endParaRPr lang="ru-RU" sz="2800" dirty="0"/>
          </a:p>
          <a:p>
            <a:pPr lvl="2"/>
            <a:r>
              <a:rPr lang="ru-RU" sz="2800" dirty="0" smtClean="0">
                <a:latin typeface="Arial" panose="020B0604020202020204" pitchFamily="34" charset="0"/>
              </a:rPr>
              <a:t>		192.168.10.104/29</a:t>
            </a:r>
            <a:endParaRPr lang="ru-RU" sz="2800" dirty="0"/>
          </a:p>
          <a:p>
            <a:pPr lvl="1"/>
            <a:r>
              <a:rPr lang="ru-RU" sz="2800" dirty="0" smtClean="0">
                <a:latin typeface="Arial" panose="020B0604020202020204" pitchFamily="34" charset="0"/>
              </a:rPr>
              <a:t>	192.168.10.112/28</a:t>
            </a:r>
            <a:endParaRPr lang="ru-RU" sz="2800" dirty="0"/>
          </a:p>
          <a:p>
            <a:pPr lvl="1"/>
            <a:r>
              <a:rPr lang="ru-RU" sz="2800" dirty="0">
                <a:latin typeface="Arial" panose="020B0604020202020204" pitchFamily="34" charset="0"/>
              </a:rPr>
              <a:t>192.168.10.128/25</a:t>
            </a:r>
            <a:endParaRPr lang="ru-RU" sz="2800" dirty="0"/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1748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728862"/>
              </p:ext>
            </p:extLst>
          </p:nvPr>
        </p:nvGraphicFramePr>
        <p:xfrm>
          <a:off x="2224454" y="1897835"/>
          <a:ext cx="8128976" cy="2955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122">
                  <a:extLst>
                    <a:ext uri="{9D8B030D-6E8A-4147-A177-3AD203B41FA5}">
                      <a16:colId xmlns:a16="http://schemas.microsoft.com/office/drawing/2014/main" val="2617042064"/>
                    </a:ext>
                  </a:extLst>
                </a:gridCol>
                <a:gridCol w="1016122">
                  <a:extLst>
                    <a:ext uri="{9D8B030D-6E8A-4147-A177-3AD203B41FA5}">
                      <a16:colId xmlns:a16="http://schemas.microsoft.com/office/drawing/2014/main" val="4282170001"/>
                    </a:ext>
                  </a:extLst>
                </a:gridCol>
                <a:gridCol w="1016122">
                  <a:extLst>
                    <a:ext uri="{9D8B030D-6E8A-4147-A177-3AD203B41FA5}">
                      <a16:colId xmlns:a16="http://schemas.microsoft.com/office/drawing/2014/main" val="3737719227"/>
                    </a:ext>
                  </a:extLst>
                </a:gridCol>
                <a:gridCol w="1016122">
                  <a:extLst>
                    <a:ext uri="{9D8B030D-6E8A-4147-A177-3AD203B41FA5}">
                      <a16:colId xmlns:a16="http://schemas.microsoft.com/office/drawing/2014/main" val="4237289139"/>
                    </a:ext>
                  </a:extLst>
                </a:gridCol>
                <a:gridCol w="1016122">
                  <a:extLst>
                    <a:ext uri="{9D8B030D-6E8A-4147-A177-3AD203B41FA5}">
                      <a16:colId xmlns:a16="http://schemas.microsoft.com/office/drawing/2014/main" val="2928425883"/>
                    </a:ext>
                  </a:extLst>
                </a:gridCol>
                <a:gridCol w="1016122">
                  <a:extLst>
                    <a:ext uri="{9D8B030D-6E8A-4147-A177-3AD203B41FA5}">
                      <a16:colId xmlns:a16="http://schemas.microsoft.com/office/drawing/2014/main" val="431965511"/>
                    </a:ext>
                  </a:extLst>
                </a:gridCol>
                <a:gridCol w="1016122">
                  <a:extLst>
                    <a:ext uri="{9D8B030D-6E8A-4147-A177-3AD203B41FA5}">
                      <a16:colId xmlns:a16="http://schemas.microsoft.com/office/drawing/2014/main" val="1720204750"/>
                    </a:ext>
                  </a:extLst>
                </a:gridCol>
                <a:gridCol w="1016122">
                  <a:extLst>
                    <a:ext uri="{9D8B030D-6E8A-4147-A177-3AD203B41FA5}">
                      <a16:colId xmlns:a16="http://schemas.microsoft.com/office/drawing/2014/main" val="4114256078"/>
                    </a:ext>
                  </a:extLst>
                </a:gridCol>
              </a:tblGrid>
              <a:tr h="738988">
                <a:tc gridSpan="8"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/24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78836"/>
                  </a:ext>
                </a:extLst>
              </a:tr>
              <a:tr h="738988"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/25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/25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379976"/>
                  </a:ext>
                </a:extLst>
              </a:tr>
              <a:tr h="738988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/26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/26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/26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/26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633567"/>
                  </a:ext>
                </a:extLst>
              </a:tr>
              <a:tr h="73898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/27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/>
                        <a:t>/27</a:t>
                      </a:r>
                      <a:endParaRPr lang="ru-RU" sz="2000" b="1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/>
                        <a:t>/27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/27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/27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/27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/27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/27</a:t>
                      </a:r>
                      <a:endParaRPr lang="ru-RU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815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665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af-ZA" sz="3600" dirty="0" smtClean="0">
                <a:hlinkClick r:id="rId2"/>
              </a:rPr>
              <a:t>meridianoutpost.com</a:t>
            </a:r>
            <a:endParaRPr lang="af-ZA" sz="3600" dirty="0" smtClean="0"/>
          </a:p>
          <a:p>
            <a:pPr marL="0" indent="0" algn="ctr">
              <a:buNone/>
            </a:pPr>
            <a:r>
              <a:rPr lang="af-ZA" sz="3600" dirty="0" smtClean="0">
                <a:hlinkClick r:id="rId3"/>
              </a:rPr>
              <a:t>subnetipv4.com</a:t>
            </a:r>
            <a:endParaRPr lang="af-ZA" sz="3600" dirty="0" smtClean="0"/>
          </a:p>
          <a:p>
            <a:pPr marL="0" indent="0" algn="ctr">
              <a:buNone/>
            </a:pPr>
            <a:r>
              <a:rPr lang="af-ZA" sz="3600" dirty="0">
                <a:hlinkClick r:id="rId4"/>
              </a:rPr>
              <a:t>visualsubnetcalc.com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75353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Прямая и косвенная доставка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7936" y="2249488"/>
            <a:ext cx="8652953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714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Маршрутизация и пересылка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7997" y="2003303"/>
            <a:ext cx="5472829" cy="430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162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Таблица маршрутизации</a:t>
            </a:r>
            <a:endParaRPr lang="ru-RU" dirty="0"/>
          </a:p>
        </p:txBody>
      </p:sp>
      <p:pic>
        <p:nvPicPr>
          <p:cNvPr id="6" name="Google Shape;424;p72"/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4559" y="2775658"/>
            <a:ext cx="6373103" cy="3660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42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6752" y="1773864"/>
            <a:ext cx="7526802" cy="11882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Прямоугольник 3"/>
          <p:cNvSpPr/>
          <p:nvPr/>
        </p:nvSpPr>
        <p:spPr>
          <a:xfrm>
            <a:off x="7206762" y="3929442"/>
            <a:ext cx="4896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Прямо подключённые сети (</a:t>
            </a:r>
            <a:r>
              <a:rPr lang="ru-RU" dirty="0" err="1"/>
              <a:t>connected</a:t>
            </a:r>
            <a:r>
              <a:rPr lang="ru-RU" dirty="0"/>
              <a:t>). </a:t>
            </a: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</a:t>
            </a:r>
            <a:r>
              <a:rPr lang="ru-RU" dirty="0" smtClean="0"/>
              <a:t>татические </a:t>
            </a:r>
            <a:r>
              <a:rPr lang="ru-RU" dirty="0"/>
              <a:t>маршруты. </a:t>
            </a: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Динамические </a:t>
            </a:r>
            <a:r>
              <a:rPr lang="ru-RU" dirty="0"/>
              <a:t>маршруты. </a:t>
            </a:r>
          </a:p>
        </p:txBody>
      </p:sp>
    </p:spTree>
    <p:extLst>
      <p:ext uri="{BB962C8B-B14F-4D97-AF65-F5344CB8AC3E}">
        <p14:creationId xmlns:p14="http://schemas.microsoft.com/office/powerpoint/2010/main" val="3873751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Таблица маршрутизации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2275" y="2553289"/>
            <a:ext cx="8964276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266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ru" dirty="0"/>
              <a:t>Использование сетевой маски</a:t>
            </a:r>
            <a:r>
              <a:rPr lang="en-US" dirty="0"/>
              <a:t> </a:t>
            </a:r>
            <a:r>
              <a:rPr lang="ru-RU" dirty="0"/>
              <a:t>для определения принадлежности узла к сети</a:t>
            </a:r>
            <a:endParaRPr dirty="0"/>
          </a:p>
        </p:txBody>
      </p:sp>
      <p:sp>
        <p:nvSpPr>
          <p:cNvPr id="173" name="Google Shape;173;p33"/>
          <p:cNvSpPr txBox="1"/>
          <p:nvPr/>
        </p:nvSpPr>
        <p:spPr>
          <a:xfrm>
            <a:off x="2397133" y="2058300"/>
            <a:ext cx="72800" cy="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2400">
              <a:solidFill>
                <a:schemeClr val="dk2"/>
              </a:solidFill>
            </a:endParaRPr>
          </a:p>
        </p:txBody>
      </p:sp>
      <p:sp>
        <p:nvSpPr>
          <p:cNvPr id="174" name="Google Shape;174;p33"/>
          <p:cNvSpPr txBox="1"/>
          <p:nvPr/>
        </p:nvSpPr>
        <p:spPr>
          <a:xfrm>
            <a:off x="415600" y="1785801"/>
            <a:ext cx="11360800" cy="16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just"/>
            <a:r>
              <a:rPr lang="ru" sz="4667" b="1" dirty="0"/>
              <a:t>     192     .     168     .      10      .      </a:t>
            </a:r>
            <a:r>
              <a:rPr lang="ru" sz="4667" b="1" dirty="0" smtClean="0"/>
              <a:t>0      </a:t>
            </a:r>
            <a:r>
              <a:rPr lang="en-US" sz="4667" b="1" dirty="0" smtClean="0"/>
              <a:t>/24</a:t>
            </a:r>
            <a:endParaRPr sz="4667" b="1" dirty="0"/>
          </a:p>
          <a:p>
            <a:r>
              <a:rPr lang="ru" sz="4667" b="1" dirty="0"/>
              <a:t>11000000 10101000 00001010 </a:t>
            </a:r>
            <a:r>
              <a:rPr lang="ru" sz="4667" b="1" dirty="0" smtClean="0"/>
              <a:t>00000000</a:t>
            </a:r>
            <a:endParaRPr sz="4667" b="1" dirty="0"/>
          </a:p>
        </p:txBody>
      </p:sp>
      <p:sp>
        <p:nvSpPr>
          <p:cNvPr id="175" name="Google Shape;175;p33"/>
          <p:cNvSpPr txBox="1"/>
          <p:nvPr/>
        </p:nvSpPr>
        <p:spPr>
          <a:xfrm>
            <a:off x="415600" y="4314367"/>
            <a:ext cx="11360800" cy="16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just"/>
            <a:r>
              <a:rPr lang="ru" sz="4667" b="1" dirty="0"/>
              <a:t>     172     .      20      .       1      .       7</a:t>
            </a:r>
            <a:endParaRPr sz="4667" b="1" dirty="0"/>
          </a:p>
          <a:p>
            <a:r>
              <a:rPr lang="ru" sz="4667" b="1" dirty="0"/>
              <a:t>10101100 00010100 00000001 00000111</a:t>
            </a:r>
            <a:endParaRPr sz="4667" b="1" dirty="0"/>
          </a:p>
        </p:txBody>
      </p:sp>
    </p:spTree>
    <p:extLst>
      <p:ext uri="{BB962C8B-B14F-4D97-AF65-F5344CB8AC3E}">
        <p14:creationId xmlns:p14="http://schemas.microsoft.com/office/powerpoint/2010/main" val="401906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ru" dirty="0"/>
              <a:t>Использование сетевой маски</a:t>
            </a:r>
            <a:r>
              <a:rPr lang="en-US" dirty="0"/>
              <a:t> </a:t>
            </a:r>
            <a:r>
              <a:rPr lang="ru-RU" dirty="0"/>
              <a:t>для определения принадлежности узла к сети</a:t>
            </a:r>
            <a:endParaRPr dirty="0"/>
          </a:p>
        </p:txBody>
      </p:sp>
      <p:sp>
        <p:nvSpPr>
          <p:cNvPr id="173" name="Google Shape;173;p33"/>
          <p:cNvSpPr txBox="1"/>
          <p:nvPr/>
        </p:nvSpPr>
        <p:spPr>
          <a:xfrm>
            <a:off x="2397133" y="2058300"/>
            <a:ext cx="72800" cy="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2400">
              <a:solidFill>
                <a:schemeClr val="dk2"/>
              </a:solidFill>
            </a:endParaRPr>
          </a:p>
        </p:txBody>
      </p:sp>
      <p:sp>
        <p:nvSpPr>
          <p:cNvPr id="174" name="Google Shape;174;p33"/>
          <p:cNvSpPr txBox="1"/>
          <p:nvPr/>
        </p:nvSpPr>
        <p:spPr>
          <a:xfrm>
            <a:off x="415600" y="1785801"/>
            <a:ext cx="11360800" cy="16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just"/>
            <a:r>
              <a:rPr lang="ru" sz="4667" b="1" dirty="0"/>
              <a:t>     192     .     168     .      10      .      </a:t>
            </a:r>
            <a:r>
              <a:rPr lang="ru" sz="4667" b="1" dirty="0" smtClean="0"/>
              <a:t>0      </a:t>
            </a:r>
            <a:r>
              <a:rPr lang="en-US" sz="4667" b="1" dirty="0" smtClean="0"/>
              <a:t>/24</a:t>
            </a:r>
            <a:endParaRPr sz="4667" b="1" dirty="0"/>
          </a:p>
          <a:p>
            <a:r>
              <a:rPr lang="ru" sz="4667" b="1" dirty="0"/>
              <a:t>11000000 10101000 00001010 </a:t>
            </a:r>
            <a:r>
              <a:rPr lang="ru" sz="4667" b="1" dirty="0" smtClean="0"/>
              <a:t>00000000</a:t>
            </a:r>
            <a:endParaRPr sz="4667" b="1" dirty="0"/>
          </a:p>
        </p:txBody>
      </p:sp>
      <p:sp>
        <p:nvSpPr>
          <p:cNvPr id="175" name="Google Shape;175;p33"/>
          <p:cNvSpPr txBox="1"/>
          <p:nvPr/>
        </p:nvSpPr>
        <p:spPr>
          <a:xfrm>
            <a:off x="415600" y="4314367"/>
            <a:ext cx="11360800" cy="16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just"/>
            <a:r>
              <a:rPr lang="ru" sz="4667" b="1" dirty="0"/>
              <a:t>     172     .      20      .       1      .       7</a:t>
            </a:r>
            <a:endParaRPr sz="4667" b="1" dirty="0"/>
          </a:p>
          <a:p>
            <a:r>
              <a:rPr lang="ru" sz="4667" b="1" dirty="0"/>
              <a:t>10101100 00010100 00000001 00000111</a:t>
            </a:r>
            <a:endParaRPr sz="4667" b="1" dirty="0"/>
          </a:p>
        </p:txBody>
      </p:sp>
      <p:pic>
        <p:nvPicPr>
          <p:cNvPr id="6" name="Google Shape;18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5994" y="719718"/>
            <a:ext cx="5511260" cy="635808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85;p34"/>
          <p:cNvSpPr txBox="1"/>
          <p:nvPr/>
        </p:nvSpPr>
        <p:spPr>
          <a:xfrm>
            <a:off x="9248377" y="3233527"/>
            <a:ext cx="15534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6400" b="1" dirty="0">
                <a:solidFill>
                  <a:schemeClr val="dk2"/>
                </a:solidFill>
              </a:rPr>
              <a:t>/24</a:t>
            </a:r>
            <a:endParaRPr sz="6400" b="1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13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Логическое И</a:t>
            </a:r>
            <a:endParaRPr lang="ru-RU" dirty="0"/>
          </a:p>
        </p:txBody>
      </p:sp>
      <p:pic>
        <p:nvPicPr>
          <p:cNvPr id="6" name="Google Shape;191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9475" y="1993671"/>
            <a:ext cx="6553050" cy="3843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040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" dirty="0"/>
              <a:t>Использование сетевой маски</a:t>
            </a:r>
            <a:r>
              <a:rPr lang="en-US" dirty="0"/>
              <a:t> </a:t>
            </a:r>
            <a:r>
              <a:rPr lang="ru-RU" dirty="0"/>
              <a:t>для определения принадлежности узла к сети</a:t>
            </a:r>
          </a:p>
        </p:txBody>
      </p:sp>
      <p:sp>
        <p:nvSpPr>
          <p:cNvPr id="4" name="Google Shape;211;p38"/>
          <p:cNvSpPr txBox="1">
            <a:spLocks noGrp="1"/>
          </p:cNvSpPr>
          <p:nvPr>
            <p:ph type="body" idx="1"/>
          </p:nvPr>
        </p:nvSpPr>
        <p:spPr>
          <a:xfrm>
            <a:off x="1933739" y="1712480"/>
            <a:ext cx="8740123" cy="4653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500" b="1" dirty="0"/>
              <a:t>     </a:t>
            </a:r>
            <a:r>
              <a:rPr lang="ru" sz="3500" dirty="0"/>
              <a:t>172     .      20      .       1      .       7</a:t>
            </a:r>
            <a:endParaRPr sz="3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500" b="1" dirty="0"/>
              <a:t>10101100 00010100 00000001 00000111</a:t>
            </a:r>
            <a:endParaRPr sz="3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400" b="1" dirty="0"/>
              <a:t>     </a:t>
            </a:r>
            <a:r>
              <a:rPr lang="ru" sz="3400" dirty="0"/>
              <a:t>255     .     255     .      255    .        0</a:t>
            </a:r>
            <a:endParaRPr sz="3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400" b="1" dirty="0"/>
              <a:t>11111111 11111111  11111111 00000000</a:t>
            </a:r>
            <a:endParaRPr sz="3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400" b="1" dirty="0"/>
              <a:t>__________________________________</a:t>
            </a:r>
            <a:endParaRPr sz="3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400" b="1" dirty="0"/>
              <a:t>    </a:t>
            </a:r>
            <a:r>
              <a:rPr lang="ru" sz="3500" dirty="0"/>
              <a:t>172     .      20      .       1      .        0</a:t>
            </a:r>
            <a:endParaRPr sz="3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1" dirty="0"/>
              <a:t>10101100 00010100 00000001</a:t>
            </a:r>
            <a:r>
              <a:rPr lang="ru" sz="3400" b="1" dirty="0"/>
              <a:t> 00000000</a:t>
            </a:r>
            <a:endParaRPr sz="3500" b="1" dirty="0"/>
          </a:p>
        </p:txBody>
      </p:sp>
    </p:spTree>
    <p:extLst>
      <p:ext uri="{BB962C8B-B14F-4D97-AF65-F5344CB8AC3E}">
        <p14:creationId xmlns:p14="http://schemas.microsoft.com/office/powerpoint/2010/main" val="2229005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Исключающее </a:t>
            </a:r>
            <a:r>
              <a:rPr lang="ru" b="1" dirty="0"/>
              <a:t>или не</a:t>
            </a:r>
            <a:endParaRPr lang="ru-RU" dirty="0"/>
          </a:p>
        </p:txBody>
      </p:sp>
      <p:pic>
        <p:nvPicPr>
          <p:cNvPr id="7" name="Google Shape;217;p39"/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27277" y="2476195"/>
            <a:ext cx="5534269" cy="3388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8195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Использование сетевой маски</a:t>
            </a:r>
            <a:r>
              <a:rPr lang="en-US" dirty="0"/>
              <a:t> </a:t>
            </a:r>
            <a:r>
              <a:rPr lang="ru-RU" dirty="0"/>
              <a:t>для определения принадлежности узла к сети</a:t>
            </a:r>
          </a:p>
        </p:txBody>
      </p:sp>
      <p:sp>
        <p:nvSpPr>
          <p:cNvPr id="4" name="Google Shape;224;p40"/>
          <p:cNvSpPr txBox="1">
            <a:spLocks noGrp="1"/>
          </p:cNvSpPr>
          <p:nvPr>
            <p:ph idx="1"/>
          </p:nvPr>
        </p:nvSpPr>
        <p:spPr>
          <a:xfrm>
            <a:off x="1809627" y="1880210"/>
            <a:ext cx="9905999" cy="461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400" b="1" dirty="0"/>
              <a:t>    </a:t>
            </a:r>
            <a:r>
              <a:rPr lang="ru" sz="3400" dirty="0"/>
              <a:t>192     .     168      .      10        .        0</a:t>
            </a:r>
            <a:endParaRPr sz="3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400" b="1" dirty="0"/>
              <a:t>11000000 10101000  00001010 00000000</a:t>
            </a:r>
            <a:endParaRPr sz="3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b="1" dirty="0"/>
              <a:t>    </a:t>
            </a:r>
            <a:r>
              <a:rPr lang="ru" sz="3500" dirty="0"/>
              <a:t>172     .      20      .       1        .        0</a:t>
            </a:r>
            <a:endParaRPr sz="3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500" b="1" dirty="0"/>
              <a:t>10101100 00010100 00000001</a:t>
            </a:r>
            <a:r>
              <a:rPr lang="ru" sz="3400" b="1" dirty="0"/>
              <a:t> 00000000</a:t>
            </a:r>
            <a:endParaRPr sz="3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b="1" dirty="0"/>
              <a:t>__________________________________</a:t>
            </a:r>
            <a:endParaRPr sz="3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b="1" dirty="0"/>
              <a:t>10010011  01000011 11110100 11111111</a:t>
            </a:r>
            <a:endParaRPr sz="3400" b="1" dirty="0"/>
          </a:p>
        </p:txBody>
      </p:sp>
    </p:spTree>
    <p:extLst>
      <p:ext uri="{BB962C8B-B14F-4D97-AF65-F5344CB8AC3E}">
        <p14:creationId xmlns:p14="http://schemas.microsoft.com/office/powerpoint/2010/main" val="314057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Поиск по таблице маршрутизации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A89000-41E3-4BAE-9E14-C9E85237F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828153"/>
              </p:ext>
            </p:extLst>
          </p:nvPr>
        </p:nvGraphicFramePr>
        <p:xfrm>
          <a:off x="344969" y="1922648"/>
          <a:ext cx="7452090" cy="1894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0360">
                  <a:extLst>
                    <a:ext uri="{9D8B030D-6E8A-4147-A177-3AD203B41FA5}">
                      <a16:colId xmlns:a16="http://schemas.microsoft.com/office/drawing/2014/main" val="3472456190"/>
                    </a:ext>
                  </a:extLst>
                </a:gridCol>
                <a:gridCol w="2495865">
                  <a:extLst>
                    <a:ext uri="{9D8B030D-6E8A-4147-A177-3AD203B41FA5}">
                      <a16:colId xmlns:a16="http://schemas.microsoft.com/office/drawing/2014/main" val="984340672"/>
                    </a:ext>
                  </a:extLst>
                </a:gridCol>
                <a:gridCol w="2495865">
                  <a:extLst>
                    <a:ext uri="{9D8B030D-6E8A-4147-A177-3AD203B41FA5}">
                      <a16:colId xmlns:a16="http://schemas.microsoft.com/office/drawing/2014/main" val="4087065278"/>
                    </a:ext>
                  </a:extLst>
                </a:gridCol>
              </a:tblGrid>
              <a:tr h="473691">
                <a:tc>
                  <a:txBody>
                    <a:bodyPr/>
                    <a:lstStyle/>
                    <a:p>
                      <a:r>
                        <a:rPr lang="ru-RU" sz="1800" b="1" dirty="0"/>
                        <a:t>Адрес сети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dirty="0"/>
                        <a:t>Маска сети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dirty="0"/>
                        <a:t>Шлюз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922305"/>
                  </a:ext>
                </a:extLst>
              </a:tr>
              <a:tr h="473691">
                <a:tc>
                  <a:txBody>
                    <a:bodyPr/>
                    <a:lstStyle/>
                    <a:p>
                      <a:r>
                        <a:rPr lang="en-US" sz="1800" b="1" dirty="0"/>
                        <a:t>192.168.10.0</a:t>
                      </a:r>
                      <a:endParaRPr lang="ru-RU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255.255.255.0</a:t>
                      </a:r>
                      <a:endParaRPr lang="ru-RU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On-Link</a:t>
                      </a:r>
                      <a:endParaRPr lang="ru-RU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112736"/>
                  </a:ext>
                </a:extLst>
              </a:tr>
              <a:tr h="473691">
                <a:tc>
                  <a:txBody>
                    <a:bodyPr/>
                    <a:lstStyle/>
                    <a:p>
                      <a:r>
                        <a:rPr lang="en-US" sz="1800" b="1" dirty="0"/>
                        <a:t>172.20.20.0</a:t>
                      </a:r>
                      <a:endParaRPr lang="ru-RU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255.255.240.0</a:t>
                      </a:r>
                      <a:endParaRPr lang="ru-RU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192.168.10.1</a:t>
                      </a:r>
                      <a:endParaRPr lang="ru-RU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439413"/>
                  </a:ext>
                </a:extLst>
              </a:tr>
              <a:tr h="473691">
                <a:tc>
                  <a:txBody>
                    <a:bodyPr/>
                    <a:lstStyle/>
                    <a:p>
                      <a:r>
                        <a:rPr lang="ru-RU" sz="1800" b="1" dirty="0"/>
                        <a:t>0</a:t>
                      </a:r>
                      <a:r>
                        <a:rPr lang="en-US" sz="1800" b="1" dirty="0"/>
                        <a:t>.0.0.0</a:t>
                      </a:r>
                      <a:endParaRPr lang="ru-RU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800" b="1" dirty="0"/>
                        <a:t>0</a:t>
                      </a:r>
                      <a:r>
                        <a:rPr lang="en-US" sz="1800" b="1" dirty="0"/>
                        <a:t>.0.0.0</a:t>
                      </a:r>
                      <a:endParaRPr lang="ru-RU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192.168.10.1</a:t>
                      </a:r>
                      <a:endParaRPr lang="ru-RU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960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7893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EDBAD-BEC5-4984-9260-8E5E4226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72520"/>
            <a:ext cx="11360800" cy="763600"/>
          </a:xfrm>
        </p:spPr>
        <p:txBody>
          <a:bodyPr>
            <a:normAutofit/>
          </a:bodyPr>
          <a:lstStyle/>
          <a:p>
            <a:r>
              <a:rPr lang="ru-RU" dirty="0"/>
              <a:t>Поиск по таблице маршрутизации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A89000-41E3-4BAE-9E14-C9E85237F2C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15600" y="919884"/>
          <a:ext cx="5680400" cy="1412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80">
                  <a:extLst>
                    <a:ext uri="{9D8B030D-6E8A-4147-A177-3AD203B41FA5}">
                      <a16:colId xmlns:a16="http://schemas.microsoft.com/office/drawing/2014/main" val="3472456190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984340672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4087065278"/>
                    </a:ext>
                  </a:extLst>
                </a:gridCol>
              </a:tblGrid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Адрес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Маска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Шлюз</a:t>
                      </a: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6922305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255.255.255.0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On-Link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1294112736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172.20.20.0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255.255.240.0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945439413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29605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B72AF8-8397-426A-9F8E-61872E3FBA61}"/>
              </a:ext>
            </a:extLst>
          </p:cNvPr>
          <p:cNvSpPr txBox="1"/>
          <p:nvPr/>
        </p:nvSpPr>
        <p:spPr>
          <a:xfrm>
            <a:off x="8628624" y="1107559"/>
            <a:ext cx="2000869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33" b="1" dirty="0"/>
              <a:t>192.168.10.101</a:t>
            </a:r>
            <a:endParaRPr lang="ru-RU" sz="2133" b="1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AD62E56-A1E2-4CC3-A06F-FACE00E7056B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6248401" y="1333261"/>
            <a:ext cx="2380223" cy="110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700178-BF3E-4ADA-AB07-D2304435CC50}"/>
              </a:ext>
            </a:extLst>
          </p:cNvPr>
          <p:cNvSpPr txBox="1"/>
          <p:nvPr/>
        </p:nvSpPr>
        <p:spPr>
          <a:xfrm>
            <a:off x="2724158" y="4380587"/>
            <a:ext cx="67436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2) </a:t>
            </a:r>
            <a:r>
              <a:rPr lang="ru-RU" sz="1600" b="1" dirty="0" smtClean="0"/>
              <a:t>Сравниваем </a:t>
            </a:r>
            <a:r>
              <a:rPr lang="ru-RU" sz="1600" b="1" dirty="0"/>
              <a:t>адрес сети назначения и адрес сети из таблицы:</a:t>
            </a:r>
            <a:endParaRPr lang="ru-RU" sz="1600" dirty="0"/>
          </a:p>
          <a:p>
            <a:r>
              <a:rPr lang="ru-RU" sz="1600" dirty="0"/>
              <a:t>11000000.10101000.00001010.00000000</a:t>
            </a:r>
            <a:r>
              <a:rPr lang="en-US" sz="1600" dirty="0"/>
              <a:t> –</a:t>
            </a:r>
            <a:r>
              <a:rPr lang="ru-RU" sz="1600" dirty="0"/>
              <a:t> адрес сети назначения</a:t>
            </a:r>
            <a:endParaRPr lang="en-US" sz="1600" dirty="0"/>
          </a:p>
          <a:p>
            <a:r>
              <a:rPr lang="ru-RU" sz="1600" dirty="0"/>
              <a:t>11000000.10101000.00001010.00000000 – адрес сети из таблицы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ru-RU" sz="1600" dirty="0"/>
              <a:t>11111111.11111111.11111111.11111111 – </a:t>
            </a:r>
            <a:r>
              <a:rPr lang="ru-RU" sz="1600" dirty="0">
                <a:solidFill>
                  <a:srgbClr val="00B050"/>
                </a:solidFill>
              </a:rPr>
              <a:t>полное совпадение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DEFE8D-D6F6-422C-B71F-746BA374ABEB}"/>
              </a:ext>
            </a:extLst>
          </p:cNvPr>
          <p:cNvSpPr txBox="1"/>
          <p:nvPr/>
        </p:nvSpPr>
        <p:spPr>
          <a:xfrm>
            <a:off x="496282" y="2985334"/>
            <a:ext cx="96749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1) Находим адрес сети назначения при помощи маски сети из таблицы:</a:t>
            </a:r>
            <a:endParaRPr lang="ru-RU" sz="1600" dirty="0"/>
          </a:p>
          <a:p>
            <a:r>
              <a:rPr lang="en-US" sz="1600" dirty="0"/>
              <a:t>11000000.10101000.00001010.01100101 –</a:t>
            </a:r>
            <a:r>
              <a:rPr lang="ru-RU" sz="1600" dirty="0"/>
              <a:t> адрес назначения</a:t>
            </a:r>
            <a:endParaRPr lang="en-US" sz="1600" dirty="0"/>
          </a:p>
          <a:p>
            <a:r>
              <a:rPr lang="en-US" sz="1600" dirty="0"/>
              <a:t>11111111.11111111.11111111.00000000</a:t>
            </a:r>
            <a:r>
              <a:rPr lang="ru-RU" sz="1600" dirty="0"/>
              <a:t> – маска сети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ru-RU" sz="1600" dirty="0"/>
              <a:t>11000000.10101000.00001010.00000000 – адрес сети назначения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81BD27-27B5-4550-AF60-C6DE5F08894B}"/>
              </a:ext>
            </a:extLst>
          </p:cNvPr>
          <p:cNvSpPr txBox="1"/>
          <p:nvPr/>
        </p:nvSpPr>
        <p:spPr>
          <a:xfrm>
            <a:off x="7895517" y="782893"/>
            <a:ext cx="416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Сравниваем с первой строкой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EAB67FEE-A490-4835-A4EA-AE12F1FE8FF4}"/>
              </a:ext>
            </a:extLst>
          </p:cNvPr>
          <p:cNvSpPr/>
          <p:nvPr/>
        </p:nvSpPr>
        <p:spPr>
          <a:xfrm>
            <a:off x="4930587" y="5753450"/>
            <a:ext cx="52802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3) Сеть подключена к нам напрямую (</a:t>
            </a:r>
            <a:r>
              <a:rPr lang="en-US" sz="1600" b="1" dirty="0"/>
              <a:t>On-Link</a:t>
            </a:r>
            <a:r>
              <a:rPr lang="ru-RU" sz="16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55908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EDBAD-BEC5-4984-9260-8E5E4226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72520"/>
            <a:ext cx="11360800" cy="763600"/>
          </a:xfrm>
        </p:spPr>
        <p:txBody>
          <a:bodyPr>
            <a:normAutofit/>
          </a:bodyPr>
          <a:lstStyle/>
          <a:p>
            <a:r>
              <a:rPr lang="ru-RU" dirty="0"/>
              <a:t>Поиск по таблице маршрутизации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A89000-41E3-4BAE-9E14-C9E85237F2C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15600" y="919884"/>
          <a:ext cx="5680400" cy="1412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80">
                  <a:extLst>
                    <a:ext uri="{9D8B030D-6E8A-4147-A177-3AD203B41FA5}">
                      <a16:colId xmlns:a16="http://schemas.microsoft.com/office/drawing/2014/main" val="3472456190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984340672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4087065278"/>
                    </a:ext>
                  </a:extLst>
                </a:gridCol>
              </a:tblGrid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Адрес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Маска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Шлюз</a:t>
                      </a: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6922305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255.255.255.0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On-Link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1294112736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172.20.20.0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255.255.240.0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945439413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29605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B72AF8-8397-426A-9F8E-61872E3FBA61}"/>
              </a:ext>
            </a:extLst>
          </p:cNvPr>
          <p:cNvSpPr txBox="1"/>
          <p:nvPr/>
        </p:nvSpPr>
        <p:spPr>
          <a:xfrm>
            <a:off x="8045918" y="1359203"/>
            <a:ext cx="1709122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33" b="1" dirty="0"/>
              <a:t>1</a:t>
            </a:r>
            <a:r>
              <a:rPr lang="ru-RU" sz="2133" b="1" dirty="0"/>
              <a:t>72</a:t>
            </a:r>
            <a:r>
              <a:rPr lang="en-US" sz="2133" b="1" dirty="0"/>
              <a:t>.</a:t>
            </a:r>
            <a:r>
              <a:rPr lang="ru-RU" sz="2133" b="1" dirty="0"/>
              <a:t>20</a:t>
            </a:r>
            <a:r>
              <a:rPr lang="en-US" sz="2133" b="1" dirty="0"/>
              <a:t>.</a:t>
            </a:r>
            <a:r>
              <a:rPr lang="ru-RU" sz="2133" b="1" dirty="0"/>
              <a:t>30</a:t>
            </a:r>
            <a:r>
              <a:rPr lang="en-US" sz="2133" b="1" dirty="0"/>
              <a:t>.</a:t>
            </a:r>
            <a:r>
              <a:rPr lang="ru-RU" sz="2133" b="1" dirty="0"/>
              <a:t>97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AD62E56-A1E2-4CC3-A06F-FACE00E7056B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6320117" y="1426577"/>
            <a:ext cx="1725800" cy="158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700178-BF3E-4ADA-AB07-D2304435CC50}"/>
              </a:ext>
            </a:extLst>
          </p:cNvPr>
          <p:cNvSpPr txBox="1"/>
          <p:nvPr/>
        </p:nvSpPr>
        <p:spPr>
          <a:xfrm>
            <a:off x="2872170" y="4188538"/>
            <a:ext cx="67436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2) Находим адрес сети назначения и адрес сети из таблицы:</a:t>
            </a:r>
            <a:endParaRPr lang="ru-RU" sz="1600" dirty="0"/>
          </a:p>
          <a:p>
            <a:r>
              <a:rPr lang="en-US" sz="1600" dirty="0"/>
              <a:t>1</a:t>
            </a:r>
            <a:r>
              <a:rPr lang="ru-RU" sz="1600" dirty="0"/>
              <a:t>01</a:t>
            </a:r>
            <a:r>
              <a:rPr lang="en-US" sz="1600" dirty="0"/>
              <a:t>0</a:t>
            </a:r>
            <a:r>
              <a:rPr lang="ru-RU" sz="1600" dirty="0"/>
              <a:t>110</a:t>
            </a:r>
            <a:r>
              <a:rPr lang="en-US" sz="1600" dirty="0"/>
              <a:t>0.</a:t>
            </a:r>
            <a:r>
              <a:rPr lang="ru-RU" sz="1600" dirty="0"/>
              <a:t>000101</a:t>
            </a:r>
            <a:r>
              <a:rPr lang="en-US" sz="1600" dirty="0"/>
              <a:t>00.</a:t>
            </a:r>
            <a:r>
              <a:rPr lang="ru-RU" sz="1600" dirty="0"/>
              <a:t>000101</a:t>
            </a:r>
            <a:r>
              <a:rPr lang="en-US" sz="1600" dirty="0"/>
              <a:t>00</a:t>
            </a:r>
            <a:r>
              <a:rPr lang="ru-RU" sz="1600" dirty="0"/>
              <a:t>.00000000</a:t>
            </a:r>
            <a:r>
              <a:rPr lang="en-US" sz="1600" dirty="0"/>
              <a:t> –</a:t>
            </a:r>
            <a:r>
              <a:rPr lang="ru-RU" sz="1600" dirty="0"/>
              <a:t> адрес сети назначения</a:t>
            </a:r>
            <a:endParaRPr lang="en-US" sz="1600" dirty="0"/>
          </a:p>
          <a:p>
            <a:r>
              <a:rPr lang="ru-RU" sz="1600" dirty="0"/>
              <a:t>11000000.10101000.00001010.00000000 – адрес сети из таблицы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ru-RU" sz="1600" dirty="0"/>
              <a:t>10010011.01000011.11100001.11111111 – </a:t>
            </a:r>
            <a:r>
              <a:rPr lang="ru-RU" sz="1600" dirty="0">
                <a:solidFill>
                  <a:srgbClr val="C00000"/>
                </a:solidFill>
              </a:rPr>
              <a:t>нет совпадения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DEFE8D-D6F6-422C-B71F-746BA374ABEB}"/>
              </a:ext>
            </a:extLst>
          </p:cNvPr>
          <p:cNvSpPr txBox="1"/>
          <p:nvPr/>
        </p:nvSpPr>
        <p:spPr>
          <a:xfrm>
            <a:off x="352847" y="2606478"/>
            <a:ext cx="96749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1) Находим адрес сети назначения при помощи маски сети из таблицы:</a:t>
            </a:r>
            <a:endParaRPr lang="ru-RU" sz="1600" dirty="0"/>
          </a:p>
          <a:p>
            <a:r>
              <a:rPr lang="en-US" sz="1600" dirty="0"/>
              <a:t>1</a:t>
            </a:r>
            <a:r>
              <a:rPr lang="ru-RU" sz="1600" dirty="0"/>
              <a:t>01</a:t>
            </a:r>
            <a:r>
              <a:rPr lang="en-US" sz="1600" dirty="0"/>
              <a:t>0</a:t>
            </a:r>
            <a:r>
              <a:rPr lang="ru-RU" sz="1600" dirty="0"/>
              <a:t>110</a:t>
            </a:r>
            <a:r>
              <a:rPr lang="en-US" sz="1600" dirty="0"/>
              <a:t>0.</a:t>
            </a:r>
            <a:r>
              <a:rPr lang="ru-RU" sz="1600" dirty="0"/>
              <a:t>000101</a:t>
            </a:r>
            <a:r>
              <a:rPr lang="en-US" sz="1600" dirty="0"/>
              <a:t>00.</a:t>
            </a:r>
            <a:r>
              <a:rPr lang="ru-RU" sz="1600" dirty="0"/>
              <a:t>000101</a:t>
            </a:r>
            <a:r>
              <a:rPr lang="en-US" sz="1600" dirty="0"/>
              <a:t>00.01100101 –</a:t>
            </a:r>
            <a:r>
              <a:rPr lang="ru-RU" sz="1600" dirty="0"/>
              <a:t> адрес назначения</a:t>
            </a:r>
            <a:endParaRPr lang="en-US" sz="1600" dirty="0"/>
          </a:p>
          <a:p>
            <a:r>
              <a:rPr lang="en-US" sz="1600" dirty="0"/>
              <a:t>11111111.11111111.1111</a:t>
            </a:r>
            <a:r>
              <a:rPr lang="ru-RU" sz="1600" dirty="0"/>
              <a:t>1111</a:t>
            </a:r>
            <a:r>
              <a:rPr lang="en-US" sz="1600" dirty="0"/>
              <a:t>.00000000</a:t>
            </a:r>
            <a:r>
              <a:rPr lang="ru-RU" sz="1600" dirty="0"/>
              <a:t> – маска сети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en-US" sz="1600" dirty="0"/>
              <a:t>1</a:t>
            </a:r>
            <a:r>
              <a:rPr lang="ru-RU" sz="1600" dirty="0"/>
              <a:t>01</a:t>
            </a:r>
            <a:r>
              <a:rPr lang="en-US" sz="1600" dirty="0"/>
              <a:t>0</a:t>
            </a:r>
            <a:r>
              <a:rPr lang="ru-RU" sz="1600" dirty="0"/>
              <a:t>110</a:t>
            </a:r>
            <a:r>
              <a:rPr lang="en-US" sz="1600" dirty="0"/>
              <a:t>0.</a:t>
            </a:r>
            <a:r>
              <a:rPr lang="ru-RU" sz="1600" dirty="0"/>
              <a:t>000101</a:t>
            </a:r>
            <a:r>
              <a:rPr lang="en-US" sz="1600" dirty="0"/>
              <a:t>00.</a:t>
            </a:r>
            <a:r>
              <a:rPr lang="ru-RU" sz="1600" dirty="0"/>
              <a:t>000101</a:t>
            </a:r>
            <a:r>
              <a:rPr lang="en-US" sz="1600" dirty="0"/>
              <a:t>00</a:t>
            </a:r>
            <a:r>
              <a:rPr lang="ru-RU" sz="1600" dirty="0"/>
              <a:t>.00000000 – адрес сети назначения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35B5BD-1A0F-466D-91A1-0B726B801297}"/>
              </a:ext>
            </a:extLst>
          </p:cNvPr>
          <p:cNvSpPr txBox="1"/>
          <p:nvPr/>
        </p:nvSpPr>
        <p:spPr>
          <a:xfrm>
            <a:off x="7183018" y="1016209"/>
            <a:ext cx="416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Сравниваем с первой строкой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641C9CF-B4B4-48C9-B18C-80BD544A113E}"/>
              </a:ext>
            </a:extLst>
          </p:cNvPr>
          <p:cNvSpPr/>
          <p:nvPr/>
        </p:nvSpPr>
        <p:spPr>
          <a:xfrm>
            <a:off x="4930587" y="5753450"/>
            <a:ext cx="52802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3) Продолжаем поиск со следующей строки</a:t>
            </a:r>
          </a:p>
        </p:txBody>
      </p:sp>
    </p:spTree>
    <p:extLst>
      <p:ext uri="{BB962C8B-B14F-4D97-AF65-F5344CB8AC3E}">
        <p14:creationId xmlns:p14="http://schemas.microsoft.com/office/powerpoint/2010/main" val="3257714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EDBAD-BEC5-4984-9260-8E5E4226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72520"/>
            <a:ext cx="11360800" cy="763600"/>
          </a:xfrm>
        </p:spPr>
        <p:txBody>
          <a:bodyPr>
            <a:normAutofit/>
          </a:bodyPr>
          <a:lstStyle/>
          <a:p>
            <a:r>
              <a:rPr lang="ru-RU" dirty="0"/>
              <a:t>Поиск по таблице маршрутизации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A89000-41E3-4BAE-9E14-C9E85237F2C4}"/>
              </a:ext>
            </a:extLst>
          </p:cNvPr>
          <p:cNvGraphicFramePr>
            <a:graphicFrameLocks noGrp="1"/>
          </p:cNvGraphicFramePr>
          <p:nvPr/>
        </p:nvGraphicFramePr>
        <p:xfrm>
          <a:off x="415600" y="919884"/>
          <a:ext cx="5680400" cy="1412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80">
                  <a:extLst>
                    <a:ext uri="{9D8B030D-6E8A-4147-A177-3AD203B41FA5}">
                      <a16:colId xmlns:a16="http://schemas.microsoft.com/office/drawing/2014/main" val="3472456190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984340672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4087065278"/>
                    </a:ext>
                  </a:extLst>
                </a:gridCol>
              </a:tblGrid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Адрес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Маска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Шлюз</a:t>
                      </a: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6922305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255.255.255.0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On-Link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1294112736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172.20.20.0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255.255.240.0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945439413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29605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B72AF8-8397-426A-9F8E-61872E3FBA61}"/>
              </a:ext>
            </a:extLst>
          </p:cNvPr>
          <p:cNvSpPr txBox="1"/>
          <p:nvPr/>
        </p:nvSpPr>
        <p:spPr>
          <a:xfrm>
            <a:off x="8045918" y="1359203"/>
            <a:ext cx="1709122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33" b="1" dirty="0"/>
              <a:t>1</a:t>
            </a:r>
            <a:r>
              <a:rPr lang="ru-RU" sz="2133" b="1" dirty="0"/>
              <a:t>72</a:t>
            </a:r>
            <a:r>
              <a:rPr lang="en-US" sz="2133" b="1" dirty="0"/>
              <a:t>.</a:t>
            </a:r>
            <a:r>
              <a:rPr lang="ru-RU" sz="2133" b="1" dirty="0"/>
              <a:t>20</a:t>
            </a:r>
            <a:r>
              <a:rPr lang="en-US" sz="2133" b="1" dirty="0"/>
              <a:t>.</a:t>
            </a:r>
            <a:r>
              <a:rPr lang="ru-RU" sz="2133" b="1" dirty="0"/>
              <a:t>30</a:t>
            </a:r>
            <a:r>
              <a:rPr lang="en-US" sz="2133" b="1" dirty="0"/>
              <a:t>.</a:t>
            </a:r>
            <a:r>
              <a:rPr lang="ru-RU" sz="2133" b="1" dirty="0"/>
              <a:t>97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AD62E56-A1E2-4CC3-A06F-FACE00E7056B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6212541" y="1584906"/>
            <a:ext cx="1833376" cy="225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700178-BF3E-4ADA-AB07-D2304435CC50}"/>
              </a:ext>
            </a:extLst>
          </p:cNvPr>
          <p:cNvSpPr txBox="1"/>
          <p:nvPr/>
        </p:nvSpPr>
        <p:spPr>
          <a:xfrm>
            <a:off x="2724158" y="4307617"/>
            <a:ext cx="67436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2) Находим адрес сети назначения и адрес сети из таблицы:</a:t>
            </a:r>
            <a:endParaRPr lang="ru-RU" sz="1600" dirty="0"/>
          </a:p>
          <a:p>
            <a:r>
              <a:rPr lang="en-US" sz="1600" dirty="0"/>
              <a:t>1</a:t>
            </a:r>
            <a:r>
              <a:rPr lang="ru-RU" sz="1600" dirty="0"/>
              <a:t>01</a:t>
            </a:r>
            <a:r>
              <a:rPr lang="en-US" sz="1600" dirty="0"/>
              <a:t>0</a:t>
            </a:r>
            <a:r>
              <a:rPr lang="ru-RU" sz="1600" dirty="0"/>
              <a:t>110</a:t>
            </a:r>
            <a:r>
              <a:rPr lang="en-US" sz="1600" dirty="0"/>
              <a:t>0.</a:t>
            </a:r>
            <a:r>
              <a:rPr lang="ru-RU" sz="1600" dirty="0"/>
              <a:t>000101</a:t>
            </a:r>
            <a:r>
              <a:rPr lang="en-US" sz="1600" dirty="0"/>
              <a:t>00.</a:t>
            </a:r>
            <a:r>
              <a:rPr lang="ru-RU" sz="1600" dirty="0"/>
              <a:t>00010000.00000000</a:t>
            </a:r>
            <a:r>
              <a:rPr lang="en-US" sz="1600" dirty="0"/>
              <a:t> –</a:t>
            </a:r>
            <a:r>
              <a:rPr lang="ru-RU" sz="1600" dirty="0"/>
              <a:t> адрес сети назначения</a:t>
            </a:r>
            <a:endParaRPr lang="en-US" sz="1600" dirty="0"/>
          </a:p>
          <a:p>
            <a:r>
              <a:rPr lang="en-US" sz="1600" dirty="0"/>
              <a:t>1</a:t>
            </a:r>
            <a:r>
              <a:rPr lang="ru-RU" sz="1600" dirty="0"/>
              <a:t>01</a:t>
            </a:r>
            <a:r>
              <a:rPr lang="en-US" sz="1600" dirty="0"/>
              <a:t>0</a:t>
            </a:r>
            <a:r>
              <a:rPr lang="ru-RU" sz="1600" dirty="0"/>
              <a:t>110</a:t>
            </a:r>
            <a:r>
              <a:rPr lang="en-US" sz="1600" dirty="0"/>
              <a:t>0.</a:t>
            </a:r>
            <a:r>
              <a:rPr lang="ru-RU" sz="1600" dirty="0"/>
              <a:t>000101</a:t>
            </a:r>
            <a:r>
              <a:rPr lang="en-US" sz="1600" dirty="0"/>
              <a:t>00.</a:t>
            </a:r>
            <a:r>
              <a:rPr lang="ru-RU" sz="1600" dirty="0"/>
              <a:t>00010000.00000000 – адрес сети из таблицы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ru-RU" sz="1600" dirty="0"/>
              <a:t>11111111.11111111.11111111.11111111 – </a:t>
            </a:r>
            <a:r>
              <a:rPr lang="ru-RU" sz="1600" dirty="0">
                <a:solidFill>
                  <a:srgbClr val="00B050"/>
                </a:solidFill>
              </a:rPr>
              <a:t>есть полное совпадение!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DEFE8D-D6F6-422C-B71F-746BA374ABEB}"/>
              </a:ext>
            </a:extLst>
          </p:cNvPr>
          <p:cNvSpPr txBox="1"/>
          <p:nvPr/>
        </p:nvSpPr>
        <p:spPr>
          <a:xfrm>
            <a:off x="621787" y="2914568"/>
            <a:ext cx="96749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1) Находим адрес сети назначения при помощи маски сети из таблицы:</a:t>
            </a:r>
            <a:endParaRPr lang="ru-RU" sz="1600" dirty="0"/>
          </a:p>
          <a:p>
            <a:r>
              <a:rPr lang="en-US" sz="1600" dirty="0"/>
              <a:t>1</a:t>
            </a:r>
            <a:r>
              <a:rPr lang="ru-RU" sz="1600" dirty="0"/>
              <a:t>01</a:t>
            </a:r>
            <a:r>
              <a:rPr lang="en-US" sz="1600" dirty="0"/>
              <a:t>0</a:t>
            </a:r>
            <a:r>
              <a:rPr lang="ru-RU" sz="1600" dirty="0"/>
              <a:t>110</a:t>
            </a:r>
            <a:r>
              <a:rPr lang="en-US" sz="1600" dirty="0"/>
              <a:t>0.</a:t>
            </a:r>
            <a:r>
              <a:rPr lang="ru-RU" sz="1600" dirty="0"/>
              <a:t>000101</a:t>
            </a:r>
            <a:r>
              <a:rPr lang="en-US" sz="1600" dirty="0"/>
              <a:t>00.</a:t>
            </a:r>
            <a:r>
              <a:rPr lang="ru-RU" sz="1600" dirty="0"/>
              <a:t>000101</a:t>
            </a:r>
            <a:r>
              <a:rPr lang="en-US" sz="1600" dirty="0"/>
              <a:t>00.01100101 –</a:t>
            </a:r>
            <a:r>
              <a:rPr lang="ru-RU" sz="1600" dirty="0"/>
              <a:t> адрес назначения</a:t>
            </a:r>
            <a:endParaRPr lang="en-US" sz="1600" dirty="0"/>
          </a:p>
          <a:p>
            <a:r>
              <a:rPr lang="en-US" sz="1600" dirty="0"/>
              <a:t>11111111.11111111.1111</a:t>
            </a:r>
            <a:r>
              <a:rPr lang="ru-RU" sz="1600" dirty="0"/>
              <a:t>0000</a:t>
            </a:r>
            <a:r>
              <a:rPr lang="en-US" sz="1600" dirty="0"/>
              <a:t>.00000000</a:t>
            </a:r>
            <a:r>
              <a:rPr lang="ru-RU" sz="1600" dirty="0"/>
              <a:t> – маска сети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en-US" sz="1600" dirty="0"/>
              <a:t>1</a:t>
            </a:r>
            <a:r>
              <a:rPr lang="ru-RU" sz="1600" dirty="0"/>
              <a:t>01</a:t>
            </a:r>
            <a:r>
              <a:rPr lang="en-US" sz="1600" dirty="0"/>
              <a:t>0</a:t>
            </a:r>
            <a:r>
              <a:rPr lang="ru-RU" sz="1600" dirty="0"/>
              <a:t>110</a:t>
            </a:r>
            <a:r>
              <a:rPr lang="en-US" sz="1600" dirty="0"/>
              <a:t>0.</a:t>
            </a:r>
            <a:r>
              <a:rPr lang="ru-RU" sz="1600" dirty="0"/>
              <a:t>000101</a:t>
            </a:r>
            <a:r>
              <a:rPr lang="en-US" sz="1600" dirty="0"/>
              <a:t>00.</a:t>
            </a:r>
            <a:r>
              <a:rPr lang="ru-RU" sz="1600" dirty="0"/>
              <a:t>00010000.00000000 – адрес сети назначения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35B5BD-1A0F-466D-91A1-0B726B801297}"/>
              </a:ext>
            </a:extLst>
          </p:cNvPr>
          <p:cNvSpPr txBox="1"/>
          <p:nvPr/>
        </p:nvSpPr>
        <p:spPr>
          <a:xfrm>
            <a:off x="7183018" y="1016209"/>
            <a:ext cx="4437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Сравниваем</a:t>
            </a:r>
            <a:r>
              <a:rPr lang="en-US" sz="2400" dirty="0"/>
              <a:t> </a:t>
            </a:r>
            <a:r>
              <a:rPr lang="ru-RU" sz="2400" dirty="0"/>
              <a:t>со второй строчкой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3207613-7E4D-487F-8B8C-CB87142EFDC5}"/>
              </a:ext>
            </a:extLst>
          </p:cNvPr>
          <p:cNvSpPr/>
          <p:nvPr/>
        </p:nvSpPr>
        <p:spPr>
          <a:xfrm>
            <a:off x="4930587" y="5753450"/>
            <a:ext cx="52802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3) Адрес следующего перехода – 192</a:t>
            </a:r>
            <a:r>
              <a:rPr lang="en-US" sz="1600" b="1" dirty="0"/>
              <a:t>.168.10.1</a:t>
            </a:r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1369934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EDBAD-BEC5-4984-9260-8E5E4226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72520"/>
            <a:ext cx="11360800" cy="763600"/>
          </a:xfrm>
        </p:spPr>
        <p:txBody>
          <a:bodyPr>
            <a:normAutofit/>
          </a:bodyPr>
          <a:lstStyle/>
          <a:p>
            <a:r>
              <a:rPr lang="ru-RU" dirty="0"/>
              <a:t>Поиск по таблице маршрутизации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A89000-41E3-4BAE-9E14-C9E85237F2C4}"/>
              </a:ext>
            </a:extLst>
          </p:cNvPr>
          <p:cNvGraphicFramePr>
            <a:graphicFrameLocks noGrp="1"/>
          </p:cNvGraphicFramePr>
          <p:nvPr/>
        </p:nvGraphicFramePr>
        <p:xfrm>
          <a:off x="415600" y="919884"/>
          <a:ext cx="5680400" cy="1412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80">
                  <a:extLst>
                    <a:ext uri="{9D8B030D-6E8A-4147-A177-3AD203B41FA5}">
                      <a16:colId xmlns:a16="http://schemas.microsoft.com/office/drawing/2014/main" val="3472456190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984340672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4087065278"/>
                    </a:ext>
                  </a:extLst>
                </a:gridCol>
              </a:tblGrid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Адрес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Маска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Шлюз</a:t>
                      </a: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6922305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255.255.255.0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On-Link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1294112736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172.20.20.0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255.255.240.0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945439413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29605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B72AF8-8397-426A-9F8E-61872E3FBA61}"/>
              </a:ext>
            </a:extLst>
          </p:cNvPr>
          <p:cNvSpPr txBox="1"/>
          <p:nvPr/>
        </p:nvSpPr>
        <p:spPr>
          <a:xfrm>
            <a:off x="8531798" y="1426577"/>
            <a:ext cx="979755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33" b="1" dirty="0"/>
              <a:t>8.8.8.8</a:t>
            </a:r>
            <a:endParaRPr lang="ru-RU" sz="2133" b="1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AD62E56-A1E2-4CC3-A06F-FACE00E7056B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6311154" y="1426578"/>
            <a:ext cx="2220644" cy="225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700178-BF3E-4ADA-AB07-D2304435CC50}"/>
              </a:ext>
            </a:extLst>
          </p:cNvPr>
          <p:cNvSpPr txBox="1"/>
          <p:nvPr/>
        </p:nvSpPr>
        <p:spPr>
          <a:xfrm>
            <a:off x="2872170" y="4188538"/>
            <a:ext cx="67436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2) Находим адрес сети назначения и адрес сети из таблицы:</a:t>
            </a:r>
            <a:endParaRPr lang="ru-RU" sz="1600" dirty="0"/>
          </a:p>
          <a:p>
            <a:r>
              <a:rPr lang="en-US" sz="1600" dirty="0"/>
              <a:t>00001000.00001000.00001000.00000000 –</a:t>
            </a:r>
            <a:r>
              <a:rPr lang="ru-RU" sz="1600" dirty="0"/>
              <a:t> адрес сети назначения</a:t>
            </a:r>
            <a:endParaRPr lang="en-US" sz="1600" dirty="0"/>
          </a:p>
          <a:p>
            <a:r>
              <a:rPr lang="ru-RU" sz="1600" dirty="0"/>
              <a:t>11000000.10101000.00001010.00000000 – адрес сети из таблицы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en-US" sz="1600" dirty="0"/>
              <a:t>00110111.01011111</a:t>
            </a:r>
            <a:r>
              <a:rPr lang="ru-RU" sz="1600" dirty="0"/>
              <a:t>.</a:t>
            </a:r>
            <a:r>
              <a:rPr lang="en-US" sz="1600" dirty="0"/>
              <a:t>11111101</a:t>
            </a:r>
            <a:r>
              <a:rPr lang="ru-RU" sz="1600" dirty="0"/>
              <a:t>.11111111 – </a:t>
            </a:r>
            <a:r>
              <a:rPr lang="ru-RU" sz="1600" dirty="0">
                <a:solidFill>
                  <a:srgbClr val="C00000"/>
                </a:solidFill>
              </a:rPr>
              <a:t>нет совпадения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DEFE8D-D6F6-422C-B71F-746BA374ABEB}"/>
              </a:ext>
            </a:extLst>
          </p:cNvPr>
          <p:cNvSpPr txBox="1"/>
          <p:nvPr/>
        </p:nvSpPr>
        <p:spPr>
          <a:xfrm>
            <a:off x="352847" y="2606478"/>
            <a:ext cx="96749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1) Находим адрес сети назначения при помощи маски сети из таблицы:</a:t>
            </a:r>
            <a:endParaRPr lang="ru-RU" sz="1600" dirty="0"/>
          </a:p>
          <a:p>
            <a:r>
              <a:rPr lang="en-US" sz="1600" dirty="0"/>
              <a:t>00001000.00001000.00001000.00001000 –</a:t>
            </a:r>
            <a:r>
              <a:rPr lang="ru-RU" sz="1600" dirty="0"/>
              <a:t> адрес назначения</a:t>
            </a:r>
            <a:endParaRPr lang="en-US" sz="1600" dirty="0"/>
          </a:p>
          <a:p>
            <a:r>
              <a:rPr lang="en-US" sz="1600" dirty="0"/>
              <a:t>11111111.11111111.1111</a:t>
            </a:r>
            <a:r>
              <a:rPr lang="ru-RU" sz="1600" dirty="0"/>
              <a:t>1111</a:t>
            </a:r>
            <a:r>
              <a:rPr lang="en-US" sz="1600" dirty="0"/>
              <a:t>.00000000</a:t>
            </a:r>
            <a:r>
              <a:rPr lang="ru-RU" sz="1600" dirty="0"/>
              <a:t> – маска сети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en-US" sz="1600" dirty="0"/>
              <a:t>00001000.00001000.00001000</a:t>
            </a:r>
            <a:r>
              <a:rPr lang="ru-RU" sz="1600" dirty="0"/>
              <a:t>.00000000 – адрес сети назначения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35B5BD-1A0F-466D-91A1-0B726B801297}"/>
              </a:ext>
            </a:extLst>
          </p:cNvPr>
          <p:cNvSpPr txBox="1"/>
          <p:nvPr/>
        </p:nvSpPr>
        <p:spPr>
          <a:xfrm>
            <a:off x="7183018" y="1016209"/>
            <a:ext cx="416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Сравниваем с первой строкой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641C9CF-B4B4-48C9-B18C-80BD544A113E}"/>
              </a:ext>
            </a:extLst>
          </p:cNvPr>
          <p:cNvSpPr/>
          <p:nvPr/>
        </p:nvSpPr>
        <p:spPr>
          <a:xfrm>
            <a:off x="4930587" y="5753450"/>
            <a:ext cx="52802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3) Продолжаем поиск со следующей строки</a:t>
            </a:r>
          </a:p>
        </p:txBody>
      </p:sp>
    </p:spTree>
    <p:extLst>
      <p:ext uri="{BB962C8B-B14F-4D97-AF65-F5344CB8AC3E}">
        <p14:creationId xmlns:p14="http://schemas.microsoft.com/office/powerpoint/2010/main" val="969910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EDBAD-BEC5-4984-9260-8E5E4226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72520"/>
            <a:ext cx="11360800" cy="763600"/>
          </a:xfrm>
        </p:spPr>
        <p:txBody>
          <a:bodyPr>
            <a:normAutofit/>
          </a:bodyPr>
          <a:lstStyle/>
          <a:p>
            <a:r>
              <a:rPr lang="ru-RU" dirty="0"/>
              <a:t>Поиск по таблице маршрутизации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A89000-41E3-4BAE-9E14-C9E85237F2C4}"/>
              </a:ext>
            </a:extLst>
          </p:cNvPr>
          <p:cNvGraphicFramePr>
            <a:graphicFrameLocks noGrp="1"/>
          </p:cNvGraphicFramePr>
          <p:nvPr/>
        </p:nvGraphicFramePr>
        <p:xfrm>
          <a:off x="415600" y="919884"/>
          <a:ext cx="5680400" cy="1412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80">
                  <a:extLst>
                    <a:ext uri="{9D8B030D-6E8A-4147-A177-3AD203B41FA5}">
                      <a16:colId xmlns:a16="http://schemas.microsoft.com/office/drawing/2014/main" val="3472456190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984340672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4087065278"/>
                    </a:ext>
                  </a:extLst>
                </a:gridCol>
              </a:tblGrid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Адрес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Маска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Шлюз</a:t>
                      </a: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6922305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255.255.255.0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On-Link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1294112736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172.20.20.0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255.255.240.0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945439413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29605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B72AF8-8397-426A-9F8E-61872E3FBA61}"/>
              </a:ext>
            </a:extLst>
          </p:cNvPr>
          <p:cNvSpPr txBox="1"/>
          <p:nvPr/>
        </p:nvSpPr>
        <p:spPr>
          <a:xfrm>
            <a:off x="8531798" y="1426577"/>
            <a:ext cx="979755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33" b="1" dirty="0"/>
              <a:t>8.8.8.8</a:t>
            </a:r>
            <a:endParaRPr lang="ru-RU" sz="2133" b="1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AD62E56-A1E2-4CC3-A06F-FACE00E7056B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6248400" y="1652280"/>
            <a:ext cx="2283397" cy="131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700178-BF3E-4ADA-AB07-D2304435CC50}"/>
              </a:ext>
            </a:extLst>
          </p:cNvPr>
          <p:cNvSpPr txBox="1"/>
          <p:nvPr/>
        </p:nvSpPr>
        <p:spPr>
          <a:xfrm>
            <a:off x="2872170" y="4188538"/>
            <a:ext cx="67436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2) Находим адрес сети назначения и адрес сети из таблицы:</a:t>
            </a:r>
            <a:endParaRPr lang="ru-RU" sz="1600" dirty="0"/>
          </a:p>
          <a:p>
            <a:r>
              <a:rPr lang="en-US" sz="1600" dirty="0"/>
              <a:t>00001000.00001000.00000000.00000000 –</a:t>
            </a:r>
            <a:r>
              <a:rPr lang="ru-RU" sz="1600" dirty="0"/>
              <a:t> адрес сети назначения</a:t>
            </a:r>
            <a:endParaRPr lang="en-US" sz="1600" dirty="0"/>
          </a:p>
          <a:p>
            <a:r>
              <a:rPr lang="en-US" sz="1600" dirty="0"/>
              <a:t>1</a:t>
            </a:r>
            <a:r>
              <a:rPr lang="ru-RU" sz="1600" dirty="0"/>
              <a:t>01</a:t>
            </a:r>
            <a:r>
              <a:rPr lang="en-US" sz="1600" dirty="0"/>
              <a:t>0</a:t>
            </a:r>
            <a:r>
              <a:rPr lang="ru-RU" sz="1600" dirty="0"/>
              <a:t>110</a:t>
            </a:r>
            <a:r>
              <a:rPr lang="en-US" sz="1600" dirty="0"/>
              <a:t>0.</a:t>
            </a:r>
            <a:r>
              <a:rPr lang="ru-RU" sz="1600" dirty="0"/>
              <a:t>000101</a:t>
            </a:r>
            <a:r>
              <a:rPr lang="en-US" sz="1600" dirty="0"/>
              <a:t>00.</a:t>
            </a:r>
            <a:r>
              <a:rPr lang="ru-RU" sz="1600" dirty="0"/>
              <a:t>00010000.00000000 – адрес сети из таблицы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en-US" sz="1600" dirty="0"/>
              <a:t>01011011.11100011</a:t>
            </a:r>
            <a:r>
              <a:rPr lang="ru-RU" sz="1600" dirty="0"/>
              <a:t>.</a:t>
            </a:r>
            <a:r>
              <a:rPr lang="en-US" sz="1600" dirty="0"/>
              <a:t>11101111</a:t>
            </a:r>
            <a:r>
              <a:rPr lang="ru-RU" sz="1600" dirty="0"/>
              <a:t>.11111111 – </a:t>
            </a:r>
            <a:r>
              <a:rPr lang="ru-RU" sz="1600" dirty="0">
                <a:solidFill>
                  <a:srgbClr val="C00000"/>
                </a:solidFill>
              </a:rPr>
              <a:t>нет совпадения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DEFE8D-D6F6-422C-B71F-746BA374ABEB}"/>
              </a:ext>
            </a:extLst>
          </p:cNvPr>
          <p:cNvSpPr txBox="1"/>
          <p:nvPr/>
        </p:nvSpPr>
        <p:spPr>
          <a:xfrm>
            <a:off x="352847" y="2606478"/>
            <a:ext cx="96749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1) Находим адрес сети назначения при помощи маски сети из таблицы:</a:t>
            </a:r>
            <a:endParaRPr lang="ru-RU" sz="1600" dirty="0"/>
          </a:p>
          <a:p>
            <a:r>
              <a:rPr lang="en-US" sz="1600" dirty="0"/>
              <a:t>00001000.00001000.00001000.00001000 –</a:t>
            </a:r>
            <a:r>
              <a:rPr lang="ru-RU" sz="1600" dirty="0"/>
              <a:t> адрес назначения</a:t>
            </a:r>
            <a:endParaRPr lang="en-US" sz="1600" dirty="0"/>
          </a:p>
          <a:p>
            <a:r>
              <a:rPr lang="en-US" sz="1600" dirty="0"/>
              <a:t>11111111.11111111.1111</a:t>
            </a:r>
            <a:r>
              <a:rPr lang="ru-RU" sz="1600" dirty="0"/>
              <a:t>0000</a:t>
            </a:r>
            <a:r>
              <a:rPr lang="en-US" sz="1600" dirty="0"/>
              <a:t>.00000000</a:t>
            </a:r>
            <a:r>
              <a:rPr lang="ru-RU" sz="1600" dirty="0"/>
              <a:t> – маска сети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en-US" sz="1600" dirty="0"/>
              <a:t>00001000.00001000.00000000</a:t>
            </a:r>
            <a:r>
              <a:rPr lang="ru-RU" sz="1600" dirty="0"/>
              <a:t>.00000000 – адрес сети назначения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641C9CF-B4B4-48C9-B18C-80BD544A113E}"/>
              </a:ext>
            </a:extLst>
          </p:cNvPr>
          <p:cNvSpPr/>
          <p:nvPr/>
        </p:nvSpPr>
        <p:spPr>
          <a:xfrm>
            <a:off x="4930587" y="5753450"/>
            <a:ext cx="52802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3) Продолжаем поиск со следующей строки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CD1095-2AD0-43CB-82B7-6804A8520F2A}"/>
              </a:ext>
            </a:extLst>
          </p:cNvPr>
          <p:cNvSpPr txBox="1"/>
          <p:nvPr/>
        </p:nvSpPr>
        <p:spPr>
          <a:xfrm>
            <a:off x="7183018" y="1016209"/>
            <a:ext cx="4437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Сравниваем</a:t>
            </a:r>
            <a:r>
              <a:rPr lang="en-US" sz="2400" dirty="0"/>
              <a:t> </a:t>
            </a:r>
            <a:r>
              <a:rPr lang="ru-RU" sz="2400" dirty="0"/>
              <a:t>со второй строчкой</a:t>
            </a:r>
          </a:p>
        </p:txBody>
      </p:sp>
    </p:spTree>
    <p:extLst>
      <p:ext uri="{BB962C8B-B14F-4D97-AF65-F5344CB8AC3E}">
        <p14:creationId xmlns:p14="http://schemas.microsoft.com/office/powerpoint/2010/main" val="10014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EDBAD-BEC5-4984-9260-8E5E4226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72520"/>
            <a:ext cx="11360800" cy="763600"/>
          </a:xfrm>
        </p:spPr>
        <p:txBody>
          <a:bodyPr>
            <a:normAutofit/>
          </a:bodyPr>
          <a:lstStyle/>
          <a:p>
            <a:r>
              <a:rPr lang="ru-RU" dirty="0"/>
              <a:t>Поиск по таблице маршрутизации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A89000-41E3-4BAE-9E14-C9E85237F2C4}"/>
              </a:ext>
            </a:extLst>
          </p:cNvPr>
          <p:cNvGraphicFramePr>
            <a:graphicFrameLocks noGrp="1"/>
          </p:cNvGraphicFramePr>
          <p:nvPr/>
        </p:nvGraphicFramePr>
        <p:xfrm>
          <a:off x="415600" y="919884"/>
          <a:ext cx="5680400" cy="1412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80">
                  <a:extLst>
                    <a:ext uri="{9D8B030D-6E8A-4147-A177-3AD203B41FA5}">
                      <a16:colId xmlns:a16="http://schemas.microsoft.com/office/drawing/2014/main" val="3472456190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984340672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4087065278"/>
                    </a:ext>
                  </a:extLst>
                </a:gridCol>
              </a:tblGrid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Адрес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Маска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Шлюз</a:t>
                      </a: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6922305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255.255.255.0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On-Link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1294112736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172.20.20.0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255.255.240.0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945439413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29605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B72AF8-8397-426A-9F8E-61872E3FBA61}"/>
              </a:ext>
            </a:extLst>
          </p:cNvPr>
          <p:cNvSpPr txBox="1"/>
          <p:nvPr/>
        </p:nvSpPr>
        <p:spPr>
          <a:xfrm>
            <a:off x="8531798" y="1426577"/>
            <a:ext cx="979755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33" b="1" dirty="0"/>
              <a:t>8.8.8.8</a:t>
            </a:r>
            <a:endParaRPr lang="ru-RU" sz="2133" b="1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AD62E56-A1E2-4CC3-A06F-FACE00E7056B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6248400" y="1652280"/>
            <a:ext cx="2283397" cy="131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700178-BF3E-4ADA-AB07-D2304435CC50}"/>
              </a:ext>
            </a:extLst>
          </p:cNvPr>
          <p:cNvSpPr txBox="1"/>
          <p:nvPr/>
        </p:nvSpPr>
        <p:spPr>
          <a:xfrm>
            <a:off x="2724158" y="4179963"/>
            <a:ext cx="67436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2) Находим адрес сети назначения и адрес сети из таблицы:</a:t>
            </a:r>
            <a:endParaRPr lang="ru-RU" sz="1600" dirty="0"/>
          </a:p>
          <a:p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.00000000 –</a:t>
            </a:r>
            <a:r>
              <a:rPr lang="ru-RU" sz="1600" dirty="0"/>
              <a:t> адрес сети назначения</a:t>
            </a:r>
            <a:endParaRPr lang="en-US" sz="1600" dirty="0"/>
          </a:p>
          <a:p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.00000000</a:t>
            </a:r>
            <a:r>
              <a:rPr lang="ru-RU" sz="1600" dirty="0"/>
              <a:t> – адрес сети из таблицы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ru-RU" sz="1600" dirty="0"/>
              <a:t>11111111</a:t>
            </a:r>
            <a:r>
              <a:rPr lang="en-US" sz="1600" dirty="0"/>
              <a:t>.</a:t>
            </a:r>
            <a:r>
              <a:rPr lang="ru-RU" sz="1600" dirty="0"/>
              <a:t>11111111.</a:t>
            </a:r>
            <a:r>
              <a:rPr lang="en-US" sz="1600" dirty="0"/>
              <a:t>111</a:t>
            </a:r>
            <a:r>
              <a:rPr lang="ru-RU" sz="1600" dirty="0"/>
              <a:t>1</a:t>
            </a:r>
            <a:r>
              <a:rPr lang="en-US" sz="1600" dirty="0"/>
              <a:t>1111</a:t>
            </a:r>
            <a:r>
              <a:rPr lang="ru-RU" sz="1600" dirty="0"/>
              <a:t>.11111111 – </a:t>
            </a:r>
            <a:r>
              <a:rPr lang="ru-RU" sz="1600" dirty="0">
                <a:solidFill>
                  <a:srgbClr val="00B050"/>
                </a:solidFill>
              </a:rPr>
              <a:t>есть полное совпадение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DEFE8D-D6F6-422C-B71F-746BA374ABEB}"/>
              </a:ext>
            </a:extLst>
          </p:cNvPr>
          <p:cNvSpPr txBox="1"/>
          <p:nvPr/>
        </p:nvSpPr>
        <p:spPr>
          <a:xfrm>
            <a:off x="352847" y="2606478"/>
            <a:ext cx="96749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1) Находим адрес сети назначения при помощи маски сети из таблицы:</a:t>
            </a:r>
            <a:endParaRPr lang="ru-RU" sz="1600" dirty="0"/>
          </a:p>
          <a:p>
            <a:r>
              <a:rPr lang="en-US" sz="1600" dirty="0"/>
              <a:t>00001000.00001000.00001000.00001000 –</a:t>
            </a:r>
            <a:r>
              <a:rPr lang="ru-RU" sz="1600" dirty="0"/>
              <a:t> адрес назначения</a:t>
            </a:r>
            <a:endParaRPr lang="en-US" sz="1600" dirty="0"/>
          </a:p>
          <a:p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.00000000</a:t>
            </a:r>
            <a:r>
              <a:rPr lang="ru-RU" sz="1600" dirty="0"/>
              <a:t> – маска сети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.00000000</a:t>
            </a:r>
            <a:r>
              <a:rPr lang="ru-RU" sz="1600" dirty="0"/>
              <a:t> – адрес сети назначения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CD1095-2AD0-43CB-82B7-6804A8520F2A}"/>
              </a:ext>
            </a:extLst>
          </p:cNvPr>
          <p:cNvSpPr txBox="1"/>
          <p:nvPr/>
        </p:nvSpPr>
        <p:spPr>
          <a:xfrm>
            <a:off x="7183018" y="1016209"/>
            <a:ext cx="43771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Сравниваем</a:t>
            </a:r>
            <a:r>
              <a:rPr lang="en-US" sz="2400" dirty="0"/>
              <a:t> </a:t>
            </a:r>
            <a:r>
              <a:rPr lang="ru-RU" sz="2400" dirty="0"/>
              <a:t>с третьей строчкой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1B17454-D8E7-48FB-842E-02D14724A80F}"/>
              </a:ext>
            </a:extLst>
          </p:cNvPr>
          <p:cNvSpPr/>
          <p:nvPr/>
        </p:nvSpPr>
        <p:spPr>
          <a:xfrm>
            <a:off x="4930587" y="5753450"/>
            <a:ext cx="528021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3) Адрес следующего перехода – 192</a:t>
            </a:r>
            <a:r>
              <a:rPr lang="en-US" sz="1600" b="1" dirty="0"/>
              <a:t>.168.10.1</a:t>
            </a:r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2042966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Рекурсивная маршрутизация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A89000-41E3-4BAE-9E14-C9E85237F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208118"/>
              </p:ext>
            </p:extLst>
          </p:nvPr>
        </p:nvGraphicFramePr>
        <p:xfrm>
          <a:off x="415600" y="1465007"/>
          <a:ext cx="5680400" cy="1765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80">
                  <a:extLst>
                    <a:ext uri="{9D8B030D-6E8A-4147-A177-3AD203B41FA5}">
                      <a16:colId xmlns:a16="http://schemas.microsoft.com/office/drawing/2014/main" val="3472456190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984340672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4087065278"/>
                    </a:ext>
                  </a:extLst>
                </a:gridCol>
              </a:tblGrid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Адрес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Маска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Шлюз</a:t>
                      </a: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6922305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 smtClean="0"/>
                        <a:t>10.10.10.1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 smtClean="0"/>
                        <a:t>255.255.255.255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dirty="0" smtClean="0"/>
                        <a:t>192.168.10.1</a:t>
                      </a:r>
                      <a:endParaRPr lang="ru-RU" sz="1700" b="1" dirty="0" smtClean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4204986752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192.168.10.0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255.255.255.0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On-Link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1294112736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en-US" sz="1700" b="1" dirty="0"/>
                        <a:t>172.20.20.0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255.255.240.0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 smtClean="0"/>
                        <a:t>10.10.10.1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945439413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296058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CD1095-2AD0-43CB-82B7-6804A8520F2A}"/>
              </a:ext>
            </a:extLst>
          </p:cNvPr>
          <p:cNvSpPr txBox="1"/>
          <p:nvPr/>
        </p:nvSpPr>
        <p:spPr>
          <a:xfrm>
            <a:off x="6796455" y="1375296"/>
            <a:ext cx="49799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AutoNum type="arabicParenR"/>
            </a:pPr>
            <a:r>
              <a:rPr lang="ru-RU" sz="2400" dirty="0" smtClean="0"/>
              <a:t>Поиск для </a:t>
            </a:r>
            <a:r>
              <a:rPr lang="ru-RU" sz="2400" b="1" dirty="0"/>
              <a:t>172</a:t>
            </a:r>
            <a:r>
              <a:rPr lang="en-US" sz="2400" b="1" dirty="0" smtClean="0"/>
              <a:t>.20.20.201</a:t>
            </a:r>
            <a:r>
              <a:rPr lang="ru-RU" sz="2400" b="1" dirty="0" smtClean="0"/>
              <a:t>. </a:t>
            </a:r>
            <a:r>
              <a:rPr lang="ru-RU" sz="2400" dirty="0" smtClean="0"/>
              <a:t>Находим подходящую строк, адрес следующего перехода – </a:t>
            </a:r>
            <a:r>
              <a:rPr lang="ru-RU" sz="2400" b="1" dirty="0" smtClean="0"/>
              <a:t>10.10.10.1</a:t>
            </a:r>
            <a:endParaRPr lang="ru-RU" sz="2400" b="1" dirty="0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6AD62E56-A1E2-4CC3-A06F-FACE00E7056B}"/>
              </a:ext>
            </a:extLst>
          </p:cNvPr>
          <p:cNvCxnSpPr>
            <a:cxnSpLocks/>
          </p:cNvCxnSpPr>
          <p:nvPr/>
        </p:nvCxnSpPr>
        <p:spPr>
          <a:xfrm flipH="1">
            <a:off x="5874727" y="1828948"/>
            <a:ext cx="921727" cy="88841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ACD1095-2AD0-43CB-82B7-6804A8520F2A}"/>
              </a:ext>
            </a:extLst>
          </p:cNvPr>
          <p:cNvSpPr txBox="1"/>
          <p:nvPr/>
        </p:nvSpPr>
        <p:spPr>
          <a:xfrm>
            <a:off x="6653580" y="4125457"/>
            <a:ext cx="52656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  <a:r>
              <a:rPr lang="ru-RU" sz="2400" dirty="0" smtClean="0"/>
              <a:t>) Снова поиск – теперь для </a:t>
            </a:r>
            <a:r>
              <a:rPr lang="ru-RU" sz="2400" b="1" dirty="0" smtClean="0"/>
              <a:t>10.10.10.1</a:t>
            </a:r>
            <a:r>
              <a:rPr lang="ru-RU" sz="2400" dirty="0" smtClean="0"/>
              <a:t>. Подходящий маршрут через </a:t>
            </a:r>
            <a:r>
              <a:rPr lang="ru-RU" sz="2400" b="1" dirty="0" smtClean="0"/>
              <a:t>192.168.10.1</a:t>
            </a:r>
            <a:endParaRPr lang="ru-RU" sz="2400" b="1" dirty="0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6AD62E56-A1E2-4CC3-A06F-FACE00E7056B}"/>
              </a:ext>
            </a:extLst>
          </p:cNvPr>
          <p:cNvCxnSpPr>
            <a:cxnSpLocks/>
          </p:cNvCxnSpPr>
          <p:nvPr/>
        </p:nvCxnSpPr>
        <p:spPr>
          <a:xfrm flipH="1" flipV="1">
            <a:off x="6224954" y="1986539"/>
            <a:ext cx="571500" cy="2049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ACD1095-2AD0-43CB-82B7-6804A8520F2A}"/>
              </a:ext>
            </a:extLst>
          </p:cNvPr>
          <p:cNvSpPr txBox="1"/>
          <p:nvPr/>
        </p:nvSpPr>
        <p:spPr>
          <a:xfrm>
            <a:off x="959258" y="4125457"/>
            <a:ext cx="52656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3) Теперь поиск для </a:t>
            </a:r>
            <a:r>
              <a:rPr lang="ru-RU" sz="2400" b="1" dirty="0" smtClean="0"/>
              <a:t>192.168.10.1</a:t>
            </a:r>
            <a:r>
              <a:rPr lang="ru-RU" sz="2400" dirty="0" smtClean="0"/>
              <a:t>. Подходящий маршрут ведет в интерфейс. Завершение рекурсивного поиска.</a:t>
            </a:r>
            <a:endParaRPr lang="ru-RU" sz="2400" dirty="0"/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6AD62E56-A1E2-4CC3-A06F-FACE00E7056B}"/>
              </a:ext>
            </a:extLst>
          </p:cNvPr>
          <p:cNvCxnSpPr>
            <a:cxnSpLocks/>
          </p:cNvCxnSpPr>
          <p:nvPr/>
        </p:nvCxnSpPr>
        <p:spPr>
          <a:xfrm flipH="1" flipV="1">
            <a:off x="5548495" y="2373923"/>
            <a:ext cx="176396" cy="1661746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74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EDBAD-BEC5-4984-9260-8E5E4226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72520"/>
            <a:ext cx="11360800" cy="763600"/>
          </a:xfrm>
        </p:spPr>
        <p:txBody>
          <a:bodyPr>
            <a:normAutofit/>
          </a:bodyPr>
          <a:lstStyle/>
          <a:p>
            <a:r>
              <a:rPr lang="en-US" dirty="0"/>
              <a:t>Longest Prefix Match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A89000-41E3-4BAE-9E14-C9E85237F2C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15600" y="919884"/>
          <a:ext cx="5680400" cy="1412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80">
                  <a:extLst>
                    <a:ext uri="{9D8B030D-6E8A-4147-A177-3AD203B41FA5}">
                      <a16:colId xmlns:a16="http://schemas.microsoft.com/office/drawing/2014/main" val="3472456190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984340672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4087065278"/>
                    </a:ext>
                  </a:extLst>
                </a:gridCol>
              </a:tblGrid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Адрес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Маска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Шлюз</a:t>
                      </a: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6922305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10.128.0.0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</a:t>
                      </a: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</a:t>
                      </a:r>
                      <a:r>
                        <a:rPr lang="ru-RU" sz="1700" b="1" dirty="0"/>
                        <a:t>2</a:t>
                      </a:r>
                      <a:r>
                        <a:rPr lang="en-US" sz="1700" b="1" dirty="0"/>
                        <a:t>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1294112736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10.128.168.0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</a:t>
                      </a:r>
                      <a:r>
                        <a:rPr lang="ru-RU" sz="1700" b="1" dirty="0"/>
                        <a:t>240</a:t>
                      </a:r>
                      <a:r>
                        <a:rPr lang="en-US" sz="1700" b="1" dirty="0"/>
                        <a:t>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</a:t>
                      </a:r>
                      <a:r>
                        <a:rPr lang="ru-RU" sz="1700" b="1" dirty="0"/>
                        <a:t>3</a:t>
                      </a:r>
                      <a:r>
                        <a:rPr lang="en-US" sz="1700" b="1" dirty="0"/>
                        <a:t>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945439413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29605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B72AF8-8397-426A-9F8E-61872E3FBA61}"/>
              </a:ext>
            </a:extLst>
          </p:cNvPr>
          <p:cNvSpPr txBox="1"/>
          <p:nvPr/>
        </p:nvSpPr>
        <p:spPr>
          <a:xfrm>
            <a:off x="8433186" y="1408384"/>
            <a:ext cx="1854995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133" b="1" dirty="0"/>
              <a:t>10</a:t>
            </a:r>
            <a:r>
              <a:rPr lang="en-US" sz="2133" b="1" dirty="0"/>
              <a:t>.128.</a:t>
            </a:r>
            <a:r>
              <a:rPr lang="ru-RU" sz="2133" b="1" dirty="0"/>
              <a:t>174</a:t>
            </a:r>
            <a:r>
              <a:rPr lang="en-US" sz="2133" b="1" dirty="0"/>
              <a:t>.10</a:t>
            </a:r>
            <a:endParaRPr lang="ru-RU" sz="2133" b="1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AD62E56-A1E2-4CC3-A06F-FACE00E7056B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6212543" y="1408386"/>
            <a:ext cx="2220643" cy="225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700178-BF3E-4ADA-AB07-D2304435CC50}"/>
              </a:ext>
            </a:extLst>
          </p:cNvPr>
          <p:cNvSpPr txBox="1"/>
          <p:nvPr/>
        </p:nvSpPr>
        <p:spPr>
          <a:xfrm>
            <a:off x="2872170" y="4188538"/>
            <a:ext cx="67436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2) Находим адрес сети назначения и адрес сети из таблицы:</a:t>
            </a:r>
            <a:endParaRPr lang="ru-RU" sz="1600" dirty="0"/>
          </a:p>
          <a:p>
            <a:r>
              <a:rPr lang="en-US" sz="1600" dirty="0"/>
              <a:t>00001010.10000000.00000000.00000000 –</a:t>
            </a:r>
            <a:r>
              <a:rPr lang="ru-RU" sz="1600" dirty="0"/>
              <a:t> адрес сети назначения</a:t>
            </a:r>
            <a:endParaRPr lang="en-US" sz="1600" dirty="0"/>
          </a:p>
          <a:p>
            <a:r>
              <a:rPr lang="en-US" sz="1600" dirty="0"/>
              <a:t>00001010.10000000.00000000.00000000</a:t>
            </a:r>
            <a:r>
              <a:rPr lang="ru-RU" sz="1600" dirty="0"/>
              <a:t> – адрес сети из таблицы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ru-RU" sz="1600" dirty="0"/>
              <a:t>11111111</a:t>
            </a:r>
            <a:r>
              <a:rPr lang="en-US" sz="1600" dirty="0"/>
              <a:t>.</a:t>
            </a:r>
            <a:r>
              <a:rPr lang="ru-RU" sz="1600" dirty="0"/>
              <a:t>11111111.</a:t>
            </a:r>
            <a:r>
              <a:rPr lang="en-US" sz="1600" dirty="0"/>
              <a:t>111</a:t>
            </a:r>
            <a:r>
              <a:rPr lang="ru-RU" sz="1600" dirty="0"/>
              <a:t>1</a:t>
            </a:r>
            <a:r>
              <a:rPr lang="en-US" sz="1600" dirty="0"/>
              <a:t>1111</a:t>
            </a:r>
            <a:r>
              <a:rPr lang="ru-RU" sz="1600" dirty="0"/>
              <a:t>.11111111 – </a:t>
            </a:r>
            <a:r>
              <a:rPr lang="ru-RU" sz="1600" dirty="0">
                <a:solidFill>
                  <a:srgbClr val="00B050"/>
                </a:solidFill>
              </a:rPr>
              <a:t>есть полное совпадение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DEFE8D-D6F6-422C-B71F-746BA374ABEB}"/>
              </a:ext>
            </a:extLst>
          </p:cNvPr>
          <p:cNvSpPr txBox="1"/>
          <p:nvPr/>
        </p:nvSpPr>
        <p:spPr>
          <a:xfrm>
            <a:off x="352847" y="2606478"/>
            <a:ext cx="96749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1) Находим адрес сети назначения при помощи маски сети из таблицы:</a:t>
            </a:r>
            <a:endParaRPr lang="ru-RU" sz="1600" dirty="0"/>
          </a:p>
          <a:p>
            <a:r>
              <a:rPr lang="en-US" sz="1600" dirty="0"/>
              <a:t>00001010.10000000.</a:t>
            </a:r>
            <a:r>
              <a:rPr lang="ru-RU" sz="1600" dirty="0"/>
              <a:t>10101110</a:t>
            </a:r>
            <a:r>
              <a:rPr lang="en-US" sz="1600" dirty="0"/>
              <a:t>.00001010 –</a:t>
            </a:r>
            <a:r>
              <a:rPr lang="ru-RU" sz="1600" dirty="0"/>
              <a:t> адрес назначения</a:t>
            </a:r>
            <a:endParaRPr lang="en-US" sz="1600" dirty="0"/>
          </a:p>
          <a:p>
            <a:r>
              <a:rPr lang="en-US" sz="1600" dirty="0"/>
              <a:t>11111111.11111111.</a:t>
            </a:r>
            <a:r>
              <a:rPr lang="ru-RU" sz="1600" dirty="0"/>
              <a:t>0000</a:t>
            </a:r>
            <a:r>
              <a:rPr lang="en-US" sz="1600" dirty="0"/>
              <a:t>0000.00000000</a:t>
            </a:r>
            <a:r>
              <a:rPr lang="ru-RU" sz="1600" dirty="0"/>
              <a:t> – маска сети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en-US" sz="1600" dirty="0"/>
              <a:t>00001010.10000000.00000000.00000000</a:t>
            </a:r>
            <a:r>
              <a:rPr lang="ru-RU" sz="1600" dirty="0"/>
              <a:t> – адрес сети назначения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35B5BD-1A0F-466D-91A1-0B726B801297}"/>
              </a:ext>
            </a:extLst>
          </p:cNvPr>
          <p:cNvSpPr txBox="1"/>
          <p:nvPr/>
        </p:nvSpPr>
        <p:spPr>
          <a:xfrm>
            <a:off x="7183018" y="1016209"/>
            <a:ext cx="416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Сравниваем с первой строкой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641C9CF-B4B4-48C9-B18C-80BD544A113E}"/>
              </a:ext>
            </a:extLst>
          </p:cNvPr>
          <p:cNvSpPr/>
          <p:nvPr/>
        </p:nvSpPr>
        <p:spPr>
          <a:xfrm>
            <a:off x="4930587" y="5753450"/>
            <a:ext cx="65083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3) Но мы всё равно продолжаем поиск со следующей строки</a:t>
            </a:r>
          </a:p>
        </p:txBody>
      </p:sp>
    </p:spTree>
    <p:extLst>
      <p:ext uri="{BB962C8B-B14F-4D97-AF65-F5344CB8AC3E}">
        <p14:creationId xmlns:p14="http://schemas.microsoft.com/office/powerpoint/2010/main" val="1189681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EDBAD-BEC5-4984-9260-8E5E4226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72520"/>
            <a:ext cx="11360800" cy="763600"/>
          </a:xfrm>
        </p:spPr>
        <p:txBody>
          <a:bodyPr>
            <a:normAutofit/>
          </a:bodyPr>
          <a:lstStyle/>
          <a:p>
            <a:r>
              <a:rPr lang="en-US" dirty="0"/>
              <a:t>Longest Prefix Match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A89000-41E3-4BAE-9E14-C9E85237F2C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15600" y="919884"/>
          <a:ext cx="5680400" cy="1412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80">
                  <a:extLst>
                    <a:ext uri="{9D8B030D-6E8A-4147-A177-3AD203B41FA5}">
                      <a16:colId xmlns:a16="http://schemas.microsoft.com/office/drawing/2014/main" val="3472456190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984340672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4087065278"/>
                    </a:ext>
                  </a:extLst>
                </a:gridCol>
              </a:tblGrid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Адрес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Маска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Шлюз</a:t>
                      </a: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6922305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10.128.0.0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</a:t>
                      </a: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</a:t>
                      </a:r>
                      <a:r>
                        <a:rPr lang="ru-RU" sz="1700" b="1" dirty="0"/>
                        <a:t>2</a:t>
                      </a:r>
                      <a:r>
                        <a:rPr lang="en-US" sz="1700" b="1" dirty="0"/>
                        <a:t>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1294112736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10.128.168.0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</a:t>
                      </a:r>
                      <a:r>
                        <a:rPr lang="ru-RU" sz="1700" b="1" dirty="0"/>
                        <a:t>240</a:t>
                      </a:r>
                      <a:r>
                        <a:rPr lang="en-US" sz="1700" b="1" dirty="0"/>
                        <a:t>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</a:t>
                      </a:r>
                      <a:r>
                        <a:rPr lang="ru-RU" sz="1700" b="1" dirty="0"/>
                        <a:t>3</a:t>
                      </a:r>
                      <a:r>
                        <a:rPr lang="en-US" sz="1700" b="1" dirty="0"/>
                        <a:t>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945439413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29605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B72AF8-8397-426A-9F8E-61872E3FBA61}"/>
              </a:ext>
            </a:extLst>
          </p:cNvPr>
          <p:cNvSpPr txBox="1"/>
          <p:nvPr/>
        </p:nvSpPr>
        <p:spPr>
          <a:xfrm>
            <a:off x="8433186" y="1408384"/>
            <a:ext cx="1854995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133" b="1" dirty="0"/>
              <a:t>10</a:t>
            </a:r>
            <a:r>
              <a:rPr lang="en-US" sz="2133" b="1" dirty="0"/>
              <a:t>.128.</a:t>
            </a:r>
            <a:r>
              <a:rPr lang="ru-RU" sz="2133" b="1" dirty="0"/>
              <a:t>174</a:t>
            </a:r>
            <a:r>
              <a:rPr lang="en-US" sz="2133" b="1" dirty="0"/>
              <a:t>.10</a:t>
            </a:r>
            <a:endParaRPr lang="ru-RU" sz="2133" b="1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AD62E56-A1E2-4CC3-A06F-FACE00E7056B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6239435" y="1634087"/>
            <a:ext cx="2193751" cy="158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700178-BF3E-4ADA-AB07-D2304435CC50}"/>
              </a:ext>
            </a:extLst>
          </p:cNvPr>
          <p:cNvSpPr txBox="1"/>
          <p:nvPr/>
        </p:nvSpPr>
        <p:spPr>
          <a:xfrm>
            <a:off x="2872170" y="4188538"/>
            <a:ext cx="67436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2) Находим адрес сети назначения и адрес сети из таблицы:</a:t>
            </a:r>
            <a:endParaRPr lang="ru-RU" sz="1600" dirty="0"/>
          </a:p>
          <a:p>
            <a:r>
              <a:rPr lang="en-US" sz="1600" dirty="0"/>
              <a:t>00001010.10000000.</a:t>
            </a:r>
            <a:r>
              <a:rPr lang="ru-RU" sz="1600" dirty="0"/>
              <a:t>1010</a:t>
            </a:r>
            <a:r>
              <a:rPr lang="en-US" sz="1600" dirty="0"/>
              <a:t>0000.00000000 –</a:t>
            </a:r>
            <a:r>
              <a:rPr lang="ru-RU" sz="1600" dirty="0"/>
              <a:t> адрес сети назначения</a:t>
            </a:r>
            <a:endParaRPr lang="en-US" sz="1600" dirty="0"/>
          </a:p>
          <a:p>
            <a:r>
              <a:rPr lang="en-US" sz="1600" dirty="0"/>
              <a:t>00001010.10000000.</a:t>
            </a:r>
            <a:r>
              <a:rPr lang="ru-RU" sz="1600" dirty="0"/>
              <a:t>1010</a:t>
            </a:r>
            <a:r>
              <a:rPr lang="en-US" sz="1600" dirty="0"/>
              <a:t>0000.00000000</a:t>
            </a:r>
            <a:r>
              <a:rPr lang="ru-RU" sz="1600" dirty="0"/>
              <a:t> – адрес сети из таблицы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ru-RU" sz="1600" dirty="0"/>
              <a:t>11111111</a:t>
            </a:r>
            <a:r>
              <a:rPr lang="en-US" sz="1600" dirty="0"/>
              <a:t>.</a:t>
            </a:r>
            <a:r>
              <a:rPr lang="ru-RU" sz="1600" dirty="0"/>
              <a:t>11111111.</a:t>
            </a:r>
            <a:r>
              <a:rPr lang="en-US" sz="1600" dirty="0"/>
              <a:t>111</a:t>
            </a:r>
            <a:r>
              <a:rPr lang="ru-RU" sz="1600" dirty="0"/>
              <a:t>1</a:t>
            </a:r>
            <a:r>
              <a:rPr lang="en-US" sz="1600" dirty="0"/>
              <a:t>1111</a:t>
            </a:r>
            <a:r>
              <a:rPr lang="ru-RU" sz="1600" dirty="0"/>
              <a:t>.11111111 – </a:t>
            </a:r>
            <a:r>
              <a:rPr lang="ru-RU" sz="1600" dirty="0">
                <a:solidFill>
                  <a:srgbClr val="00B050"/>
                </a:solidFill>
              </a:rPr>
              <a:t>есть полное совпадение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DEFE8D-D6F6-422C-B71F-746BA374ABEB}"/>
              </a:ext>
            </a:extLst>
          </p:cNvPr>
          <p:cNvSpPr txBox="1"/>
          <p:nvPr/>
        </p:nvSpPr>
        <p:spPr>
          <a:xfrm>
            <a:off x="352847" y="2606478"/>
            <a:ext cx="96749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1) Находим адрес сети назначения при помощи маски сети из таблицы:</a:t>
            </a:r>
            <a:endParaRPr lang="ru-RU" sz="1600" dirty="0"/>
          </a:p>
          <a:p>
            <a:r>
              <a:rPr lang="en-US" sz="1600" dirty="0"/>
              <a:t>00001010.10000000.</a:t>
            </a:r>
            <a:r>
              <a:rPr lang="ru-RU" sz="1600" dirty="0"/>
              <a:t>10101110</a:t>
            </a:r>
            <a:r>
              <a:rPr lang="en-US" sz="1600" dirty="0"/>
              <a:t>.00001010 –</a:t>
            </a:r>
            <a:r>
              <a:rPr lang="ru-RU" sz="1600" dirty="0"/>
              <a:t> адрес назначения</a:t>
            </a:r>
            <a:endParaRPr lang="en-US" sz="1600" dirty="0"/>
          </a:p>
          <a:p>
            <a:r>
              <a:rPr lang="en-US" sz="1600" dirty="0"/>
              <a:t>11111111.11111111.1111</a:t>
            </a:r>
            <a:r>
              <a:rPr lang="ru-RU" sz="1600" dirty="0"/>
              <a:t>0000</a:t>
            </a:r>
            <a:r>
              <a:rPr lang="en-US" sz="1600" dirty="0"/>
              <a:t>.00000000</a:t>
            </a:r>
            <a:r>
              <a:rPr lang="ru-RU" sz="1600" dirty="0"/>
              <a:t> – маска сети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en-US" sz="1600" dirty="0"/>
              <a:t>00001010.10000000.</a:t>
            </a:r>
            <a:r>
              <a:rPr lang="ru-RU" sz="1600" dirty="0"/>
              <a:t>1010</a:t>
            </a:r>
            <a:r>
              <a:rPr lang="en-US" sz="1600" dirty="0"/>
              <a:t>0000.00000000</a:t>
            </a:r>
            <a:r>
              <a:rPr lang="ru-RU" sz="1600" dirty="0"/>
              <a:t> – адрес сети назначения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35B5BD-1A0F-466D-91A1-0B726B801297}"/>
              </a:ext>
            </a:extLst>
          </p:cNvPr>
          <p:cNvSpPr txBox="1"/>
          <p:nvPr/>
        </p:nvSpPr>
        <p:spPr>
          <a:xfrm>
            <a:off x="7183018" y="1016209"/>
            <a:ext cx="4293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Сравниваем со второй строкой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641C9CF-B4B4-48C9-B18C-80BD544A113E}"/>
              </a:ext>
            </a:extLst>
          </p:cNvPr>
          <p:cNvSpPr/>
          <p:nvPr/>
        </p:nvSpPr>
        <p:spPr>
          <a:xfrm>
            <a:off x="4930587" y="5753450"/>
            <a:ext cx="65083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3) Но мы всё равно продолжаем поиск со следующей строки</a:t>
            </a:r>
          </a:p>
        </p:txBody>
      </p:sp>
    </p:spTree>
    <p:extLst>
      <p:ext uri="{BB962C8B-B14F-4D97-AF65-F5344CB8AC3E}">
        <p14:creationId xmlns:p14="http://schemas.microsoft.com/office/powerpoint/2010/main" val="3772617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EDBAD-BEC5-4984-9260-8E5E4226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72520"/>
            <a:ext cx="11360800" cy="763600"/>
          </a:xfrm>
        </p:spPr>
        <p:txBody>
          <a:bodyPr>
            <a:normAutofit/>
          </a:bodyPr>
          <a:lstStyle/>
          <a:p>
            <a:r>
              <a:rPr lang="en-US" dirty="0"/>
              <a:t>Longest Prefix Match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A89000-41E3-4BAE-9E14-C9E85237F2C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15600" y="919884"/>
          <a:ext cx="5680400" cy="1412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880">
                  <a:extLst>
                    <a:ext uri="{9D8B030D-6E8A-4147-A177-3AD203B41FA5}">
                      <a16:colId xmlns:a16="http://schemas.microsoft.com/office/drawing/2014/main" val="3472456190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984340672"/>
                    </a:ext>
                  </a:extLst>
                </a:gridCol>
                <a:gridCol w="1896260">
                  <a:extLst>
                    <a:ext uri="{9D8B030D-6E8A-4147-A177-3AD203B41FA5}">
                      <a16:colId xmlns:a16="http://schemas.microsoft.com/office/drawing/2014/main" val="4087065278"/>
                    </a:ext>
                  </a:extLst>
                </a:gridCol>
              </a:tblGrid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Адрес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Маска сети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ru-RU" sz="1700" b="1" dirty="0"/>
                        <a:t>Шлюз</a:t>
                      </a: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6922305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10.128.0.0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</a:t>
                      </a: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</a:t>
                      </a:r>
                      <a:r>
                        <a:rPr lang="ru-RU" sz="1700" b="1" dirty="0"/>
                        <a:t>2</a:t>
                      </a:r>
                      <a:r>
                        <a:rPr lang="en-US" sz="1700" b="1" dirty="0"/>
                        <a:t>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1294112736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10.128.168.0</a:t>
                      </a:r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255.255.</a:t>
                      </a:r>
                      <a:r>
                        <a:rPr lang="ru-RU" sz="1700" b="1" dirty="0"/>
                        <a:t>240</a:t>
                      </a:r>
                      <a:r>
                        <a:rPr lang="en-US" sz="1700" b="1" dirty="0"/>
                        <a:t>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192.168.</a:t>
                      </a:r>
                      <a:r>
                        <a:rPr lang="ru-RU" sz="1700" b="1" dirty="0"/>
                        <a:t>3</a:t>
                      </a:r>
                      <a:r>
                        <a:rPr lang="en-US" sz="1700" b="1" dirty="0"/>
                        <a:t>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945439413"/>
                  </a:ext>
                </a:extLst>
              </a:tr>
              <a:tr h="353043">
                <a:tc>
                  <a:txBody>
                    <a:bodyPr/>
                    <a:lstStyle/>
                    <a:p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700" b="1" dirty="0"/>
                        <a:t>0</a:t>
                      </a:r>
                      <a:r>
                        <a:rPr lang="en-US" sz="1700" b="1" dirty="0"/>
                        <a:t>.0.0.0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700" b="1" dirty="0"/>
                        <a:t>192.168.10.1</a:t>
                      </a:r>
                      <a:endParaRPr lang="ru-RU" sz="1700" b="1" dirty="0"/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29605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B72AF8-8397-426A-9F8E-61872E3FBA61}"/>
              </a:ext>
            </a:extLst>
          </p:cNvPr>
          <p:cNvSpPr txBox="1"/>
          <p:nvPr/>
        </p:nvSpPr>
        <p:spPr>
          <a:xfrm>
            <a:off x="8433186" y="1408384"/>
            <a:ext cx="1854995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133" b="1" dirty="0"/>
              <a:t>10</a:t>
            </a:r>
            <a:r>
              <a:rPr lang="en-US" sz="2133" b="1" dirty="0"/>
              <a:t>.128.</a:t>
            </a:r>
            <a:r>
              <a:rPr lang="ru-RU" sz="2133" b="1" dirty="0"/>
              <a:t>174</a:t>
            </a:r>
            <a:r>
              <a:rPr lang="en-US" sz="2133" b="1" dirty="0"/>
              <a:t>.10</a:t>
            </a:r>
            <a:endParaRPr lang="ru-RU" sz="2133" b="1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AD62E56-A1E2-4CC3-A06F-FACE00E7056B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6257366" y="1634087"/>
            <a:ext cx="2175820" cy="526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700178-BF3E-4ADA-AB07-D2304435CC50}"/>
              </a:ext>
            </a:extLst>
          </p:cNvPr>
          <p:cNvSpPr txBox="1"/>
          <p:nvPr/>
        </p:nvSpPr>
        <p:spPr>
          <a:xfrm>
            <a:off x="2872170" y="4188538"/>
            <a:ext cx="67436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2) Находим адрес сети назначения и адрес сети из таблицы:</a:t>
            </a:r>
            <a:endParaRPr lang="ru-RU" sz="1600" dirty="0"/>
          </a:p>
          <a:p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.00000000 –</a:t>
            </a:r>
            <a:r>
              <a:rPr lang="ru-RU" sz="1600" dirty="0"/>
              <a:t> адрес сети назначения</a:t>
            </a:r>
            <a:endParaRPr lang="en-US" sz="1600" dirty="0"/>
          </a:p>
          <a:p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.00000000</a:t>
            </a:r>
            <a:r>
              <a:rPr lang="ru-RU" sz="1600" dirty="0"/>
              <a:t> – адрес сети из таблицы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ru-RU" sz="1600" dirty="0"/>
              <a:t>11111111</a:t>
            </a:r>
            <a:r>
              <a:rPr lang="en-US" sz="1600" dirty="0"/>
              <a:t>.</a:t>
            </a:r>
            <a:r>
              <a:rPr lang="ru-RU" sz="1600" dirty="0"/>
              <a:t>11111111.</a:t>
            </a:r>
            <a:r>
              <a:rPr lang="en-US" sz="1600" dirty="0"/>
              <a:t>111</a:t>
            </a:r>
            <a:r>
              <a:rPr lang="ru-RU" sz="1600" dirty="0"/>
              <a:t>1</a:t>
            </a:r>
            <a:r>
              <a:rPr lang="en-US" sz="1600" dirty="0"/>
              <a:t>1111</a:t>
            </a:r>
            <a:r>
              <a:rPr lang="ru-RU" sz="1600" dirty="0"/>
              <a:t>.11111111 – </a:t>
            </a:r>
            <a:r>
              <a:rPr lang="ru-RU" sz="1600" dirty="0">
                <a:solidFill>
                  <a:srgbClr val="00B050"/>
                </a:solidFill>
              </a:rPr>
              <a:t>есть полное совпадение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DEFE8D-D6F6-422C-B71F-746BA374ABEB}"/>
              </a:ext>
            </a:extLst>
          </p:cNvPr>
          <p:cNvSpPr txBox="1"/>
          <p:nvPr/>
        </p:nvSpPr>
        <p:spPr>
          <a:xfrm>
            <a:off x="352847" y="2606478"/>
            <a:ext cx="96749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1) Находим адрес сети назначения при помощи маски сети из таблицы:</a:t>
            </a:r>
            <a:endParaRPr lang="ru-RU" sz="1600" dirty="0"/>
          </a:p>
          <a:p>
            <a:r>
              <a:rPr lang="en-US" sz="1600" dirty="0"/>
              <a:t>00001010.10000000.</a:t>
            </a:r>
            <a:r>
              <a:rPr lang="ru-RU" sz="1600" dirty="0"/>
              <a:t>10101110</a:t>
            </a:r>
            <a:r>
              <a:rPr lang="en-US" sz="1600" dirty="0"/>
              <a:t>.00001010 –</a:t>
            </a:r>
            <a:r>
              <a:rPr lang="ru-RU" sz="1600" dirty="0"/>
              <a:t> адрес назначения</a:t>
            </a:r>
            <a:endParaRPr lang="en-US" sz="1600" dirty="0"/>
          </a:p>
          <a:p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.00000000</a:t>
            </a:r>
            <a:r>
              <a:rPr lang="ru-RU" sz="1600" dirty="0"/>
              <a:t> – маска сети</a:t>
            </a:r>
          </a:p>
          <a:p>
            <a:r>
              <a:rPr lang="ru-RU" sz="1600" dirty="0"/>
              <a:t>--------------------------------------------------------------------------------------</a:t>
            </a:r>
          </a:p>
          <a:p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</a:t>
            </a:r>
            <a:r>
              <a:rPr lang="ru-RU" sz="1600" dirty="0"/>
              <a:t>00000000</a:t>
            </a:r>
            <a:r>
              <a:rPr lang="en-US" sz="1600" dirty="0"/>
              <a:t>.00000000</a:t>
            </a:r>
            <a:r>
              <a:rPr lang="ru-RU" sz="1600" dirty="0"/>
              <a:t> – адрес сети назначения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35B5BD-1A0F-466D-91A1-0B726B801297}"/>
              </a:ext>
            </a:extLst>
          </p:cNvPr>
          <p:cNvSpPr txBox="1"/>
          <p:nvPr/>
        </p:nvSpPr>
        <p:spPr>
          <a:xfrm>
            <a:off x="7183018" y="1016209"/>
            <a:ext cx="4232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Сравниваем с третьей строкой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641C9CF-B4B4-48C9-B18C-80BD544A113E}"/>
              </a:ext>
            </a:extLst>
          </p:cNvPr>
          <p:cNvSpPr/>
          <p:nvPr/>
        </p:nvSpPr>
        <p:spPr>
          <a:xfrm>
            <a:off x="4930587" y="5753450"/>
            <a:ext cx="65083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3)</a:t>
            </a:r>
            <a:r>
              <a:rPr lang="en-US" sz="1600" b="1" dirty="0"/>
              <a:t> </a:t>
            </a:r>
            <a:r>
              <a:rPr lang="ru-RU" sz="1600" b="1" dirty="0"/>
              <a:t>Что делаем дальше?</a:t>
            </a:r>
          </a:p>
        </p:txBody>
      </p:sp>
    </p:spTree>
    <p:extLst>
      <p:ext uri="{BB962C8B-B14F-4D97-AF65-F5344CB8AC3E}">
        <p14:creationId xmlns:p14="http://schemas.microsoft.com/office/powerpoint/2010/main" val="96517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EDBAD-BEC5-4984-9260-8E5E4226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72520"/>
            <a:ext cx="11360800" cy="763600"/>
          </a:xfrm>
        </p:spPr>
        <p:txBody>
          <a:bodyPr>
            <a:normAutofit/>
          </a:bodyPr>
          <a:lstStyle/>
          <a:p>
            <a:r>
              <a:rPr lang="en-US" dirty="0"/>
              <a:t>Longest Prefix Match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EA89000-41E3-4BAE-9E14-C9E85237F2C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761777" y="2963838"/>
          <a:ext cx="8668444" cy="2188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956">
                  <a:extLst>
                    <a:ext uri="{9D8B030D-6E8A-4147-A177-3AD203B41FA5}">
                      <a16:colId xmlns:a16="http://schemas.microsoft.com/office/drawing/2014/main" val="3472456190"/>
                    </a:ext>
                  </a:extLst>
                </a:gridCol>
                <a:gridCol w="2893744">
                  <a:extLst>
                    <a:ext uri="{9D8B030D-6E8A-4147-A177-3AD203B41FA5}">
                      <a16:colId xmlns:a16="http://schemas.microsoft.com/office/drawing/2014/main" val="984340672"/>
                    </a:ext>
                  </a:extLst>
                </a:gridCol>
                <a:gridCol w="2893744">
                  <a:extLst>
                    <a:ext uri="{9D8B030D-6E8A-4147-A177-3AD203B41FA5}">
                      <a16:colId xmlns:a16="http://schemas.microsoft.com/office/drawing/2014/main" val="4087065278"/>
                    </a:ext>
                  </a:extLst>
                </a:gridCol>
              </a:tblGrid>
              <a:tr h="542037">
                <a:tc>
                  <a:txBody>
                    <a:bodyPr/>
                    <a:lstStyle/>
                    <a:p>
                      <a:r>
                        <a:rPr lang="ru-RU" sz="2700" b="1" dirty="0"/>
                        <a:t>Адрес сети</a:t>
                      </a:r>
                    </a:p>
                  </a:txBody>
                  <a:tcPr marL="135640" marR="135640" marT="67819" marB="67819"/>
                </a:tc>
                <a:tc>
                  <a:txBody>
                    <a:bodyPr/>
                    <a:lstStyle/>
                    <a:p>
                      <a:r>
                        <a:rPr lang="ru-RU" sz="2700" b="1" dirty="0"/>
                        <a:t>Маска сети</a:t>
                      </a:r>
                    </a:p>
                  </a:txBody>
                  <a:tcPr marL="135640" marR="135640" marT="67819" marB="67819"/>
                </a:tc>
                <a:tc>
                  <a:txBody>
                    <a:bodyPr/>
                    <a:lstStyle/>
                    <a:p>
                      <a:r>
                        <a:rPr lang="ru-RU" sz="2700" b="1" dirty="0"/>
                        <a:t>Шлюз</a:t>
                      </a:r>
                    </a:p>
                  </a:txBody>
                  <a:tcPr marL="135640" marR="135640" marT="67819" marB="67819"/>
                </a:tc>
                <a:extLst>
                  <a:ext uri="{0D108BD9-81ED-4DB2-BD59-A6C34878D82A}">
                    <a16:rowId xmlns:a16="http://schemas.microsoft.com/office/drawing/2014/main" val="3356922305"/>
                  </a:ext>
                </a:extLst>
              </a:tr>
              <a:tr h="542037">
                <a:tc>
                  <a:txBody>
                    <a:bodyPr/>
                    <a:lstStyle/>
                    <a:p>
                      <a:r>
                        <a:rPr lang="ru-RU" sz="2700" b="1" dirty="0"/>
                        <a:t>10.128.0.0</a:t>
                      </a:r>
                    </a:p>
                  </a:txBody>
                  <a:tcPr marL="135640" marR="135640" marT="67819" marB="67819"/>
                </a:tc>
                <a:tc>
                  <a:txBody>
                    <a:bodyPr/>
                    <a:lstStyle/>
                    <a:p>
                      <a:r>
                        <a:rPr lang="en-US" sz="2700" b="1" dirty="0"/>
                        <a:t>255.255.</a:t>
                      </a:r>
                      <a:r>
                        <a:rPr lang="ru-RU" sz="2700" b="1" dirty="0"/>
                        <a:t>0</a:t>
                      </a:r>
                      <a:r>
                        <a:rPr lang="en-US" sz="2700" b="1" dirty="0"/>
                        <a:t>.0</a:t>
                      </a:r>
                      <a:endParaRPr lang="ru-RU" sz="2700" b="1" dirty="0"/>
                    </a:p>
                  </a:txBody>
                  <a:tcPr marL="135640" marR="135640" marT="67819" marB="67819"/>
                </a:tc>
                <a:tc>
                  <a:txBody>
                    <a:bodyPr/>
                    <a:lstStyle/>
                    <a:p>
                      <a:r>
                        <a:rPr lang="en-US" sz="27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192.168.</a:t>
                      </a:r>
                      <a:r>
                        <a:rPr lang="ru-RU" sz="27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r>
                        <a:rPr lang="en-US" sz="27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0.1</a:t>
                      </a:r>
                      <a:endParaRPr lang="ru-RU" sz="27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1294112736"/>
                  </a:ext>
                </a:extLst>
              </a:tr>
              <a:tr h="542037">
                <a:tc>
                  <a:txBody>
                    <a:bodyPr/>
                    <a:lstStyle/>
                    <a:p>
                      <a:r>
                        <a:rPr lang="ru-RU" sz="2700" b="1" dirty="0"/>
                        <a:t>10.128.168.0</a:t>
                      </a:r>
                    </a:p>
                  </a:txBody>
                  <a:tcPr marL="135640" marR="135640" marT="67819" marB="67819"/>
                </a:tc>
                <a:tc>
                  <a:txBody>
                    <a:bodyPr/>
                    <a:lstStyle/>
                    <a:p>
                      <a:r>
                        <a:rPr lang="en-US" sz="2700" b="1" dirty="0"/>
                        <a:t>255.255.</a:t>
                      </a:r>
                      <a:r>
                        <a:rPr lang="ru-RU" sz="2700" b="1" dirty="0"/>
                        <a:t>240</a:t>
                      </a:r>
                      <a:r>
                        <a:rPr lang="en-US" sz="2700" b="1" dirty="0"/>
                        <a:t>.0</a:t>
                      </a:r>
                      <a:endParaRPr lang="ru-RU" sz="2700" b="1" dirty="0"/>
                    </a:p>
                  </a:txBody>
                  <a:tcPr marL="135640" marR="135640" marT="67819" marB="67819"/>
                </a:tc>
                <a:tc>
                  <a:txBody>
                    <a:bodyPr/>
                    <a:lstStyle/>
                    <a:p>
                      <a:r>
                        <a:rPr lang="en-US" sz="27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192.168.</a:t>
                      </a:r>
                      <a:r>
                        <a:rPr lang="ru-RU" sz="27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r>
                        <a:rPr lang="en-US" sz="27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0.1</a:t>
                      </a:r>
                      <a:endParaRPr lang="ru-RU" sz="27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945439413"/>
                  </a:ext>
                </a:extLst>
              </a:tr>
              <a:tr h="542037">
                <a:tc>
                  <a:txBody>
                    <a:bodyPr/>
                    <a:lstStyle/>
                    <a:p>
                      <a:r>
                        <a:rPr lang="ru-RU" sz="2700" b="1" dirty="0"/>
                        <a:t>0</a:t>
                      </a:r>
                      <a:r>
                        <a:rPr lang="en-US" sz="2700" b="1" dirty="0"/>
                        <a:t>.0.0.0</a:t>
                      </a:r>
                      <a:endParaRPr lang="ru-RU" sz="2700" b="1" dirty="0"/>
                    </a:p>
                  </a:txBody>
                  <a:tcPr marL="135640" marR="135640" marT="67819" marB="6781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2700" b="1" dirty="0"/>
                        <a:t>0</a:t>
                      </a:r>
                      <a:r>
                        <a:rPr lang="en-US" sz="2700" b="1" dirty="0"/>
                        <a:t>.0.0.0</a:t>
                      </a:r>
                      <a:endParaRPr lang="ru-RU" sz="2700" b="1" dirty="0"/>
                    </a:p>
                  </a:txBody>
                  <a:tcPr marL="135640" marR="135640" marT="67819" marB="6781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7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192.168.10.1</a:t>
                      </a:r>
                      <a:endParaRPr lang="ru-RU" sz="2700" b="1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88884" marR="88884" marT="44441" marB="44441"/>
                </a:tc>
                <a:extLst>
                  <a:ext uri="{0D108BD9-81ED-4DB2-BD59-A6C34878D82A}">
                    <a16:rowId xmlns:a16="http://schemas.microsoft.com/office/drawing/2014/main" val="3352960580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1BDEFE8D-D6F6-422C-B71F-746BA374ABEB}"/>
              </a:ext>
            </a:extLst>
          </p:cNvPr>
          <p:cNvSpPr txBox="1"/>
          <p:nvPr/>
        </p:nvSpPr>
        <p:spPr>
          <a:xfrm>
            <a:off x="1258544" y="1557153"/>
            <a:ext cx="9674909" cy="913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67" b="1" dirty="0"/>
              <a:t>Из всех подошедших маршрутов выбирается маршрут с самой длинной маской</a:t>
            </a:r>
            <a:endParaRPr lang="ru-RU" sz="2667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Рукописный ввод 13">
                <a:extLst>
                  <a:ext uri="{FF2B5EF4-FFF2-40B4-BE49-F238E27FC236}">
                    <a16:creationId xmlns:a16="http://schemas.microsoft.com/office/drawing/2014/main" id="{1E65A2C6-1FF4-400B-A657-46CA41D27D1D}"/>
                  </a:ext>
                </a:extLst>
              </p14:cNvPr>
              <p14:cNvContentPartPr/>
              <p14:nvPr/>
            </p14:nvContentPartPr>
            <p14:xfrm>
              <a:off x="9798480" y="3638951"/>
              <a:ext cx="300960" cy="306240"/>
            </p14:xfrm>
          </p:contentPart>
        </mc:Choice>
        <mc:Fallback xmlns="">
          <p:pic>
            <p:nvPicPr>
              <p:cNvPr id="14" name="Рукописный ввод 13">
                <a:extLst>
                  <a:ext uri="{FF2B5EF4-FFF2-40B4-BE49-F238E27FC236}">
                    <a16:creationId xmlns:a16="http://schemas.microsoft.com/office/drawing/2014/main" id="{1E65A2C6-1FF4-400B-A657-46CA41D27D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89480" y="3629955"/>
                <a:ext cx="318960" cy="3242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9A9D8DFD-E9CF-41B0-97F3-FAB1D673D480}"/>
                  </a:ext>
                </a:extLst>
              </p14:cNvPr>
              <p14:cNvContentPartPr/>
              <p14:nvPr/>
            </p14:nvContentPartPr>
            <p14:xfrm>
              <a:off x="9798480" y="4777991"/>
              <a:ext cx="251520" cy="242880"/>
            </p14:xfrm>
          </p:contentPart>
        </mc:Choice>
        <mc:Fallback xmlns=""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9A9D8DFD-E9CF-41B0-97F3-FAB1D673D4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89484" y="4768995"/>
                <a:ext cx="269511" cy="2608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4DC1D4F7-5136-4E55-B39F-2C052837DD60}"/>
                  </a:ext>
                </a:extLst>
              </p14:cNvPr>
              <p14:cNvContentPartPr/>
              <p14:nvPr/>
            </p14:nvContentPartPr>
            <p14:xfrm>
              <a:off x="9789360" y="4203431"/>
              <a:ext cx="385920" cy="324000"/>
            </p14:xfrm>
          </p:contentPart>
        </mc:Choice>
        <mc:Fallback xmlns=""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4DC1D4F7-5136-4E55-B39F-2C052837DD6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80360" y="4194431"/>
                <a:ext cx="403920" cy="34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5820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Выбор лучшего маршрута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15600" y="2626879"/>
            <a:ext cx="11360800" cy="2868313"/>
          </a:xfrm>
        </p:spPr>
        <p:txBody>
          <a:bodyPr/>
          <a:lstStyle/>
          <a:p>
            <a:pPr marL="609596" indent="-457200">
              <a:buFont typeface="+mj-lt"/>
              <a:buAutoNum type="arabicPeriod"/>
            </a:pPr>
            <a:r>
              <a:rPr lang="af-ZA" b="1" dirty="0"/>
              <a:t>Longest Prefix </a:t>
            </a:r>
            <a:r>
              <a:rPr lang="af-ZA" b="1" dirty="0" smtClean="0"/>
              <a:t>Match </a:t>
            </a:r>
            <a:r>
              <a:rPr lang="ru-RU" dirty="0" smtClean="0"/>
              <a:t>– самый длинный префикс.</a:t>
            </a:r>
            <a:endParaRPr lang="ru-RU" b="1" dirty="0" smtClean="0"/>
          </a:p>
          <a:p>
            <a:pPr marL="609596" indent="-457200">
              <a:buFont typeface="+mj-lt"/>
              <a:buAutoNum type="arabicPeriod"/>
            </a:pPr>
            <a:r>
              <a:rPr lang="af-ZA" b="1" dirty="0"/>
              <a:t>Administrative Distance (AD)</a:t>
            </a:r>
            <a:r>
              <a:rPr lang="af-ZA" dirty="0"/>
              <a:t> </a:t>
            </a:r>
            <a:r>
              <a:rPr lang="ru-RU" dirty="0" smtClean="0"/>
              <a:t>- степень доверия к источнику маршрута:</a:t>
            </a:r>
          </a:p>
          <a:p>
            <a:pPr marL="1253047" lvl="1" indent="-457200">
              <a:buFont typeface="+mj-lt"/>
              <a:buAutoNum type="arabicPeriod"/>
            </a:pPr>
            <a:r>
              <a:rPr lang="en-US" dirty="0" smtClean="0"/>
              <a:t>Connected</a:t>
            </a:r>
          </a:p>
          <a:p>
            <a:pPr marL="1253047" lvl="1" indent="-457200">
              <a:buFont typeface="+mj-lt"/>
              <a:buAutoNum type="arabicPeriod"/>
            </a:pPr>
            <a:r>
              <a:rPr lang="en-US" dirty="0" smtClean="0"/>
              <a:t>Static</a:t>
            </a:r>
          </a:p>
          <a:p>
            <a:pPr marL="1253047" lvl="1" indent="-457200">
              <a:buFont typeface="+mj-lt"/>
              <a:buAutoNum type="arabicPeriod"/>
            </a:pPr>
            <a:r>
              <a:rPr lang="en-US" dirty="0" smtClean="0"/>
              <a:t>Dynamic</a:t>
            </a:r>
            <a:endParaRPr lang="ru-RU" dirty="0" smtClean="0"/>
          </a:p>
          <a:p>
            <a:pPr marL="609596" indent="-457200">
              <a:buFont typeface="+mj-lt"/>
              <a:buAutoNum type="arabicPeriod"/>
            </a:pPr>
            <a:r>
              <a:rPr lang="en-US" b="1" dirty="0" smtClean="0"/>
              <a:t>Metric </a:t>
            </a:r>
            <a:r>
              <a:rPr lang="en-US" dirty="0" smtClean="0"/>
              <a:t>– </a:t>
            </a:r>
            <a:r>
              <a:rPr lang="ru-RU" dirty="0" smtClean="0"/>
              <a:t>стоимость маршрута внутри источника.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8423152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1412" y="293203"/>
            <a:ext cx="9905998" cy="1478570"/>
          </a:xfrm>
        </p:spPr>
        <p:txBody>
          <a:bodyPr/>
          <a:lstStyle/>
          <a:p>
            <a:r>
              <a:rPr lang="ru-RU" dirty="0" smtClean="0"/>
              <a:t>Агрегация (суммирование) маршрутов - </a:t>
            </a:r>
            <a:r>
              <a:rPr lang="af-ZA" dirty="0"/>
              <a:t>route aggregation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6110" y="2778273"/>
            <a:ext cx="6639780" cy="396127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141412" y="1850506"/>
            <a:ext cx="104908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Агрегация маршрутов (суммирование) — это метод объединения нескольких конкретных сетевых подсетей в одну общую запись для уменьшения размера таблицы маршрутизации.</a:t>
            </a:r>
          </a:p>
        </p:txBody>
      </p:sp>
    </p:spTree>
    <p:extLst>
      <p:ext uri="{BB962C8B-B14F-4D97-AF65-F5344CB8AC3E}">
        <p14:creationId xmlns:p14="http://schemas.microsoft.com/office/powerpoint/2010/main" val="937590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TTL – Time to live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9743" y="2249488"/>
            <a:ext cx="7609339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635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Статическая маршрутизация</a:t>
            </a:r>
            <a:endParaRPr lang="ru-RU" dirty="0"/>
          </a:p>
        </p:txBody>
      </p:sp>
      <p:pic>
        <p:nvPicPr>
          <p:cNvPr id="6" name="Объект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441" y="3429000"/>
            <a:ext cx="6724650" cy="3352800"/>
          </a:xfrm>
          <a:prstGeom prst="rect">
            <a:avLst/>
          </a:prstGeom>
        </p:spPr>
      </p:pic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7711" y="1658144"/>
            <a:ext cx="7666268" cy="304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895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Динамическая маршрутизация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4398" y="2249488"/>
            <a:ext cx="6500029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466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Протокол ARP (Связка L3 и L2</a:t>
            </a:r>
            <a:r>
              <a:rPr lang="ru-RU" b="1" dirty="0" smtClean="0"/>
              <a:t>)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4896" y="2249488"/>
            <a:ext cx="9239034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2331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Протокол ARP (Связка L3 и L2</a:t>
            </a:r>
            <a:r>
              <a:rPr lang="ru-RU" b="1" dirty="0" smtClean="0"/>
              <a:t>)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6628" y="2249488"/>
            <a:ext cx="8675569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7371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Протокол ARP (Связка L3 и L2</a:t>
            </a:r>
            <a:r>
              <a:rPr lang="ru-RU" b="1" dirty="0" smtClean="0"/>
              <a:t>)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7670" y="2249488"/>
            <a:ext cx="8673485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9377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Протокол ARP (Связка L3 и L2</a:t>
            </a:r>
            <a:r>
              <a:rPr lang="ru-RU" b="1" dirty="0" smtClean="0"/>
              <a:t>)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8612" y="2249488"/>
            <a:ext cx="8691602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6447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Протокол ARP (Связка L3 и L2)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8676" y="2012096"/>
            <a:ext cx="6991472" cy="423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7530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Протокол ARP (Связка L3 и L2)</a:t>
            </a:r>
            <a:endParaRPr lang="ru-RU" dirty="0"/>
          </a:p>
        </p:txBody>
      </p:sp>
      <p:pic>
        <p:nvPicPr>
          <p:cNvPr id="1026" name="Picture 2" descr="ARP (Address Resolution Protocol) explaine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68" y="1790953"/>
            <a:ext cx="4954344" cy="47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239608" y="1706868"/>
            <a:ext cx="562121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Устройство, отправляющее запрос, проверяет свой ARP-</a:t>
            </a:r>
            <a:r>
              <a:rPr lang="ru-RU" sz="2400" dirty="0" err="1"/>
              <a:t>кеш</a:t>
            </a:r>
            <a:r>
              <a:rPr lang="ru-RU" sz="2400" dirty="0"/>
              <a:t> на наличие соответствия.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Если запись не найдена, в сеть рассылается ARP-запрос с запросом о MAC-адресе, связанном с целевым IP-адресом.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Устройство с соответствующим IP-адресом отвечает ARP-ответом, содержащим его MAC-адрес.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Запрашивающее устройство сохраняет эту информацию в своём ARP-</a:t>
            </a:r>
            <a:r>
              <a:rPr lang="ru-RU" sz="2400" dirty="0" err="1"/>
              <a:t>кеше</a:t>
            </a:r>
            <a:r>
              <a:rPr lang="ru-RU" sz="2400" dirty="0"/>
              <a:t> для будущей связи.</a:t>
            </a:r>
          </a:p>
        </p:txBody>
      </p:sp>
    </p:spTree>
    <p:extLst>
      <p:ext uri="{BB962C8B-B14F-4D97-AF65-F5344CB8AC3E}">
        <p14:creationId xmlns:p14="http://schemas.microsoft.com/office/powerpoint/2010/main" val="250046616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Протокол ARP (Связка L3 и L2)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0065" y="1982788"/>
            <a:ext cx="5528693" cy="442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75179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b="1" dirty="0"/>
              <a:t>Gratuitous </a:t>
            </a:r>
            <a:r>
              <a:rPr lang="af-ZA" b="1" dirty="0" smtClean="0"/>
              <a:t>ARP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1838936"/>
          </a:xfrm>
        </p:spPr>
        <p:txBody>
          <a:bodyPr>
            <a:normAutofit/>
          </a:bodyPr>
          <a:lstStyle/>
          <a:p>
            <a:r>
              <a:rPr lang="ru-RU" dirty="0"/>
              <a:t>Д</a:t>
            </a:r>
            <a:r>
              <a:rPr lang="ru-RU" dirty="0" smtClean="0"/>
              <a:t>ля </a:t>
            </a:r>
            <a:r>
              <a:rPr lang="ru-RU" dirty="0"/>
              <a:t>проверки дублирования адресов в сети. </a:t>
            </a:r>
            <a:endParaRPr lang="ru-RU" dirty="0" smtClean="0"/>
          </a:p>
          <a:p>
            <a:r>
              <a:rPr lang="ru-RU" dirty="0" smtClean="0"/>
              <a:t>Чтобы </a:t>
            </a:r>
            <a:r>
              <a:rPr lang="ru-RU" dirty="0"/>
              <a:t>объявить свой новый идентификатор канальной среды. </a:t>
            </a:r>
            <a:endParaRPr lang="ru-RU" dirty="0" smtClean="0"/>
          </a:p>
          <a:p>
            <a:r>
              <a:rPr lang="ru-RU" dirty="0" err="1" smtClean="0"/>
              <a:t>Hot</a:t>
            </a:r>
            <a:r>
              <a:rPr lang="ru-RU" dirty="0" smtClean="0"/>
              <a:t> </a:t>
            </a:r>
            <a:r>
              <a:rPr lang="ru-RU" dirty="0" err="1"/>
              <a:t>Standby</a:t>
            </a:r>
            <a:r>
              <a:rPr lang="ru-RU" dirty="0"/>
              <a:t> </a:t>
            </a:r>
            <a:r>
              <a:rPr lang="ru-RU" dirty="0" err="1"/>
              <a:t>Router</a:t>
            </a:r>
            <a:r>
              <a:rPr lang="ru-RU" dirty="0"/>
              <a:t> </a:t>
            </a:r>
            <a:r>
              <a:rPr lang="ru-RU" dirty="0" err="1"/>
              <a:t>Protocol</a:t>
            </a:r>
            <a:r>
              <a:rPr lang="ru-RU" dirty="0"/>
              <a:t> (HSRP).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43969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9866" y="-84867"/>
            <a:ext cx="9905998" cy="1478570"/>
          </a:xfrm>
        </p:spPr>
        <p:txBody>
          <a:bodyPr/>
          <a:lstStyle/>
          <a:p>
            <a:r>
              <a:rPr lang="ru-RU" b="1" dirty="0"/>
              <a:t>Протокол ICMP и утилиты </a:t>
            </a:r>
            <a:r>
              <a:rPr lang="ru-RU" b="1" dirty="0" smtClean="0"/>
              <a:t>диагностики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3599" y="2534811"/>
            <a:ext cx="6564801" cy="385752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079866" y="1080534"/>
            <a:ext cx="106314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ICMP (</a:t>
            </a:r>
            <a:r>
              <a:rPr lang="ru-RU" b="1" dirty="0" err="1"/>
              <a:t>Internet</a:t>
            </a:r>
            <a:r>
              <a:rPr lang="ru-RU" b="1" dirty="0"/>
              <a:t> </a:t>
            </a:r>
            <a:r>
              <a:rPr lang="ru-RU" b="1" dirty="0" err="1"/>
              <a:t>Control</a:t>
            </a:r>
            <a:r>
              <a:rPr lang="ru-RU" b="1" dirty="0"/>
              <a:t> </a:t>
            </a:r>
            <a:r>
              <a:rPr lang="ru-RU" b="1" dirty="0" err="1"/>
              <a:t>Message</a:t>
            </a:r>
            <a:r>
              <a:rPr lang="ru-RU" b="1" dirty="0"/>
              <a:t> </a:t>
            </a:r>
            <a:r>
              <a:rPr lang="ru-RU" b="1" dirty="0" err="1"/>
              <a:t>Protocol</a:t>
            </a:r>
            <a:r>
              <a:rPr lang="ru-RU" b="1" dirty="0"/>
              <a:t>)</a:t>
            </a:r>
            <a:r>
              <a:rPr lang="ru-RU" dirty="0"/>
              <a:t> — это протокол, предназначенный для отправки сообщений об ошибках и передачи служебной информации, которая указывает на успех или неудачу при обмене данными с другим IP-адресом.</a:t>
            </a:r>
            <a:endParaRPr lang="en-US" dirty="0" smtClean="0"/>
          </a:p>
          <a:p>
            <a:r>
              <a:rPr lang="ru-RU" dirty="0" smtClean="0"/>
              <a:t>Роль</a:t>
            </a:r>
            <a:r>
              <a:rPr lang="ru-RU" dirty="0"/>
              <a:t>: обратная связь, сообщения об ошибках сетевого уровня (</a:t>
            </a:r>
            <a:r>
              <a:rPr lang="ru-RU" dirty="0" err="1"/>
              <a:t>Destination</a:t>
            </a:r>
            <a:r>
              <a:rPr lang="ru-RU" dirty="0"/>
              <a:t> </a:t>
            </a:r>
            <a:r>
              <a:rPr lang="ru-RU" dirty="0" err="1"/>
              <a:t>Unreachable</a:t>
            </a:r>
            <a:r>
              <a:rPr lang="ru-RU" dirty="0"/>
              <a:t>, TTL </a:t>
            </a:r>
            <a:r>
              <a:rPr lang="ru-RU" dirty="0" err="1"/>
              <a:t>Expired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93690947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1" y="337164"/>
            <a:ext cx="9905998" cy="805836"/>
          </a:xfrm>
        </p:spPr>
        <p:txBody>
          <a:bodyPr/>
          <a:lstStyle/>
          <a:p>
            <a:r>
              <a:rPr lang="ru-RU" b="1" dirty="0"/>
              <a:t>Протокол ICMP и утилиты диагностики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9437" y="1554894"/>
            <a:ext cx="7933126" cy="4537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6892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Протокол ICMP и утилиты диагностики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8814" y="1851207"/>
            <a:ext cx="6734297" cy="3955297"/>
          </a:xfrm>
          <a:prstGeom prst="rect">
            <a:avLst/>
          </a:prstGeom>
        </p:spPr>
      </p:pic>
      <p:pic>
        <p:nvPicPr>
          <p:cNvPr id="2050" name="Picture 2" descr="Мониторинг хостов в сети с помощью ICMP-пинга - Мониторинг пинго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926" y="4249826"/>
            <a:ext cx="4926378" cy="1975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244296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1410" y="627310"/>
            <a:ext cx="9905998" cy="1478570"/>
          </a:xfrm>
        </p:spPr>
        <p:txBody>
          <a:bodyPr/>
          <a:lstStyle/>
          <a:p>
            <a:r>
              <a:rPr lang="ru-RU" b="1" dirty="0"/>
              <a:t>Конфигурация </a:t>
            </a:r>
            <a:r>
              <a:rPr lang="af-ZA" b="1" dirty="0"/>
              <a:t>IP-</a:t>
            </a:r>
            <a:r>
              <a:rPr lang="ru-RU" b="1" dirty="0" smtClean="0"/>
              <a:t>адресов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Статическая:</a:t>
            </a:r>
          </a:p>
          <a:p>
            <a:r>
              <a:rPr lang="ru-RU" dirty="0" smtClean="0"/>
              <a:t>Серверы</a:t>
            </a:r>
          </a:p>
          <a:p>
            <a:r>
              <a:rPr lang="ru-RU" dirty="0" smtClean="0"/>
              <a:t>Маршрутизаторы и коммутаторы</a:t>
            </a:r>
          </a:p>
          <a:p>
            <a:r>
              <a:rPr lang="ru-RU" dirty="0" smtClean="0"/>
              <a:t>Принтеры, МФУ.</a:t>
            </a:r>
          </a:p>
          <a:p>
            <a:r>
              <a:rPr lang="en-US" dirty="0" smtClean="0"/>
              <a:t>IP</a:t>
            </a:r>
            <a:r>
              <a:rPr lang="ru-RU" dirty="0" smtClean="0"/>
              <a:t>-камеры, системы видеонаблюдения, датчики.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Динамическая:</a:t>
            </a:r>
          </a:p>
          <a:p>
            <a:r>
              <a:rPr lang="ru-RU" dirty="0" smtClean="0"/>
              <a:t>Ноутбуки и смартфоны сотрудников.</a:t>
            </a:r>
          </a:p>
          <a:p>
            <a:r>
              <a:rPr lang="ru-RU" dirty="0" smtClean="0"/>
              <a:t>Домашние ПК и планшеты. </a:t>
            </a:r>
          </a:p>
          <a:p>
            <a:r>
              <a:rPr lang="ru-RU" dirty="0" smtClean="0"/>
              <a:t>Гостевые сети.</a:t>
            </a:r>
          </a:p>
          <a:p>
            <a:r>
              <a:rPr lang="ru-RU" dirty="0" smtClean="0"/>
              <a:t>Временные подключения.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614277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Автоматическая настройка: Протокол </a:t>
            </a:r>
            <a:r>
              <a:rPr lang="af-ZA" b="1" dirty="0" smtClean="0"/>
              <a:t>DHCP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Динамическая конфигурация узла.</a:t>
            </a:r>
          </a:p>
          <a:p>
            <a:r>
              <a:rPr lang="ru-RU" dirty="0" smtClean="0"/>
              <a:t>Широковещательные запросы.</a:t>
            </a:r>
          </a:p>
          <a:p>
            <a:r>
              <a:rPr lang="ru-RU" dirty="0" smtClean="0"/>
              <a:t>Клиент-серверная модель. </a:t>
            </a:r>
          </a:p>
          <a:p>
            <a:r>
              <a:rPr lang="en-US" dirty="0" smtClean="0"/>
              <a:t>UDP</a:t>
            </a:r>
            <a:r>
              <a:rPr lang="ru-RU" dirty="0" smtClean="0"/>
              <a:t>, порт 67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/>
              <a:t>Типы распределения адресов:</a:t>
            </a:r>
          </a:p>
          <a:p>
            <a:r>
              <a:rPr lang="ru-RU" dirty="0" smtClean="0"/>
              <a:t>Ручное —</a:t>
            </a:r>
            <a:r>
              <a:rPr lang="ru-RU" dirty="0"/>
              <a:t> </a:t>
            </a:r>
            <a:r>
              <a:rPr lang="en-US" dirty="0" smtClean="0"/>
              <a:t>MAC </a:t>
            </a:r>
            <a:r>
              <a:rPr lang="ru-RU" dirty="0" smtClean="0"/>
              <a:t>вручную привязываются к </a:t>
            </a:r>
            <a:r>
              <a:rPr lang="en-US" dirty="0" smtClean="0"/>
              <a:t>IP </a:t>
            </a:r>
            <a:r>
              <a:rPr lang="ru-RU" dirty="0" smtClean="0"/>
              <a:t>на сервере.</a:t>
            </a:r>
          </a:p>
          <a:p>
            <a:r>
              <a:rPr lang="ru-RU" dirty="0" smtClean="0"/>
              <a:t>Автоматическое – </a:t>
            </a:r>
            <a:r>
              <a:rPr lang="en-US" dirty="0" smtClean="0"/>
              <a:t>DHCP</a:t>
            </a:r>
            <a:r>
              <a:rPr lang="ru-RU" dirty="0" smtClean="0"/>
              <a:t> сервер присваивает устройство постоянный адрес, понятие аренды отсутствует.</a:t>
            </a:r>
          </a:p>
          <a:p>
            <a:r>
              <a:rPr lang="ru-RU" dirty="0" smtClean="0"/>
              <a:t>Динамическое – </a:t>
            </a:r>
            <a:r>
              <a:rPr lang="en-US" dirty="0" smtClean="0"/>
              <a:t>DHCP </a:t>
            </a:r>
            <a:r>
              <a:rPr lang="ru-RU" dirty="0" smtClean="0"/>
              <a:t>сервер выдаёт адрес устройствам на время.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68857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DCHP</a:t>
            </a:r>
            <a:r>
              <a:rPr lang="ru-RU" dirty="0" smtClean="0"/>
              <a:t>: получение адреса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802786"/>
            <a:ext cx="6082432" cy="4255113"/>
          </a:xfrm>
          <a:prstGeom prst="rect">
            <a:avLst/>
          </a:prstGeom>
        </p:spPr>
      </p:pic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36915" y="1840215"/>
            <a:ext cx="6051910" cy="421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89135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DCHP</a:t>
            </a:r>
            <a:r>
              <a:rPr lang="ru-RU" dirty="0" smtClean="0"/>
              <a:t>: получение адреса</a:t>
            </a:r>
            <a:endParaRPr lang="ru-RU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734884"/>
            <a:ext cx="6085043" cy="4226301"/>
          </a:xfrm>
          <a:prstGeom prst="rect">
            <a:avLst/>
          </a:prstGeom>
        </p:spPr>
      </p:pic>
      <p:pic>
        <p:nvPicPr>
          <p:cNvPr id="9" name="Объект 8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16474" y="1734884"/>
            <a:ext cx="6075526" cy="42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03374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238129" y="150932"/>
            <a:ext cx="9905998" cy="870438"/>
          </a:xfrm>
        </p:spPr>
        <p:txBody>
          <a:bodyPr/>
          <a:lstStyle/>
          <a:p>
            <a:r>
              <a:rPr lang="en-US" dirty="0" smtClean="0"/>
              <a:t>DHCP:</a:t>
            </a:r>
            <a:r>
              <a:rPr lang="ru-RU" dirty="0" smtClean="0"/>
              <a:t> формат сообщения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7571" y="1003785"/>
            <a:ext cx="5993681" cy="57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84578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1" y="214072"/>
            <a:ext cx="9905998" cy="779459"/>
          </a:xfrm>
        </p:spPr>
        <p:txBody>
          <a:bodyPr/>
          <a:lstStyle/>
          <a:p>
            <a:r>
              <a:rPr lang="en-US" dirty="0" smtClean="0"/>
              <a:t>DHCP options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8292982"/>
              </p:ext>
            </p:extLst>
          </p:nvPr>
        </p:nvGraphicFramePr>
        <p:xfrm>
          <a:off x="1143001" y="1098551"/>
          <a:ext cx="10005644" cy="5125905"/>
        </p:xfrm>
        <a:graphic>
          <a:graphicData uri="http://schemas.openxmlformats.org/drawingml/2006/table">
            <a:tbl>
              <a:tblPr/>
              <a:tblGrid>
                <a:gridCol w="2501411">
                  <a:extLst>
                    <a:ext uri="{9D8B030D-6E8A-4147-A177-3AD203B41FA5}">
                      <a16:colId xmlns:a16="http://schemas.microsoft.com/office/drawing/2014/main" val="2328037731"/>
                    </a:ext>
                  </a:extLst>
                </a:gridCol>
                <a:gridCol w="2501411">
                  <a:extLst>
                    <a:ext uri="{9D8B030D-6E8A-4147-A177-3AD203B41FA5}">
                      <a16:colId xmlns:a16="http://schemas.microsoft.com/office/drawing/2014/main" val="1986193264"/>
                    </a:ext>
                  </a:extLst>
                </a:gridCol>
                <a:gridCol w="2501411">
                  <a:extLst>
                    <a:ext uri="{9D8B030D-6E8A-4147-A177-3AD203B41FA5}">
                      <a16:colId xmlns:a16="http://schemas.microsoft.com/office/drawing/2014/main" val="2706894913"/>
                    </a:ext>
                  </a:extLst>
                </a:gridCol>
                <a:gridCol w="2501411">
                  <a:extLst>
                    <a:ext uri="{9D8B030D-6E8A-4147-A177-3AD203B41FA5}">
                      <a16:colId xmlns:a16="http://schemas.microsoft.com/office/drawing/2014/main" val="964456829"/>
                    </a:ext>
                  </a:extLst>
                </a:gridCol>
              </a:tblGrid>
              <a:tr h="209570"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effectLst/>
                        </a:rPr>
                        <a:t>Код опции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effectLst/>
                        </a:rPr>
                        <a:t>Название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effectLst/>
                        </a:rPr>
                        <a:t>Описание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effectLst/>
                        </a:rPr>
                        <a:t>Пример значения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9397811"/>
                  </a:ext>
                </a:extLst>
              </a:tr>
              <a:tr h="365128">
                <a:tc>
                  <a:txBody>
                    <a:bodyPr/>
                    <a:lstStyle/>
                    <a:p>
                      <a:r>
                        <a:rPr lang="ru-RU" sz="1400" b="1" dirty="0">
                          <a:effectLst/>
                        </a:rPr>
                        <a:t>1</a:t>
                      </a:r>
                      <a:endParaRPr lang="ru-RU" sz="1400" dirty="0">
                        <a:effectLst/>
                      </a:endParaRP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400">
                          <a:effectLst/>
                        </a:rPr>
                        <a:t>Subnet Mask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Маска подсети клиента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255.255.255.0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1991131"/>
                  </a:ext>
                </a:extLst>
              </a:tr>
              <a:tr h="365128">
                <a:tc>
                  <a:txBody>
                    <a:bodyPr/>
                    <a:lstStyle/>
                    <a:p>
                      <a:r>
                        <a:rPr lang="ru-RU" sz="1400" b="1" dirty="0">
                          <a:effectLst/>
                        </a:rPr>
                        <a:t>3</a:t>
                      </a:r>
                      <a:endParaRPr lang="ru-RU" sz="1400" dirty="0">
                        <a:effectLst/>
                      </a:endParaRP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400">
                          <a:effectLst/>
                        </a:rPr>
                        <a:t>Router (Default Gateway)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400">
                          <a:effectLst/>
                        </a:rPr>
                        <a:t>IP-</a:t>
                      </a:r>
                      <a:r>
                        <a:rPr lang="ru-RU" sz="1400">
                          <a:effectLst/>
                        </a:rPr>
                        <a:t>адрес шлюза по умолчанию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192.168.1.1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215212"/>
                  </a:ext>
                </a:extLst>
              </a:tr>
              <a:tr h="209570">
                <a:tc>
                  <a:txBody>
                    <a:bodyPr/>
                    <a:lstStyle/>
                    <a:p>
                      <a:r>
                        <a:rPr lang="ru-RU" sz="1400" b="1" dirty="0">
                          <a:effectLst/>
                        </a:rPr>
                        <a:t>6</a:t>
                      </a:r>
                      <a:endParaRPr lang="ru-RU" sz="1400" dirty="0">
                        <a:effectLst/>
                      </a:endParaRP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400" dirty="0">
                          <a:effectLst/>
                        </a:rPr>
                        <a:t>DNS Servers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Список </a:t>
                      </a:r>
                      <a:r>
                        <a:rPr lang="af-ZA" sz="1400">
                          <a:effectLst/>
                        </a:rPr>
                        <a:t>DNS-</a:t>
                      </a:r>
                      <a:r>
                        <a:rPr lang="ru-RU" sz="1400">
                          <a:effectLst/>
                        </a:rPr>
                        <a:t>серверов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8.8.8.8, 1.1.1.1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3001324"/>
                  </a:ext>
                </a:extLst>
              </a:tr>
              <a:tr h="209570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</a:rPr>
                        <a:t>15</a:t>
                      </a:r>
                      <a:endParaRPr lang="ru-RU" sz="1400">
                        <a:effectLst/>
                      </a:endParaRP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400" dirty="0">
                          <a:effectLst/>
                        </a:rPr>
                        <a:t>Domain Name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400">
                          <a:effectLst/>
                        </a:rPr>
                        <a:t>DNS-</a:t>
                      </a:r>
                      <a:r>
                        <a:rPr lang="ru-RU" sz="1400">
                          <a:effectLst/>
                        </a:rPr>
                        <a:t>домен клиента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400">
                          <a:effectLst/>
                        </a:rPr>
                        <a:t>company.local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8182717"/>
                  </a:ext>
                </a:extLst>
              </a:tr>
              <a:tr h="520685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</a:rPr>
                        <a:t>42</a:t>
                      </a:r>
                      <a:endParaRPr lang="ru-RU" sz="1400">
                        <a:effectLst/>
                      </a:endParaRP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400" dirty="0">
                          <a:effectLst/>
                        </a:rPr>
                        <a:t>NTP Servers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Серверы синхронизации времени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192.168.1.10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9648509"/>
                  </a:ext>
                </a:extLst>
              </a:tr>
              <a:tr h="365128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</a:rPr>
                        <a:t>51</a:t>
                      </a:r>
                      <a:endParaRPr lang="ru-RU" sz="1400">
                        <a:effectLst/>
                      </a:endParaRP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400" dirty="0">
                          <a:effectLst/>
                        </a:rPr>
                        <a:t>IP Address Lease Time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Время аренды </a:t>
                      </a:r>
                      <a:r>
                        <a:rPr lang="af-ZA" sz="1400">
                          <a:effectLst/>
                        </a:rPr>
                        <a:t>IP-</a:t>
                      </a:r>
                      <a:r>
                        <a:rPr lang="ru-RU" sz="1400">
                          <a:effectLst/>
                        </a:rPr>
                        <a:t>адреса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86400 (24 часа)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979280"/>
                  </a:ext>
                </a:extLst>
              </a:tr>
              <a:tr h="209570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</a:rPr>
                        <a:t>54</a:t>
                      </a:r>
                      <a:endParaRPr lang="ru-RU" sz="1400">
                        <a:effectLst/>
                      </a:endParaRP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400" dirty="0">
                          <a:effectLst/>
                        </a:rPr>
                        <a:t>DHCP Server Identifier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400">
                          <a:effectLst/>
                        </a:rPr>
                        <a:t>IP-</a:t>
                      </a:r>
                      <a:r>
                        <a:rPr lang="ru-RU" sz="1400">
                          <a:effectLst/>
                        </a:rPr>
                        <a:t>адрес </a:t>
                      </a:r>
                      <a:r>
                        <a:rPr lang="af-ZA" sz="1400">
                          <a:effectLst/>
                        </a:rPr>
                        <a:t>DHCP-</a:t>
                      </a:r>
                      <a:r>
                        <a:rPr lang="ru-RU" sz="1400">
                          <a:effectLst/>
                        </a:rPr>
                        <a:t>сервера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192.168.1.2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755085"/>
                  </a:ext>
                </a:extLst>
              </a:tr>
              <a:tr h="365128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</a:rPr>
                        <a:t>58</a:t>
                      </a:r>
                      <a:endParaRPr lang="ru-RU" sz="1400">
                        <a:effectLst/>
                      </a:endParaRP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400" dirty="0">
                          <a:effectLst/>
                        </a:rPr>
                        <a:t>Renewal Time (T1)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Время первой попытки продления аренды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43200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384362"/>
                  </a:ext>
                </a:extLst>
              </a:tr>
              <a:tr h="520685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</a:rPr>
                        <a:t>59</a:t>
                      </a:r>
                      <a:endParaRPr lang="ru-RU" sz="1400">
                        <a:effectLst/>
                      </a:endParaRP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400">
                          <a:effectLst/>
                        </a:rPr>
                        <a:t>Rebinding Time (T2)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Время повторной попытки продления аренды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75600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7942457"/>
                  </a:ext>
                </a:extLst>
              </a:tr>
              <a:tr h="744827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</a:rPr>
                        <a:t>66</a:t>
                      </a:r>
                      <a:endParaRPr lang="ru-RU" sz="1400">
                        <a:effectLst/>
                      </a:endParaRP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400">
                          <a:effectLst/>
                        </a:rPr>
                        <a:t>TFTP Server Name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Имя или IP TFTP-сервера (часто используется при PXE-загрузке)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192.168.1.20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493895"/>
                  </a:ext>
                </a:extLst>
              </a:tr>
              <a:tr h="676243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</a:rPr>
                        <a:t>55</a:t>
                      </a:r>
                      <a:endParaRPr lang="ru-RU" sz="1400">
                        <a:effectLst/>
                      </a:endParaRP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af-ZA" sz="1400">
                          <a:effectLst/>
                        </a:rPr>
                        <a:t>Requested Parameters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Список запрашиваемых параметров (байт — параметр)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1,3,6,42</a:t>
                      </a:r>
                    </a:p>
                  </a:txBody>
                  <a:tcPr marL="54013" marR="54013" marT="27007" marB="2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169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179670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DHCP: timers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DHCP-адрес выдаётся сроком на </a:t>
            </a:r>
            <a:r>
              <a:rPr lang="ru-RU" dirty="0" err="1"/>
              <a:t>Lease</a:t>
            </a:r>
            <a:r>
              <a:rPr lang="ru-RU" dirty="0"/>
              <a:t> </a:t>
            </a:r>
            <a:r>
              <a:rPr lang="ru-RU" dirty="0" err="1"/>
              <a:t>Time</a:t>
            </a:r>
            <a:r>
              <a:rPr lang="ru-RU" dirty="0"/>
              <a:t> (время аренды). От этого значения рассчитываются два таймера: T1 и T2. T1 (</a:t>
            </a:r>
            <a:r>
              <a:rPr lang="ru-RU" dirty="0" err="1"/>
              <a:t>Renewal</a:t>
            </a:r>
            <a:r>
              <a:rPr lang="ru-RU" dirty="0"/>
              <a:t>) — 50% от времени аренды; по истечении T1 устройство отправляет DHCPREQUEST именно тому серверу, который выдал адрес. T2 (</a:t>
            </a:r>
            <a:r>
              <a:rPr lang="ru-RU" dirty="0" err="1"/>
              <a:t>Rebinding</a:t>
            </a:r>
            <a:r>
              <a:rPr lang="ru-RU" dirty="0"/>
              <a:t>) — 7/8 от времени аренды; если первый сервер не ответил, устройство рассылает широковещательный запрос, чтобы продлить аренду или получить новый адрес. Если </a:t>
            </a:r>
            <a:r>
              <a:rPr lang="ru-RU" dirty="0" err="1"/>
              <a:t>Lease</a:t>
            </a:r>
            <a:r>
              <a:rPr lang="ru-RU" dirty="0"/>
              <a:t> </a:t>
            </a:r>
            <a:r>
              <a:rPr lang="ru-RU" dirty="0" err="1"/>
              <a:t>Time</a:t>
            </a:r>
            <a:r>
              <a:rPr lang="ru-RU" dirty="0"/>
              <a:t> истёк и никто не продлил адрес, устройство отказывается от него и начинает процедуру получения нового с нуля.</a:t>
            </a:r>
          </a:p>
        </p:txBody>
      </p:sp>
    </p:spTree>
    <p:extLst>
      <p:ext uri="{BB962C8B-B14F-4D97-AF65-F5344CB8AC3E}">
        <p14:creationId xmlns:p14="http://schemas.microsoft.com/office/powerpoint/2010/main" val="302636022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Фрагментация </a:t>
            </a:r>
            <a:r>
              <a:rPr lang="af-ZA" b="1" dirty="0"/>
              <a:t>IPv4-</a:t>
            </a:r>
            <a:r>
              <a:rPr lang="ru-RU" b="1" dirty="0" smtClean="0"/>
              <a:t>пакетов</a:t>
            </a:r>
            <a:endParaRPr lang="ru-RU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570" y="2319827"/>
            <a:ext cx="7331662" cy="3541712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7957039" y="2936521"/>
            <a:ext cx="400929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Identification</a:t>
            </a:r>
            <a:r>
              <a:rPr lang="ru-RU" dirty="0"/>
              <a:t> — ID пакета.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DF-флаг (</a:t>
            </a:r>
            <a:r>
              <a:rPr lang="ru-RU" dirty="0" err="1"/>
              <a:t>Do</a:t>
            </a:r>
            <a:r>
              <a:rPr lang="ru-RU" dirty="0"/>
              <a:t> 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Fragment</a:t>
            </a:r>
            <a:r>
              <a:rPr lang="ru-RU" dirty="0"/>
              <a:t>) — если 1, пакет сбрасывается при превышении MTU.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MF-флаг (</a:t>
            </a:r>
            <a:r>
              <a:rPr lang="ru-RU" dirty="0" err="1"/>
              <a:t>More</a:t>
            </a:r>
            <a:r>
              <a:rPr lang="ru-RU" dirty="0"/>
              <a:t> </a:t>
            </a:r>
            <a:r>
              <a:rPr lang="ru-RU" dirty="0" err="1"/>
              <a:t>Fragments</a:t>
            </a:r>
            <a:r>
              <a:rPr lang="ru-RU" dirty="0"/>
              <a:t>) — 1 для всех частей, кроме последней.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Fragment</a:t>
            </a:r>
            <a:r>
              <a:rPr lang="ru-RU" dirty="0"/>
              <a:t> </a:t>
            </a:r>
            <a:r>
              <a:rPr lang="ru-RU" dirty="0" err="1"/>
              <a:t>Offset</a:t>
            </a:r>
            <a:r>
              <a:rPr lang="ru-RU" dirty="0"/>
              <a:t> — смещение данных блока (кратно 8 байтам).</a:t>
            </a:r>
          </a:p>
        </p:txBody>
      </p:sp>
    </p:spTree>
    <p:extLst>
      <p:ext uri="{BB962C8B-B14F-4D97-AF65-F5344CB8AC3E}">
        <p14:creationId xmlns:p14="http://schemas.microsoft.com/office/powerpoint/2010/main" val="134646950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 какой </a:t>
            </a:r>
            <a:r>
              <a:rPr lang="ru-RU" dirty="0" err="1"/>
              <a:t>Next-hop</a:t>
            </a:r>
            <a:r>
              <a:rPr lang="ru-RU" dirty="0"/>
              <a:t> роутер отправит пакет </a:t>
            </a:r>
            <a:r>
              <a:rPr lang="ru-RU" dirty="0" smtClean="0"/>
              <a:t>с </a:t>
            </a:r>
            <a:r>
              <a:rPr lang="en-US" dirty="0" smtClean="0"/>
              <a:t>IP-</a:t>
            </a:r>
            <a:r>
              <a:rPr lang="ru-RU" dirty="0" smtClean="0"/>
              <a:t>адресом назначения 172.16.12.50 и </a:t>
            </a:r>
            <a:r>
              <a:rPr lang="ru-RU" dirty="0"/>
              <a:t>почему?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af-ZA" dirty="0"/>
              <a:t>0.0.0.0/0 → Next-hop: 10.0.0.1 (</a:t>
            </a:r>
            <a:r>
              <a:rPr lang="ru-RU" dirty="0"/>
              <a:t>Шлюз по умолчанию)</a:t>
            </a:r>
          </a:p>
          <a:p>
            <a:r>
              <a:rPr lang="ru-RU" dirty="0"/>
              <a:t>172.16.0.0/16 → </a:t>
            </a:r>
            <a:r>
              <a:rPr lang="af-ZA" dirty="0"/>
              <a:t>Next-hop: 10.0.0.2</a:t>
            </a:r>
          </a:p>
          <a:p>
            <a:r>
              <a:rPr lang="af-ZA" dirty="0"/>
              <a:t>172.16.12.0/24 → Next-hop: 10.0.0.3</a:t>
            </a:r>
          </a:p>
          <a:p>
            <a:r>
              <a:rPr lang="af-ZA" dirty="0"/>
              <a:t>172.16.12.0/25 → Next-hop: 10.0.0.4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387904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422031"/>
            <a:ext cx="9905999" cy="60666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Компьютер </a:t>
            </a:r>
            <a:r>
              <a:rPr lang="af-ZA" dirty="0"/>
              <a:t>PC-1 </a:t>
            </a:r>
            <a:r>
              <a:rPr lang="ru-RU" dirty="0"/>
              <a:t>отправляет </a:t>
            </a:r>
            <a:r>
              <a:rPr lang="af-ZA" dirty="0"/>
              <a:t>HTTP-</a:t>
            </a:r>
            <a:r>
              <a:rPr lang="ru-RU" dirty="0"/>
              <a:t>запрос на </a:t>
            </a:r>
            <a:r>
              <a:rPr lang="af-ZA" dirty="0"/>
              <a:t>Web-Server </a:t>
            </a:r>
            <a:r>
              <a:rPr lang="ru-RU" dirty="0"/>
              <a:t>через шлюз </a:t>
            </a:r>
            <a:r>
              <a:rPr lang="af-ZA" dirty="0" smtClean="0"/>
              <a:t>Router-1</a:t>
            </a:r>
            <a:r>
              <a:rPr lang="ru-RU" dirty="0"/>
              <a:t>:</a:t>
            </a:r>
            <a:endParaRPr lang="af-ZA" dirty="0"/>
          </a:p>
          <a:p>
            <a:r>
              <a:rPr lang="af-ZA" dirty="0"/>
              <a:t>PC-1: IP 192.168.1.10, MAC 11:11:11:11:11:11</a:t>
            </a:r>
          </a:p>
          <a:p>
            <a:r>
              <a:rPr lang="af-ZA" dirty="0"/>
              <a:t>Router-1 (</a:t>
            </a:r>
            <a:r>
              <a:rPr lang="ru-RU" dirty="0"/>
              <a:t>внутренний интерфейс): </a:t>
            </a:r>
            <a:r>
              <a:rPr lang="af-ZA" dirty="0"/>
              <a:t>IP 192.168.1.1, MAC 22:22:22:22:22:22</a:t>
            </a:r>
          </a:p>
          <a:p>
            <a:r>
              <a:rPr lang="af-ZA" dirty="0"/>
              <a:t>Router-1 (</a:t>
            </a:r>
            <a:r>
              <a:rPr lang="ru-RU" dirty="0"/>
              <a:t>внешний интерфейс): </a:t>
            </a:r>
            <a:r>
              <a:rPr lang="af-ZA" dirty="0"/>
              <a:t>IP 203.0.113.1, MAC 33:33:33:33:33:33</a:t>
            </a:r>
          </a:p>
          <a:p>
            <a:r>
              <a:rPr lang="af-ZA" dirty="0"/>
              <a:t>Web-Server: IP 93.184.216.34, MAC </a:t>
            </a:r>
            <a:r>
              <a:rPr lang="af-ZA" dirty="0" smtClean="0"/>
              <a:t>44:44:44:44:44:44</a:t>
            </a:r>
            <a:endParaRPr lang="ru-RU" dirty="0" smtClean="0"/>
          </a:p>
          <a:p>
            <a:pPr marL="0" indent="0">
              <a:buNone/>
            </a:pPr>
            <a:r>
              <a:rPr lang="ru-RU" dirty="0"/>
              <a:t>Заполните значения полей заголовков в кадре на участке между </a:t>
            </a:r>
            <a:r>
              <a:rPr lang="af-ZA" dirty="0"/>
              <a:t>PC-1 </a:t>
            </a:r>
            <a:r>
              <a:rPr lang="ru-RU" dirty="0"/>
              <a:t>и </a:t>
            </a:r>
            <a:r>
              <a:rPr lang="af-ZA" dirty="0"/>
              <a:t>Router-1</a:t>
            </a:r>
            <a:r>
              <a:rPr lang="af-ZA" dirty="0" smtClean="0"/>
              <a:t>:</a:t>
            </a:r>
            <a:endParaRPr lang="af-ZA" dirty="0"/>
          </a:p>
          <a:p>
            <a:pPr marL="457200" lvl="1" indent="0">
              <a:buNone/>
            </a:pPr>
            <a:r>
              <a:rPr lang="af-ZA" dirty="0"/>
              <a:t>Source IP: _______________________</a:t>
            </a:r>
          </a:p>
          <a:p>
            <a:pPr marL="457200" lvl="1" indent="0">
              <a:buNone/>
            </a:pPr>
            <a:r>
              <a:rPr lang="af-ZA" dirty="0"/>
              <a:t>Destination IP: _______________________</a:t>
            </a:r>
          </a:p>
          <a:p>
            <a:pPr marL="457200" lvl="1" indent="0">
              <a:buNone/>
            </a:pPr>
            <a:r>
              <a:rPr lang="af-ZA" dirty="0"/>
              <a:t>Source MAC: _______________________</a:t>
            </a:r>
          </a:p>
          <a:p>
            <a:pPr marL="457200" lvl="1" indent="0">
              <a:buNone/>
            </a:pPr>
            <a:r>
              <a:rPr lang="af-ZA" dirty="0"/>
              <a:t>Destination MAC: _______________________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425719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712176"/>
            <a:ext cx="9905999" cy="55215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 офисной сети 192.168.1.0/24 находятся</a:t>
            </a:r>
            <a:r>
              <a:rPr lang="ru-RU" dirty="0" smtClean="0"/>
              <a:t>:</a:t>
            </a:r>
            <a:endParaRPr lang="ru-RU" dirty="0"/>
          </a:p>
          <a:p>
            <a:pPr lvl="1"/>
            <a:r>
              <a:rPr lang="ru-RU" dirty="0"/>
              <a:t>ПК сотрудника (192.168.1.15)</a:t>
            </a:r>
          </a:p>
          <a:p>
            <a:pPr lvl="1"/>
            <a:r>
              <a:rPr lang="ru-RU" dirty="0"/>
              <a:t>Локальный файловый сервер (192.168.1.200)</a:t>
            </a:r>
          </a:p>
          <a:p>
            <a:pPr lvl="1"/>
            <a:r>
              <a:rPr lang="ru-RU" dirty="0"/>
              <a:t>Основной шлюз / маршрутизатор (192.168.1.1</a:t>
            </a:r>
            <a:r>
              <a:rPr lang="ru-RU" dirty="0" smtClean="0"/>
              <a:t>)</a:t>
            </a:r>
          </a:p>
          <a:p>
            <a:pPr marL="0" indent="0">
              <a:buNone/>
            </a:pPr>
            <a:r>
              <a:rPr lang="ru-RU" dirty="0"/>
              <a:t>Внезапно шлюз 192.168.1.1 полностью вышел из строя (отключилось питание).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Вопрос</a:t>
            </a:r>
            <a:r>
              <a:rPr lang="ru-RU" dirty="0"/>
              <a:t>: Сможет ли сотрудник продолжить скачивать файлы с локального сервера 192.168.1.200? Обоснуйте ответ, опираясь на концепцию прямой/косвенной доставки.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06955375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Расставьте события жизненного цикла IP-адреса в хронологическом порядке (от 1 до 6):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 smtClean="0"/>
              <a:t>[ </a:t>
            </a:r>
            <a:r>
              <a:rPr lang="ru-RU" b="1" dirty="0"/>
              <a:t>]</a:t>
            </a:r>
            <a:r>
              <a:rPr lang="ru-RU" dirty="0"/>
              <a:t> Клиент отправляет </a:t>
            </a:r>
            <a:r>
              <a:rPr lang="ru-RU" b="1" dirty="0"/>
              <a:t>DHCPDISCOVER</a:t>
            </a:r>
            <a:r>
              <a:rPr lang="ru-RU" dirty="0"/>
              <a:t> (широковещательно).</a:t>
            </a:r>
          </a:p>
          <a:p>
            <a:r>
              <a:rPr lang="ru-RU" b="1" dirty="0"/>
              <a:t>[ ]</a:t>
            </a:r>
            <a:r>
              <a:rPr lang="ru-RU" dirty="0"/>
              <a:t> Сервер отвечает подтверждением </a:t>
            </a:r>
            <a:r>
              <a:rPr lang="ru-RU" b="1" dirty="0"/>
              <a:t>DHCPACK</a:t>
            </a:r>
            <a:r>
              <a:rPr lang="ru-RU" dirty="0"/>
              <a:t>.</a:t>
            </a:r>
          </a:p>
          <a:p>
            <a:r>
              <a:rPr lang="ru-RU" b="1" dirty="0"/>
              <a:t>[ ]</a:t>
            </a:r>
            <a:r>
              <a:rPr lang="ru-RU" dirty="0"/>
              <a:t> Сервер отправляет предложение </a:t>
            </a:r>
            <a:r>
              <a:rPr lang="ru-RU" b="1" dirty="0"/>
              <a:t>DHCPOFFER</a:t>
            </a:r>
            <a:r>
              <a:rPr lang="ru-RU" dirty="0"/>
              <a:t>.</a:t>
            </a:r>
          </a:p>
          <a:p>
            <a:r>
              <a:rPr lang="ru-RU" b="1" dirty="0"/>
              <a:t>[ ]</a:t>
            </a:r>
            <a:r>
              <a:rPr lang="ru-RU" dirty="0"/>
              <a:t> Наступает таймер </a:t>
            </a:r>
            <a:r>
              <a:rPr lang="ru-RU" b="1" dirty="0"/>
              <a:t>T1 (50% времени)</a:t>
            </a:r>
            <a:r>
              <a:rPr lang="ru-RU" dirty="0"/>
              <a:t>: клиент отправляет одноадресный запрос продления.</a:t>
            </a:r>
          </a:p>
          <a:p>
            <a:r>
              <a:rPr lang="ru-RU" b="1" dirty="0"/>
              <a:t>[ ]</a:t>
            </a:r>
            <a:r>
              <a:rPr lang="ru-RU" dirty="0"/>
              <a:t> Клиент отправляет </a:t>
            </a:r>
            <a:r>
              <a:rPr lang="ru-RU" b="1" dirty="0"/>
              <a:t>DHCPREQUEST</a:t>
            </a:r>
            <a:r>
              <a:rPr lang="ru-RU" dirty="0"/>
              <a:t> (принимает предложение).</a:t>
            </a:r>
          </a:p>
          <a:p>
            <a:r>
              <a:rPr lang="ru-RU" b="1" dirty="0"/>
              <a:t>[ ]</a:t>
            </a:r>
            <a:r>
              <a:rPr lang="ru-RU" dirty="0"/>
              <a:t> Наступает таймер </a:t>
            </a:r>
            <a:r>
              <a:rPr lang="ru-RU" b="1" dirty="0"/>
              <a:t>T2 (87.5% времени)</a:t>
            </a:r>
            <a:r>
              <a:rPr lang="ru-RU" dirty="0"/>
              <a:t>: клиент рассылает широковещательный запрос на продление всем серверам.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208836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«Рекурсивный поиск» (Маршрутизация</a:t>
            </a:r>
            <a:r>
              <a:rPr lang="ru-RU" b="1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1704364"/>
            <a:ext cx="9905999" cy="2946767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Узел анализирует свою таблицу маршрутизации для отправки пакета на адрес </a:t>
            </a:r>
            <a:r>
              <a:rPr lang="ru-RU" dirty="0" smtClean="0"/>
              <a:t>10.5.5.5.</a:t>
            </a:r>
          </a:p>
          <a:p>
            <a:pPr marL="0" indent="0">
              <a:buNone/>
            </a:pPr>
            <a:r>
              <a:rPr lang="ru-RU" b="1" dirty="0"/>
              <a:t>Вопрос</a:t>
            </a:r>
            <a:r>
              <a:rPr lang="ru-RU" dirty="0"/>
              <a:t>: Через какой физический интерфейс (Eth0 или другой) и на какой MAC-адрес (шлюза по умолчанию 192.168.1.1 или маршрутизатора 192.168.1.254) в итоге будет отправлен кадр? Опишите логику двух шагов поиска.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573168"/>
              </p:ext>
            </p:extLst>
          </p:nvPr>
        </p:nvGraphicFramePr>
        <p:xfrm>
          <a:off x="1220544" y="4651131"/>
          <a:ext cx="9906000" cy="1478280"/>
        </p:xfrm>
        <a:graphic>
          <a:graphicData uri="http://schemas.openxmlformats.org/drawingml/2006/table">
            <a:tbl>
              <a:tblPr/>
              <a:tblGrid>
                <a:gridCol w="3302000">
                  <a:extLst>
                    <a:ext uri="{9D8B030D-6E8A-4147-A177-3AD203B41FA5}">
                      <a16:colId xmlns:a16="http://schemas.microsoft.com/office/drawing/2014/main" val="3456183535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987054999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6868774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</a:rPr>
                        <a:t>Сеть назначения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</a:rPr>
                        <a:t>Маска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f-ZA" b="1" dirty="0">
                          <a:effectLst/>
                        </a:rPr>
                        <a:t>Next-hop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1108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192.168.1.0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255.255.255.0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f-ZA" dirty="0">
                          <a:effectLst/>
                        </a:rPr>
                        <a:t>Eth0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4943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10.5.5.0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255.255.255.0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192.168.1.254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90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0.0.0.0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0.0.0.0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192.168.1.1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2308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65754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Для каждой ситуации определите, какой тип ARP-сообщения будет сгенерирован (Обычный</a:t>
            </a:r>
            <a:r>
              <a:rPr lang="ru-RU" b="1" dirty="0"/>
              <a:t> ARP </a:t>
            </a:r>
            <a:r>
              <a:rPr lang="ru-RU" b="1" dirty="0" err="1"/>
              <a:t>Request</a:t>
            </a:r>
            <a:r>
              <a:rPr lang="ru-RU" dirty="0"/>
              <a:t> или </a:t>
            </a:r>
            <a:r>
              <a:rPr lang="ru-RU" b="1" dirty="0" err="1"/>
              <a:t>Gratuitous</a:t>
            </a:r>
            <a:r>
              <a:rPr lang="ru-RU" b="1" dirty="0"/>
              <a:t> ARP</a:t>
            </a:r>
            <a:r>
              <a:rPr lang="ru-RU" dirty="0"/>
              <a:t>):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Компьютер только что включился и хочет убедиться, что его статический IP не занят кем-то другим в сети. </a:t>
            </a:r>
          </a:p>
          <a:p>
            <a:pPr marL="0" indent="0">
              <a:buNone/>
            </a:pPr>
            <a:r>
              <a:rPr lang="ru-RU" dirty="0"/>
              <a:t>→ [ ____________ ]</a:t>
            </a:r>
          </a:p>
          <a:p>
            <a:pPr marL="0" indent="0">
              <a:buNone/>
            </a:pPr>
            <a:r>
              <a:rPr lang="ru-RU" dirty="0"/>
              <a:t>Компьютер хочет отправить пакет на IP 192.168.1.50, но не знает его MAC-адрес. </a:t>
            </a:r>
          </a:p>
          <a:p>
            <a:pPr marL="0" indent="0">
              <a:buNone/>
            </a:pPr>
            <a:r>
              <a:rPr lang="ru-RU" dirty="0"/>
              <a:t>→ [ ____________ ]</a:t>
            </a:r>
          </a:p>
          <a:p>
            <a:pPr marL="0" indent="0">
              <a:buNone/>
            </a:pPr>
            <a:r>
              <a:rPr lang="ru-RU" dirty="0"/>
              <a:t>На сервере заменили сетевую карту (изменился MAC-адрес при сохранении прежнего IP), и нужно немедленно обновить кэш соседей. </a:t>
            </a:r>
          </a:p>
          <a:p>
            <a:pPr marL="0" indent="0">
              <a:buNone/>
            </a:pPr>
            <a:r>
              <a:rPr lang="ru-RU" dirty="0"/>
              <a:t>→ [ ____________ ]</a:t>
            </a:r>
          </a:p>
        </p:txBody>
      </p:sp>
    </p:spTree>
    <p:extLst>
      <p:ext uri="{BB962C8B-B14F-4D97-AF65-F5344CB8AC3E}">
        <p14:creationId xmlns:p14="http://schemas.microsoft.com/office/powerpoint/2010/main" val="330260042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Маршрутизатор получил пакет общего размера 3000 байт (заголовок IP = 20 байт, полезная нагрузка = 2980 байт).</a:t>
            </a:r>
            <a:br>
              <a:rPr lang="ru-RU" b="1" dirty="0"/>
            </a:br>
            <a:r>
              <a:rPr lang="ru-RU" b="1" dirty="0"/>
              <a:t>Следующий канал связи имеет MTU = 1500 байт.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2636349"/>
            <a:ext cx="9905999" cy="35417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Ответьте на вопросы</a:t>
            </a:r>
            <a:r>
              <a:rPr lang="ru-RU" dirty="0" smtClean="0"/>
              <a:t>:</a:t>
            </a:r>
            <a:endParaRPr lang="ru-RU" dirty="0"/>
          </a:p>
          <a:p>
            <a:r>
              <a:rPr lang="ru-RU" dirty="0"/>
              <a:t>На сколько фрагментов маршрутизатор разобьёт этот пакет?</a:t>
            </a:r>
          </a:p>
          <a:p>
            <a:r>
              <a:rPr lang="ru-RU" dirty="0"/>
              <a:t>Какое значение флага MF (</a:t>
            </a:r>
            <a:r>
              <a:rPr lang="ru-RU" dirty="0" err="1"/>
              <a:t>More</a:t>
            </a:r>
            <a:r>
              <a:rPr lang="ru-RU" dirty="0"/>
              <a:t> </a:t>
            </a:r>
            <a:r>
              <a:rPr lang="ru-RU" dirty="0" err="1"/>
              <a:t>Fragments</a:t>
            </a:r>
            <a:r>
              <a:rPr lang="ru-RU" dirty="0"/>
              <a:t>) будет у первого фрагмента (0 или 1)?</a:t>
            </a:r>
          </a:p>
          <a:p>
            <a:r>
              <a:rPr lang="ru-RU" dirty="0"/>
              <a:t>Какое значение флага MF будет у последнего фрагмента (0 или 1)?</a:t>
            </a:r>
          </a:p>
          <a:p>
            <a:r>
              <a:rPr lang="ru-RU" dirty="0"/>
              <a:t>Что произойдёт с пакетом, если в его заголовке изначально был установлен флаг DF = 1 (</a:t>
            </a:r>
            <a:r>
              <a:rPr lang="ru-RU" dirty="0" err="1"/>
              <a:t>Do</a:t>
            </a:r>
            <a:r>
              <a:rPr lang="ru-RU" dirty="0"/>
              <a:t> 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Fragment</a:t>
            </a:r>
            <a:r>
              <a:rPr lang="ru-RU" dirty="0"/>
              <a:t>)?</a:t>
            </a:r>
          </a:p>
        </p:txBody>
      </p:sp>
    </p:spTree>
    <p:extLst>
      <p:ext uri="{BB962C8B-B14F-4D97-AF65-F5344CB8AC3E}">
        <p14:creationId xmlns:p14="http://schemas.microsoft.com/office/powerpoint/2010/main" val="298201154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970210"/>
            <a:ext cx="9905998" cy="1478570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Какой </a:t>
            </a:r>
            <a:r>
              <a:rPr lang="ru-RU" b="1" dirty="0"/>
              <a:t>одной</a:t>
            </a:r>
            <a:r>
              <a:rPr lang="ru-RU" dirty="0"/>
              <a:t> агрегированной записью (адрес сети и префикс маски) центральный маршрутизатор может описать все четыре подсети сразу, чтобы минимизировать размер таблицы маршрутизации?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3190263"/>
            <a:ext cx="9905999" cy="2656621"/>
          </a:xfrm>
        </p:spPr>
        <p:txBody>
          <a:bodyPr/>
          <a:lstStyle/>
          <a:p>
            <a:r>
              <a:rPr lang="ru-RU" dirty="0"/>
              <a:t>10.20.0.0/24</a:t>
            </a:r>
          </a:p>
          <a:p>
            <a:r>
              <a:rPr lang="ru-RU" dirty="0"/>
              <a:t>10.20.1.0/24</a:t>
            </a:r>
          </a:p>
          <a:p>
            <a:r>
              <a:rPr lang="ru-RU" dirty="0"/>
              <a:t>10.20.2.0/24</a:t>
            </a:r>
          </a:p>
          <a:p>
            <a:r>
              <a:rPr lang="ru-RU" dirty="0"/>
              <a:t>10.20.3.0/24</a:t>
            </a:r>
          </a:p>
        </p:txBody>
      </p:sp>
    </p:spTree>
    <p:extLst>
      <p:ext uri="{BB962C8B-B14F-4D97-AF65-F5344CB8AC3E}">
        <p14:creationId xmlns:p14="http://schemas.microsoft.com/office/powerpoint/2010/main" val="106225449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Распределите устройства по двум группам (</a:t>
            </a:r>
            <a:r>
              <a:rPr lang="ru-RU" b="1" dirty="0"/>
              <a:t>Группа А: Только статический IP</a:t>
            </a:r>
            <a:r>
              <a:rPr lang="ru-RU" dirty="0"/>
              <a:t> / </a:t>
            </a:r>
            <a:r>
              <a:rPr lang="ru-RU" b="1" dirty="0"/>
              <a:t>Группа Б: Рекомендуется DHCP</a:t>
            </a:r>
            <a:r>
              <a:rPr lang="ru-RU" dirty="0"/>
              <a:t>):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Сетевое хранилище компании (NAS с базами данных)</a:t>
            </a:r>
          </a:p>
          <a:p>
            <a:r>
              <a:rPr lang="ru-RU" dirty="0"/>
              <a:t>Смартфон посетителя в гостевом </a:t>
            </a:r>
            <a:r>
              <a:rPr lang="ru-RU" dirty="0" err="1"/>
              <a:t>Wi-Fi</a:t>
            </a:r>
            <a:endParaRPr lang="ru-RU" dirty="0"/>
          </a:p>
          <a:p>
            <a:r>
              <a:rPr lang="ru-RU" dirty="0"/>
              <a:t>Основной офисный сетевой принтер/МФУ</a:t>
            </a:r>
          </a:p>
          <a:p>
            <a:r>
              <a:rPr lang="ru-RU" dirty="0"/>
              <a:t>Ноутбук менеджера по продажам</a:t>
            </a:r>
          </a:p>
          <a:p>
            <a:r>
              <a:rPr lang="ru-RU" dirty="0"/>
              <a:t>Камера видеонаблюдения, пишущая поток на </a:t>
            </a:r>
            <a:r>
              <a:rPr lang="ru-RU" dirty="0" smtClean="0"/>
              <a:t>видеорегистратор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7683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Контур</Template>
  <TotalTime>1234</TotalTime>
  <Words>3333</Words>
  <Application>Microsoft Office PowerPoint</Application>
  <PresentationFormat>Широкоэкранный</PresentationFormat>
  <Paragraphs>741</Paragraphs>
  <Slides>90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90</vt:i4>
      </vt:variant>
    </vt:vector>
  </HeadingPairs>
  <TitlesOfParts>
    <vt:vector size="95" baseType="lpstr">
      <vt:lpstr>Arial</vt:lpstr>
      <vt:lpstr>Calibri</vt:lpstr>
      <vt:lpstr>Trebuchet MS</vt:lpstr>
      <vt:lpstr>Tw Cen MT</vt:lpstr>
      <vt:lpstr>Контур</vt:lpstr>
      <vt:lpstr>Сетевой уровень (L3): Протокол IP, Маршрутизация и адресация</vt:lpstr>
      <vt:lpstr>Проблемы канального уровня (Зачем нужен L3?)</vt:lpstr>
      <vt:lpstr>Функции сетевого уровня</vt:lpstr>
      <vt:lpstr>IP — Internet Protocol</vt:lpstr>
      <vt:lpstr>Инкапсуляция IP</vt:lpstr>
      <vt:lpstr>Инкапсуляция IP</vt:lpstr>
      <vt:lpstr>Инкапсуляция IP</vt:lpstr>
      <vt:lpstr>Модель обслуживания IP – best effort</vt:lpstr>
      <vt:lpstr>Формат IP-пакета</vt:lpstr>
      <vt:lpstr>Структура IPv4-адреса</vt:lpstr>
      <vt:lpstr>Из двоичной в десятичную</vt:lpstr>
      <vt:lpstr>Из десятичной в двоичную</vt:lpstr>
      <vt:lpstr>Классовая адресация</vt:lpstr>
      <vt:lpstr>Недостатки классовой адресации</vt:lpstr>
      <vt:lpstr>CIDR (Classless Inter-Domain Routing)</vt:lpstr>
      <vt:lpstr>Связь адреса IPv4 с маской подсети</vt:lpstr>
      <vt:lpstr>использование масок подсети фиксированной длины</vt:lpstr>
      <vt:lpstr>     192.            168.            20.                0  11000000 . 10101000 . 00010100 . 00000000       255.           255.             255.             0  11111111 . 11111111 . 11111111 . 00000000 </vt:lpstr>
      <vt:lpstr>     192.            168.            20.                0  11000000 . 10101000 . 00010100 . 00000000 </vt:lpstr>
      <vt:lpstr>11000000 . 10101000 . 00010100 .  </vt:lpstr>
      <vt:lpstr>11000000 . 10101000 . 00010100 . </vt:lpstr>
      <vt:lpstr>11000000 . 10101000 . 00010100 . </vt:lpstr>
      <vt:lpstr>Презентация PowerPoint</vt:lpstr>
      <vt:lpstr>Презентация PowerPoint</vt:lpstr>
      <vt:lpstr>использование масок подсети фиксированной длины</vt:lpstr>
      <vt:lpstr>Маски подсети переменной длины</vt:lpstr>
      <vt:lpstr>Маски подсети переменной длины</vt:lpstr>
      <vt:lpstr>Маски подсети переменной длины</vt:lpstr>
      <vt:lpstr>Маски подсети переменной длины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Прямая и косвенная доставка</vt:lpstr>
      <vt:lpstr>Маршрутизация и пересылка</vt:lpstr>
      <vt:lpstr>Таблица маршрутизации</vt:lpstr>
      <vt:lpstr>Таблица маршрутизации</vt:lpstr>
      <vt:lpstr>Использование сетевой маски для определения принадлежности узла к сети</vt:lpstr>
      <vt:lpstr>Использование сетевой маски для определения принадлежности узла к сети</vt:lpstr>
      <vt:lpstr>Логическое И</vt:lpstr>
      <vt:lpstr>Использование сетевой маски для определения принадлежности узла к сети</vt:lpstr>
      <vt:lpstr>Исключающее или не</vt:lpstr>
      <vt:lpstr>Использование сетевой маски для определения принадлежности узла к сети</vt:lpstr>
      <vt:lpstr>Поиск по таблице маршрутизации</vt:lpstr>
      <vt:lpstr>Поиск по таблице маршрутизации</vt:lpstr>
      <vt:lpstr>Поиск по таблице маршрутизации</vt:lpstr>
      <vt:lpstr>Поиск по таблице маршрутизации</vt:lpstr>
      <vt:lpstr>Поиск по таблице маршрутизации</vt:lpstr>
      <vt:lpstr>Поиск по таблице маршрутизации</vt:lpstr>
      <vt:lpstr>Поиск по таблице маршрутизации</vt:lpstr>
      <vt:lpstr>Рекурсивная маршрутизация</vt:lpstr>
      <vt:lpstr>Longest Prefix Match</vt:lpstr>
      <vt:lpstr>Longest Prefix Match</vt:lpstr>
      <vt:lpstr>Longest Prefix Match</vt:lpstr>
      <vt:lpstr>Longest Prefix Match</vt:lpstr>
      <vt:lpstr>Выбор лучшего маршрута</vt:lpstr>
      <vt:lpstr>Агрегация (суммирование) маршрутов - route aggregation</vt:lpstr>
      <vt:lpstr>TTL – Time to live</vt:lpstr>
      <vt:lpstr>Статическая маршрутизация</vt:lpstr>
      <vt:lpstr>Динамическая маршрутизация</vt:lpstr>
      <vt:lpstr>Протокол ARP (Связка L3 и L2)</vt:lpstr>
      <vt:lpstr>Протокол ARP (Связка L3 и L2)</vt:lpstr>
      <vt:lpstr>Протокол ARP (Связка L3 и L2)</vt:lpstr>
      <vt:lpstr>Протокол ARP (Связка L3 и L2)</vt:lpstr>
      <vt:lpstr>Протокол ARP (Связка L3 и L2)</vt:lpstr>
      <vt:lpstr>Протокол ARP (Связка L3 и L2)</vt:lpstr>
      <vt:lpstr>Протокол ARP (Связка L3 и L2)</vt:lpstr>
      <vt:lpstr>Gratuitous ARP</vt:lpstr>
      <vt:lpstr>Протокол ICMP и утилиты диагностики</vt:lpstr>
      <vt:lpstr>Протокол ICMP и утилиты диагностики</vt:lpstr>
      <vt:lpstr>Протокол ICMP и утилиты диагностики</vt:lpstr>
      <vt:lpstr>Конфигурация IP-адресов</vt:lpstr>
      <vt:lpstr>Автоматическая настройка: Протокол DHCP</vt:lpstr>
      <vt:lpstr>DCHP: получение адреса</vt:lpstr>
      <vt:lpstr>DCHP: получение адреса</vt:lpstr>
      <vt:lpstr>DHCP: формат сообщения</vt:lpstr>
      <vt:lpstr>DHCP options</vt:lpstr>
      <vt:lpstr>DHCP: timers</vt:lpstr>
      <vt:lpstr>Фрагментация IPv4-пакетов</vt:lpstr>
      <vt:lpstr>На какой Next-hop роутер отправит пакет с IP-адресом назначения 172.16.12.50 и почему?</vt:lpstr>
      <vt:lpstr>Презентация PowerPoint</vt:lpstr>
      <vt:lpstr>Презентация PowerPoint</vt:lpstr>
      <vt:lpstr>Расставьте события жизненного цикла IP-адреса в хронологическом порядке (от 1 до 6):</vt:lpstr>
      <vt:lpstr>«Рекурсивный поиск» (Маршрутизация)</vt:lpstr>
      <vt:lpstr>Для каждой ситуации определите, какой тип ARP-сообщения будет сгенерирован (Обычный ARP Request или Gratuitous ARP):</vt:lpstr>
      <vt:lpstr>Маршрутизатор получил пакет общего размера 3000 байт (заголовок IP = 20 байт, полезная нагрузка = 2980 байт). Следующий канал связи имеет MTU = 1500 байт.</vt:lpstr>
      <vt:lpstr>Какой одной агрегированной записью (адрес сети и префикс маски) центральный маршрутизатор может описать все четыре подсети сразу, чтобы минимизировать размер таблицы маршрутизации?</vt:lpstr>
      <vt:lpstr>Распределите устройства по двум группам (Группа А: Только статический IP / Группа Б: Рекомендуется DHCP):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Сетевой уровень (L3): Протокол IP, Маршрутизация и адресация</dc:title>
  <dc:creator>Тимур А. Нахтигаль</dc:creator>
  <cp:lastModifiedBy>Тимур А. Нахтигаль</cp:lastModifiedBy>
  <cp:revision>66</cp:revision>
  <dcterms:created xsi:type="dcterms:W3CDTF">2026-08-28T07:22:13Z</dcterms:created>
  <dcterms:modified xsi:type="dcterms:W3CDTF">2026-09-16T21:01:27Z</dcterms:modified>
</cp:coreProperties>
</file>