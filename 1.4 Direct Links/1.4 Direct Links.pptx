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74" r:id="rId11"/>
    <p:sldId id="273" r:id="rId12"/>
    <p:sldId id="275" r:id="rId13"/>
    <p:sldId id="276" r:id="rId14"/>
    <p:sldId id="265" r:id="rId15"/>
    <p:sldId id="266" r:id="rId16"/>
    <p:sldId id="267" r:id="rId17"/>
    <p:sldId id="264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02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824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0819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754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624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73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430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68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594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58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752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9582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7923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5322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138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751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763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207A7-6A00-4516-866C-43D057526ED9}" type="datetimeFigureOut">
              <a:rPr lang="ru-RU" smtClean="0"/>
              <a:t>09.09.2026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F9FF9-3E6A-4D06-83E0-A676640042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5883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Канальный уровень. Кодирование, кадрирование и классический </a:t>
            </a:r>
            <a:r>
              <a:rPr lang="ru-RU" b="1" dirty="0" err="1" smtClean="0"/>
              <a:t>Ethernet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849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Основные задачи канального уровня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Кодирование (</a:t>
            </a:r>
            <a:r>
              <a:rPr lang="ru-RU" b="1" dirty="0" err="1"/>
              <a:t>Encoding</a:t>
            </a:r>
            <a:r>
              <a:rPr lang="ru-RU" b="1" dirty="0"/>
              <a:t>):</a:t>
            </a:r>
            <a:r>
              <a:rPr lang="ru-RU" dirty="0"/>
              <a:t> преобразование бит в физические сигналы (напряжение, свет, радиоволна).</a:t>
            </a:r>
          </a:p>
          <a:p>
            <a:r>
              <a:rPr lang="ru-RU" b="1" dirty="0"/>
              <a:t>Кадрирование (</a:t>
            </a:r>
            <a:r>
              <a:rPr lang="ru-RU" b="1" dirty="0" err="1"/>
              <a:t>Framing</a:t>
            </a:r>
            <a:r>
              <a:rPr lang="ru-RU" b="1" dirty="0"/>
              <a:t>):</a:t>
            </a:r>
            <a:r>
              <a:rPr lang="ru-RU" dirty="0"/>
              <a:t> выделение границ сообщений (кадров/фреймов) из непрерывного потока сигналов.</a:t>
            </a:r>
          </a:p>
          <a:p>
            <a:r>
              <a:rPr lang="ru-RU" b="1" dirty="0"/>
              <a:t>Обнаружение ошибок (</a:t>
            </a:r>
            <a:r>
              <a:rPr lang="ru-RU" b="1" dirty="0" err="1"/>
              <a:t>Error</a:t>
            </a:r>
            <a:r>
              <a:rPr lang="ru-RU" b="1" dirty="0"/>
              <a:t> </a:t>
            </a:r>
            <a:r>
              <a:rPr lang="ru-RU" b="1" dirty="0" err="1"/>
              <a:t>Detection</a:t>
            </a:r>
            <a:r>
              <a:rPr lang="ru-RU" b="1" dirty="0"/>
              <a:t>):</a:t>
            </a:r>
            <a:r>
              <a:rPr lang="ru-RU" dirty="0"/>
              <a:t> выявление повреждений битов из-за шумов в среде (контрольные суммы, CRC).</a:t>
            </a:r>
          </a:p>
          <a:p>
            <a:r>
              <a:rPr lang="ru-RU" b="1" dirty="0"/>
              <a:t>Обеспечение надежности (</a:t>
            </a:r>
            <a:r>
              <a:rPr lang="ru-RU" b="1" dirty="0" err="1"/>
              <a:t>Reliability</a:t>
            </a:r>
            <a:r>
              <a:rPr lang="ru-RU" b="1" dirty="0"/>
              <a:t>):</a:t>
            </a:r>
            <a:r>
              <a:rPr lang="ru-RU" dirty="0"/>
              <a:t> повторная передача утерянных данных (в TCP/IP вынесено на транспортный уровень TCP).</a:t>
            </a:r>
          </a:p>
          <a:p>
            <a:r>
              <a:rPr lang="ru-RU" b="1" dirty="0"/>
              <a:t>Управление доступом к среде (MAC):</a:t>
            </a:r>
            <a:r>
              <a:rPr lang="ru-RU" dirty="0"/>
              <a:t> координация узлов при разделении общего физического канала.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4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Физическое </a:t>
            </a:r>
            <a:r>
              <a:rPr lang="ru-RU" b="1" dirty="0" smtClean="0"/>
              <a:t>кодирование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1911655"/>
            <a:ext cx="9970721" cy="445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 smtClean="0"/>
              <a:t>4B/5B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93350" y="967154"/>
            <a:ext cx="4463327" cy="5404338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53796" y="2842736"/>
            <a:ext cx="5291147" cy="1682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ru-RU" sz="1900" b="1" dirty="0" err="1"/>
              <a:t>Baud</a:t>
            </a:r>
            <a:r>
              <a:rPr lang="ru-RU" sz="1900" b="1" dirty="0"/>
              <a:t> </a:t>
            </a:r>
            <a:r>
              <a:rPr lang="ru-RU" sz="1900" b="1" dirty="0" err="1"/>
              <a:t>rate</a:t>
            </a:r>
            <a:r>
              <a:rPr lang="ru-RU" sz="1900" b="1" dirty="0"/>
              <a:t> (</a:t>
            </a:r>
            <a:r>
              <a:rPr lang="ru-RU" sz="1900" b="1" dirty="0" err="1"/>
              <a:t>Бодовая</a:t>
            </a:r>
            <a:r>
              <a:rPr lang="ru-RU" sz="1900" b="1" dirty="0"/>
              <a:t> скорость) — число изменений состояния сигнала в секунду.</a:t>
            </a:r>
          </a:p>
          <a:p>
            <a:pPr marL="228600" indent="-228600" defTabSz="914400"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ru-RU" sz="1900" b="1" dirty="0" err="1"/>
              <a:t>Bit</a:t>
            </a:r>
            <a:r>
              <a:rPr lang="ru-RU" sz="1900" b="1" dirty="0"/>
              <a:t> </a:t>
            </a:r>
            <a:r>
              <a:rPr lang="ru-RU" sz="1900" b="1" dirty="0" err="1"/>
              <a:t>rate</a:t>
            </a:r>
            <a:r>
              <a:rPr lang="ru-RU" sz="1900" b="1" dirty="0"/>
              <a:t> (Битовая скорость, пропускная способность) — число переданных бит данных в секунду.</a:t>
            </a:r>
          </a:p>
        </p:txBody>
      </p:sp>
    </p:spTree>
    <p:extLst>
      <p:ext uri="{BB962C8B-B14F-4D97-AF65-F5344CB8AC3E}">
        <p14:creationId xmlns:p14="http://schemas.microsoft.com/office/powerpoint/2010/main" val="94939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Кадрирование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170" y="2891631"/>
            <a:ext cx="8988483" cy="306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39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Байт-ориентированные протоколы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541714"/>
          </a:xfrm>
        </p:spPr>
        <p:txBody>
          <a:bodyPr/>
          <a:lstStyle/>
          <a:p>
            <a:r>
              <a:rPr lang="ru-RU" dirty="0" smtClean="0"/>
              <a:t>Байт-ориентированные (</a:t>
            </a:r>
            <a:r>
              <a:rPr lang="en-US" dirty="0" smtClean="0"/>
              <a:t>PPP):</a:t>
            </a:r>
          </a:p>
          <a:p>
            <a:pPr lvl="1"/>
            <a:r>
              <a:rPr lang="ru-RU" dirty="0"/>
              <a:t>Данные рассматриваются как цепочка байтов (октетов).</a:t>
            </a:r>
          </a:p>
          <a:p>
            <a:pPr lvl="1"/>
            <a:r>
              <a:rPr lang="ru-RU" dirty="0"/>
              <a:t>Границы выделяются служебными символами (флагами начала и конца).</a:t>
            </a:r>
          </a:p>
          <a:p>
            <a:pPr lvl="1"/>
            <a:r>
              <a:rPr lang="ru-RU" dirty="0"/>
              <a:t>Для предотвращения ложного распознавания флагов используется </a:t>
            </a:r>
            <a:r>
              <a:rPr lang="en-US" b="1" dirty="0"/>
              <a:t>Byte-Staffing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725" y="4553747"/>
            <a:ext cx="81343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2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Бит-ориентированные протоколы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3541714"/>
          </a:xfrm>
        </p:spPr>
        <p:txBody>
          <a:bodyPr/>
          <a:lstStyle/>
          <a:p>
            <a:r>
              <a:rPr lang="ru-RU" dirty="0" smtClean="0"/>
              <a:t>Бит-ориентированные (</a:t>
            </a:r>
            <a:r>
              <a:rPr lang="en-US" dirty="0" smtClean="0"/>
              <a:t>HDLC):</a:t>
            </a:r>
          </a:p>
          <a:p>
            <a:pPr lvl="1"/>
            <a:r>
              <a:rPr lang="ru-RU" dirty="0"/>
              <a:t>Данные рассматриваются как непрерывный поток бит</a:t>
            </a:r>
            <a:r>
              <a:rPr lang="ru-RU" dirty="0" smtClean="0"/>
              <a:t>.</a:t>
            </a:r>
            <a:endParaRPr lang="en-US" dirty="0" smtClean="0"/>
          </a:p>
          <a:p>
            <a:pPr lvl="1"/>
            <a:r>
              <a:rPr lang="ru-RU" dirty="0" smtClean="0"/>
              <a:t>Флаг границы: последовательность 01111110.</a:t>
            </a:r>
          </a:p>
          <a:p>
            <a:pPr lvl="1"/>
            <a:r>
              <a:rPr lang="en-US" b="1" dirty="0" smtClean="0"/>
              <a:t>Bit-staffing (</a:t>
            </a:r>
            <a:r>
              <a:rPr lang="ru-RU" b="1" dirty="0"/>
              <a:t>вставка битов): </a:t>
            </a:r>
            <a:r>
              <a:rPr lang="ru-RU" dirty="0"/>
              <a:t>передатчик после любых 5 единиц подряд всегда вставляет 0. Приемник видит 5 </a:t>
            </a:r>
            <a:r>
              <a:rPr lang="ru-RU" dirty="0" smtClean="0"/>
              <a:t>единиц:</a:t>
            </a:r>
            <a:endParaRPr lang="en-US" dirty="0"/>
          </a:p>
          <a:p>
            <a:endParaRPr lang="en-US" dirty="0" smtClean="0"/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62" y="4567237"/>
            <a:ext cx="9531635" cy="153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4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Обнаружение ошибок: Контрольные суммы и CRC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CRC-32 (</a:t>
            </a:r>
            <a:r>
              <a:rPr lang="ru-RU" b="1" dirty="0" err="1"/>
              <a:t>Cyclic</a:t>
            </a:r>
            <a:r>
              <a:rPr lang="ru-RU" b="1" dirty="0"/>
              <a:t> </a:t>
            </a:r>
            <a:r>
              <a:rPr lang="ru-RU" b="1" dirty="0" err="1"/>
              <a:t>Redundancy</a:t>
            </a:r>
            <a:r>
              <a:rPr lang="ru-RU" b="1" dirty="0"/>
              <a:t> </a:t>
            </a:r>
            <a:r>
              <a:rPr lang="ru-RU" b="1" dirty="0" err="1"/>
              <a:t>Check</a:t>
            </a:r>
            <a:r>
              <a:rPr lang="ru-RU" b="1" dirty="0"/>
              <a:t>):</a:t>
            </a:r>
            <a:r>
              <a:rPr lang="ru-RU" dirty="0"/>
              <a:t> циклический избыточный код, полиномиальный алгоритм. Добавляет 32 бита (4 байта) к кадру, гарантирует обнаружение практически любых случайных пакетов ошибок.</a:t>
            </a:r>
          </a:p>
          <a:p>
            <a:r>
              <a:rPr lang="ru-RU" b="1" dirty="0"/>
              <a:t>Механизм надежной доставки (ARQ):</a:t>
            </a:r>
            <a:endParaRPr lang="ru-RU" dirty="0"/>
          </a:p>
          <a:p>
            <a:pPr lvl="1"/>
            <a:r>
              <a:rPr lang="ru-RU" b="1" dirty="0"/>
              <a:t>ACK (Подтверждение)</a:t>
            </a:r>
            <a:r>
              <a:rPr lang="ru-RU" dirty="0"/>
              <a:t> — уведомление о корректном приеме.</a:t>
            </a:r>
          </a:p>
          <a:p>
            <a:pPr lvl="1"/>
            <a:r>
              <a:rPr lang="ru-RU" b="1" dirty="0" err="1"/>
              <a:t>Timeout</a:t>
            </a:r>
            <a:r>
              <a:rPr lang="ru-RU" b="1" dirty="0"/>
              <a:t> (Тайм-аут)</a:t>
            </a:r>
            <a:r>
              <a:rPr lang="ru-RU" dirty="0"/>
              <a:t> — время ожидания ACK, по истечении которого узел выполняет повторную отправку (</a:t>
            </a:r>
            <a:r>
              <a:rPr lang="ru-RU" dirty="0" err="1"/>
              <a:t>Retransmission</a:t>
            </a:r>
            <a:r>
              <a:rPr lang="ru-RU" dirty="0"/>
              <a:t>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033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Сети с множественным доступом, </a:t>
            </a:r>
            <a:r>
              <a:rPr lang="ru-RU" b="1" dirty="0" err="1"/>
              <a:t>Ethernet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69912" y="2097088"/>
            <a:ext cx="5995987" cy="4354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Эволюция физического уровня </a:t>
            </a:r>
            <a:r>
              <a:rPr lang="af-ZA" b="1" dirty="0" smtClean="0"/>
              <a:t>Ethernet</a:t>
            </a:r>
            <a:r>
              <a:rPr lang="ru-RU" b="1" dirty="0" smtClean="0"/>
              <a:t>:</a:t>
            </a:r>
            <a:endParaRPr lang="af-ZA" b="1" dirty="0"/>
          </a:p>
          <a:p>
            <a:r>
              <a:rPr lang="af-ZA" b="1" dirty="0"/>
              <a:t>10BASE5 (Thicknet):</a:t>
            </a:r>
            <a:r>
              <a:rPr lang="af-ZA" dirty="0"/>
              <a:t> </a:t>
            </a:r>
            <a:r>
              <a:rPr lang="ru-RU" dirty="0"/>
              <a:t>толстый коаксиал 500 м, шина, «</a:t>
            </a:r>
            <a:r>
              <a:rPr lang="ru-RU" dirty="0" err="1"/>
              <a:t>вампирчики</a:t>
            </a:r>
            <a:r>
              <a:rPr lang="ru-RU" dirty="0"/>
              <a:t>», 10 Мбит/с.</a:t>
            </a:r>
          </a:p>
          <a:p>
            <a:r>
              <a:rPr lang="ru-RU" b="1" dirty="0"/>
              <a:t>10</a:t>
            </a:r>
            <a:r>
              <a:rPr lang="af-ZA" b="1" dirty="0"/>
              <a:t>BASE2 (Thinnet):</a:t>
            </a:r>
            <a:r>
              <a:rPr lang="af-ZA" dirty="0"/>
              <a:t> </a:t>
            </a:r>
            <a:r>
              <a:rPr lang="ru-RU" dirty="0"/>
              <a:t>тонкий коаксиал 185 м, </a:t>
            </a:r>
            <a:r>
              <a:rPr lang="af-ZA" dirty="0"/>
              <a:t>BNC-</a:t>
            </a:r>
            <a:r>
              <a:rPr lang="ru-RU" dirty="0"/>
              <a:t>тройники, 10 Мбит/с.</a:t>
            </a:r>
          </a:p>
          <a:p>
            <a:r>
              <a:rPr lang="ru-RU" b="1" dirty="0"/>
              <a:t>10</a:t>
            </a:r>
            <a:r>
              <a:rPr lang="af-ZA" b="1" dirty="0"/>
              <a:t>BASE-T:</a:t>
            </a:r>
            <a:r>
              <a:rPr lang="af-ZA" dirty="0"/>
              <a:t> </a:t>
            </a:r>
            <a:r>
              <a:rPr lang="ru-RU" dirty="0"/>
              <a:t>витая пара </a:t>
            </a:r>
            <a:r>
              <a:rPr lang="af-ZA" dirty="0"/>
              <a:t>Cat.3, </a:t>
            </a:r>
            <a:r>
              <a:rPr lang="ru-RU" dirty="0"/>
              <a:t>топология «звезда» через </a:t>
            </a:r>
            <a:r>
              <a:rPr lang="ru-RU" dirty="0" err="1"/>
              <a:t>хабы</a:t>
            </a:r>
            <a:r>
              <a:rPr lang="ru-RU" dirty="0"/>
              <a:t> (логически — общая шина), сегмент до 100 м.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 descr="CSMA CD vs CSMA CA - What's the difference? - PyNet Lab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073" y="2750832"/>
            <a:ext cx="4875238" cy="304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67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/>
              <a:t>Ethernet </a:t>
            </a:r>
            <a:r>
              <a:rPr lang="af-ZA" b="1" dirty="0" smtClean="0"/>
              <a:t>XEROX</a:t>
            </a:r>
            <a:endParaRPr lang="ru-RU" b="1" dirty="0"/>
          </a:p>
        </p:txBody>
      </p:sp>
      <p:pic>
        <p:nvPicPr>
          <p:cNvPr id="3074" name="Picture 2" descr="The Ethernet Diagra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24" y="2447131"/>
            <a:ext cx="7267575" cy="3722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588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/>
              <a:t>10BASE5 (Thicknet)</a:t>
            </a:r>
            <a:endParaRPr lang="ru-RU" dirty="0"/>
          </a:p>
        </p:txBody>
      </p:sp>
      <p:pic>
        <p:nvPicPr>
          <p:cNvPr id="2052" name="Picture 4" descr="https://upload.wikimedia.org/wikipedia/commons/thumb/4/4a/ThicknetTransceiver.jpg/250px-ThicknetTransceiver.jpg?utm_source=en.wikipedia.org&amp;utm_campaign=parser&amp;utm_content=thumbnail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1413" y="2097088"/>
            <a:ext cx="4631531" cy="4427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6388100" y="2983118"/>
            <a:ext cx="4875211" cy="3541714"/>
          </a:xfrm>
        </p:spPr>
        <p:txBody>
          <a:bodyPr/>
          <a:lstStyle/>
          <a:p>
            <a:r>
              <a:rPr lang="ru-RU" dirty="0"/>
              <a:t>толстый коаксиал 500 </a:t>
            </a:r>
            <a:r>
              <a:rPr lang="ru-RU" dirty="0" smtClean="0"/>
              <a:t>м</a:t>
            </a:r>
            <a:endParaRPr lang="en-US" dirty="0" smtClean="0"/>
          </a:p>
          <a:p>
            <a:r>
              <a:rPr lang="ru-RU" dirty="0" smtClean="0"/>
              <a:t>Шина</a:t>
            </a:r>
            <a:endParaRPr lang="en-US" dirty="0" smtClean="0"/>
          </a:p>
          <a:p>
            <a:r>
              <a:rPr lang="ru-RU" dirty="0" smtClean="0"/>
              <a:t>«</a:t>
            </a:r>
            <a:r>
              <a:rPr lang="ru-RU" dirty="0" err="1" smtClean="0"/>
              <a:t>вампирчики</a:t>
            </a:r>
            <a:r>
              <a:rPr lang="ru-RU" dirty="0" smtClean="0"/>
              <a:t>»</a:t>
            </a:r>
            <a:endParaRPr lang="en-US" dirty="0" smtClean="0"/>
          </a:p>
          <a:p>
            <a:r>
              <a:rPr lang="ru-RU" dirty="0" smtClean="0"/>
              <a:t>10 </a:t>
            </a:r>
            <a:r>
              <a:rPr lang="ru-RU" dirty="0"/>
              <a:t>Мбит/с.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8715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10</a:t>
            </a:r>
            <a:r>
              <a:rPr lang="af-ZA" b="1" dirty="0"/>
              <a:t>BASE2 (Thinnet</a:t>
            </a:r>
            <a:r>
              <a:rPr lang="af-ZA" b="1" dirty="0" smtClean="0"/>
              <a:t>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2730500"/>
            <a:ext cx="4875211" cy="256381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тонкий коаксиал </a:t>
            </a:r>
            <a:endParaRPr lang="en-US" dirty="0" smtClean="0"/>
          </a:p>
          <a:p>
            <a:r>
              <a:rPr lang="ru-RU" dirty="0" smtClean="0"/>
              <a:t>185 м</a:t>
            </a:r>
            <a:endParaRPr lang="en-US" dirty="0" smtClean="0"/>
          </a:p>
          <a:p>
            <a:r>
              <a:rPr lang="af-ZA" dirty="0" smtClean="0"/>
              <a:t>BNC-</a:t>
            </a:r>
            <a:r>
              <a:rPr lang="ru-RU" dirty="0" smtClean="0"/>
              <a:t>тройники</a:t>
            </a:r>
            <a:endParaRPr lang="en-US" dirty="0" smtClean="0"/>
          </a:p>
          <a:p>
            <a:r>
              <a:rPr lang="ru-RU" dirty="0" smtClean="0"/>
              <a:t>10 Мбит/с</a:t>
            </a:r>
            <a:endParaRPr lang="en-US" dirty="0" smtClean="0"/>
          </a:p>
          <a:p>
            <a:r>
              <a:rPr lang="ru-RU" dirty="0" smtClean="0"/>
              <a:t>Репитеры в </a:t>
            </a:r>
            <a:r>
              <a:rPr lang="en-US" dirty="0" smtClean="0"/>
              <a:t>IEEE 802.3c</a:t>
            </a:r>
            <a:endParaRPr lang="ru-RU" dirty="0"/>
          </a:p>
          <a:p>
            <a:endParaRPr lang="ru-RU" dirty="0"/>
          </a:p>
        </p:txBody>
      </p:sp>
      <p:pic>
        <p:nvPicPr>
          <p:cNvPr id="4098" name="Picture 2" descr="10Base2 - NETWORK ENCYCLOPEDIA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2730500"/>
            <a:ext cx="4683799" cy="306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712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10base-t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089900" y="2840036"/>
            <a:ext cx="3694111" cy="2360614"/>
          </a:xfrm>
        </p:spPr>
        <p:txBody>
          <a:bodyPr/>
          <a:lstStyle/>
          <a:p>
            <a:r>
              <a:rPr lang="ru-RU" dirty="0" smtClean="0"/>
              <a:t>Витая пара</a:t>
            </a:r>
          </a:p>
          <a:p>
            <a:r>
              <a:rPr lang="ru-RU" dirty="0" err="1" smtClean="0"/>
              <a:t>Хабы</a:t>
            </a:r>
            <a:endParaRPr lang="ru-RU" dirty="0" smtClean="0"/>
          </a:p>
          <a:p>
            <a:r>
              <a:rPr lang="ru-RU" dirty="0" smtClean="0"/>
              <a:t>Один сегмент – до 100м</a:t>
            </a:r>
          </a:p>
          <a:p>
            <a:r>
              <a:rPr lang="ru-RU" dirty="0" smtClean="0"/>
              <a:t>До 1024 узлов</a:t>
            </a:r>
            <a:endParaRPr lang="ru-RU" dirty="0"/>
          </a:p>
        </p:txBody>
      </p:sp>
      <p:pic>
        <p:nvPicPr>
          <p:cNvPr id="5122" name="Picture 2" descr="4.6. Стандарт 10Base-T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9580" y="1796415"/>
            <a:ext cx="5776119" cy="444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691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Формат кадра </a:t>
            </a:r>
            <a:r>
              <a:rPr lang="af-ZA" b="1" dirty="0"/>
              <a:t>Ethernet </a:t>
            </a:r>
            <a:r>
              <a:rPr lang="af-ZA" b="1" dirty="0" smtClean="0"/>
              <a:t>II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3" y="1738312"/>
            <a:ext cx="9926638" cy="3541714"/>
          </a:xfrm>
        </p:spPr>
        <p:txBody>
          <a:bodyPr/>
          <a:lstStyle/>
          <a:p>
            <a:r>
              <a:rPr lang="ru-RU" dirty="0" smtClean="0"/>
              <a:t>Преамбула + </a:t>
            </a:r>
            <a:r>
              <a:rPr lang="en-US" dirty="0" smtClean="0"/>
              <a:t>SFD: 7 + 1 </a:t>
            </a:r>
            <a:r>
              <a:rPr lang="ru-RU" dirty="0" smtClean="0"/>
              <a:t>байт.</a:t>
            </a:r>
          </a:p>
          <a:p>
            <a:r>
              <a:rPr lang="en-US" dirty="0" smtClean="0"/>
              <a:t>MAC </a:t>
            </a:r>
            <a:r>
              <a:rPr lang="en-US" dirty="0" err="1" smtClean="0"/>
              <a:t>Dest</a:t>
            </a:r>
            <a:r>
              <a:rPr lang="en-US" dirty="0" smtClean="0"/>
              <a:t> / MAC </a:t>
            </a:r>
            <a:r>
              <a:rPr lang="en-US" dirty="0" err="1" smtClean="0"/>
              <a:t>Src</a:t>
            </a:r>
            <a:r>
              <a:rPr lang="en-US" dirty="0" smtClean="0"/>
              <a:t>: </a:t>
            </a:r>
            <a:r>
              <a:rPr lang="ru-RU" dirty="0" smtClean="0"/>
              <a:t>по 6 байт.</a:t>
            </a:r>
          </a:p>
          <a:p>
            <a:r>
              <a:rPr lang="en-US" dirty="0" smtClean="0"/>
              <a:t>Type (</a:t>
            </a:r>
            <a:r>
              <a:rPr lang="en-US" dirty="0" err="1" smtClean="0"/>
              <a:t>EtherType</a:t>
            </a:r>
            <a:r>
              <a:rPr lang="en-US" dirty="0" smtClean="0"/>
              <a:t>): 2 </a:t>
            </a:r>
            <a:r>
              <a:rPr lang="ru-RU" dirty="0" smtClean="0"/>
              <a:t>байта (</a:t>
            </a:r>
            <a:r>
              <a:rPr lang="ru-RU" dirty="0"/>
              <a:t>демультиплексирование</a:t>
            </a:r>
            <a:r>
              <a:rPr lang="ru-RU" dirty="0" smtClean="0"/>
              <a:t>, 0</a:t>
            </a:r>
            <a:r>
              <a:rPr lang="en-US" dirty="0" smtClean="0"/>
              <a:t>x0800 </a:t>
            </a:r>
            <a:r>
              <a:rPr lang="ru-RU" dirty="0" smtClean="0"/>
              <a:t>для </a:t>
            </a:r>
            <a:r>
              <a:rPr lang="en-US" dirty="0" smtClean="0"/>
              <a:t>IPv4)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en-US" dirty="0" smtClean="0"/>
              <a:t>Payload: </a:t>
            </a:r>
            <a:r>
              <a:rPr lang="en-US" dirty="0" smtClean="0"/>
              <a:t>4</a:t>
            </a:r>
            <a:r>
              <a:rPr lang="ru-RU" smtClean="0"/>
              <a:t>6</a:t>
            </a:r>
            <a:r>
              <a:rPr lang="en-US" smtClean="0"/>
              <a:t>-1500 </a:t>
            </a:r>
            <a:r>
              <a:rPr lang="ru-RU" dirty="0" smtClean="0"/>
              <a:t>байт.</a:t>
            </a:r>
          </a:p>
          <a:p>
            <a:r>
              <a:rPr lang="en-US" dirty="0" smtClean="0"/>
              <a:t>FCS (CRC-32): 4 </a:t>
            </a:r>
            <a:r>
              <a:rPr lang="ru-RU" dirty="0" smtClean="0"/>
              <a:t>байта.</a:t>
            </a:r>
          </a:p>
          <a:p>
            <a:r>
              <a:rPr lang="ru-RU" dirty="0" smtClean="0"/>
              <a:t>Минимальная длина кадра: 64 байта.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593" y="5121336"/>
            <a:ext cx="8021637" cy="127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66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Адресация на канальном уровне (MAC-адрес)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05466" y="2097088"/>
            <a:ext cx="5377892" cy="437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84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008062" y="1401762"/>
            <a:ext cx="10345738" cy="402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Первые 24 бита (3 октета): OUI (</a:t>
            </a:r>
            <a:r>
              <a:rPr lang="ru-RU" sz="2400" dirty="0" err="1"/>
              <a:t>Organizationally</a:t>
            </a:r>
            <a:r>
              <a:rPr lang="ru-RU" sz="2400" dirty="0"/>
              <a:t> </a:t>
            </a:r>
            <a:r>
              <a:rPr lang="ru-RU" sz="2400" dirty="0" err="1"/>
              <a:t>Unique</a:t>
            </a:r>
            <a:r>
              <a:rPr lang="ru-RU" sz="2400" dirty="0"/>
              <a:t> </a:t>
            </a:r>
            <a:r>
              <a:rPr lang="ru-RU" sz="2400" dirty="0" err="1"/>
              <a:t>Identifier</a:t>
            </a:r>
            <a:r>
              <a:rPr lang="ru-RU" sz="2400" dirty="0"/>
              <a:t>) — код производителя от IEEE.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Последние 24 бита (3 октета): назначаются производителем.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Младшие биты первого байта: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Бит 0 (</a:t>
            </a:r>
            <a:r>
              <a:rPr lang="af-ZA" sz="2400" dirty="0"/>
              <a:t>I/G — Individual/Group): 0 = Unicast, 1 = Multicast (Broadcast: FF:FF:FF:FF:FF:FF).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Бит 1 (</a:t>
            </a:r>
            <a:r>
              <a:rPr lang="af-ZA" sz="2400" dirty="0"/>
              <a:t>U/L — Universal/Local): 0 = </a:t>
            </a:r>
            <a:r>
              <a:rPr lang="ru-RU" sz="2400" dirty="0"/>
              <a:t>Глобально уникальный (</a:t>
            </a:r>
            <a:r>
              <a:rPr lang="af-ZA" sz="2400" dirty="0"/>
              <a:t>OUI), 1 = </a:t>
            </a:r>
            <a:r>
              <a:rPr lang="ru-RU" sz="2400" dirty="0"/>
              <a:t>Локально администрируемый (</a:t>
            </a:r>
            <a:r>
              <a:rPr lang="af-ZA" sz="2400" dirty="0"/>
              <a:t>LLA).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41784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Алгоритм </a:t>
            </a:r>
            <a:r>
              <a:rPr lang="en-US" b="1" dirty="0" smtClean="0"/>
              <a:t>CSMA/CD 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af-ZA" b="1" dirty="0" smtClean="0"/>
              <a:t>Carrier </a:t>
            </a:r>
            <a:r>
              <a:rPr lang="af-ZA" b="1" dirty="0"/>
              <a:t>Sense:</a:t>
            </a:r>
            <a:r>
              <a:rPr lang="af-ZA" dirty="0"/>
              <a:t> </a:t>
            </a:r>
            <a:r>
              <a:rPr lang="ru-RU" dirty="0"/>
              <a:t>слушай линию перед передачей (если занято — жди).</a:t>
            </a:r>
          </a:p>
          <a:p>
            <a:r>
              <a:rPr lang="af-ZA" b="1" dirty="0"/>
              <a:t>Multiple Access:</a:t>
            </a:r>
            <a:r>
              <a:rPr lang="af-ZA" dirty="0"/>
              <a:t> </a:t>
            </a:r>
            <a:r>
              <a:rPr lang="ru-RU" dirty="0"/>
              <a:t>среда общая, передавать могут все.</a:t>
            </a:r>
          </a:p>
          <a:p>
            <a:r>
              <a:rPr lang="af-ZA" b="1" dirty="0"/>
              <a:t>Collision Detect:</a:t>
            </a:r>
            <a:r>
              <a:rPr lang="af-ZA" dirty="0"/>
              <a:t> </a:t>
            </a:r>
            <a:r>
              <a:rPr lang="ru-RU" dirty="0"/>
              <a:t>слушай линию </a:t>
            </a:r>
            <a:r>
              <a:rPr lang="ru-RU" b="1" dirty="0"/>
              <a:t>во время</a:t>
            </a:r>
            <a:r>
              <a:rPr lang="ru-RU" dirty="0"/>
              <a:t> передачи:</a:t>
            </a:r>
          </a:p>
          <a:p>
            <a:pPr lvl="1"/>
            <a:r>
              <a:rPr lang="ru-RU" dirty="0"/>
              <a:t>Если обнаружена коллизия </a:t>
            </a:r>
            <a:r>
              <a:rPr lang="ru-RU" dirty="0" smtClean="0"/>
              <a:t>→</a:t>
            </a:r>
            <a:r>
              <a:rPr lang="ru-RU" dirty="0"/>
              <a:t> отправь </a:t>
            </a:r>
            <a:r>
              <a:rPr lang="af-ZA" b="1" dirty="0"/>
              <a:t>Jam-</a:t>
            </a:r>
            <a:r>
              <a:rPr lang="ru-RU" b="1" dirty="0"/>
              <a:t>сигнал</a:t>
            </a:r>
            <a:r>
              <a:rPr lang="ru-RU" dirty="0"/>
              <a:t> (32 бита для оповещения всех).</a:t>
            </a:r>
          </a:p>
          <a:p>
            <a:pPr lvl="1"/>
            <a:r>
              <a:rPr lang="ru-RU" dirty="0"/>
              <a:t>Запусти алгоритм </a:t>
            </a:r>
            <a:r>
              <a:rPr lang="af-ZA" b="1" dirty="0"/>
              <a:t>Binary Exponential </a:t>
            </a:r>
            <a:r>
              <a:rPr lang="af-ZA" b="1" dirty="0" smtClean="0"/>
              <a:t>Backoff</a:t>
            </a:r>
            <a:r>
              <a:rPr lang="af-ZA" dirty="0" smtClean="0"/>
              <a:t>:</a:t>
            </a:r>
          </a:p>
          <a:p>
            <a:pPr lvl="1"/>
            <a:r>
              <a:rPr lang="ru-RU" dirty="0" smtClean="0"/>
              <a:t>До </a:t>
            </a:r>
            <a:r>
              <a:rPr lang="ru-RU" dirty="0"/>
              <a:t>16 попыток </a:t>
            </a:r>
            <a:r>
              <a:rPr lang="ru-RU" dirty="0" smtClean="0"/>
              <a:t>→</a:t>
            </a:r>
            <a:r>
              <a:rPr lang="ru-RU" dirty="0"/>
              <a:t> при неудаче отброс кадра (</a:t>
            </a:r>
            <a:r>
              <a:rPr lang="af-ZA" dirty="0"/>
              <a:t>Drop).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73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Найди пару: «Методы кодирования</a:t>
            </a:r>
            <a:r>
              <a:rPr lang="ru-RU" b="1" dirty="0" smtClean="0"/>
              <a:t>»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5913020"/>
              </p:ext>
            </p:extLst>
          </p:nvPr>
        </p:nvGraphicFramePr>
        <p:xfrm>
          <a:off x="1141413" y="2410619"/>
          <a:ext cx="9906000" cy="321945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97114412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42581577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Метод кодирования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Особенность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981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af-ZA" b="1">
                          <a:effectLst/>
                        </a:rPr>
                        <a:t>1.</a:t>
                      </a:r>
                      <a:r>
                        <a:rPr lang="af-ZA">
                          <a:effectLst/>
                        </a:rPr>
                        <a:t> NRZ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А.</a:t>
                      </a:r>
                      <a:r>
                        <a:rPr lang="ru-RU">
                          <a:effectLst/>
                        </a:rPr>
                        <a:t> Эффективность 50%, меняет сигнал в середине каждого такта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5701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af-ZA" b="1">
                          <a:effectLst/>
                        </a:rPr>
                        <a:t>2.</a:t>
                      </a:r>
                      <a:r>
                        <a:rPr lang="af-ZA">
                          <a:effectLst/>
                        </a:rPr>
                        <a:t> NRZI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Б.</a:t>
                      </a:r>
                      <a:r>
                        <a:rPr lang="ru-RU">
                          <a:effectLst/>
                        </a:rPr>
                        <a:t> Добавляет 1 избыточный бит на каждые 4 бита данных, устраняя длинные нули (эффективность 80%)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9664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3.</a:t>
                      </a:r>
                      <a:r>
                        <a:rPr lang="ru-RU">
                          <a:effectLst/>
                        </a:rPr>
                        <a:t> Манчестерский код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В.</a:t>
                      </a:r>
                      <a:r>
                        <a:rPr lang="ru-RU">
                          <a:effectLst/>
                        </a:rPr>
                        <a:t> Переход уровня происходит только при передаче единицы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04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af-ZA" b="1">
                          <a:effectLst/>
                        </a:rPr>
                        <a:t>4.</a:t>
                      </a:r>
                      <a:r>
                        <a:rPr lang="af-ZA">
                          <a:effectLst/>
                        </a:rPr>
                        <a:t> 4B/5B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Г.</a:t>
                      </a:r>
                      <a:r>
                        <a:rPr lang="ru-RU" dirty="0">
                          <a:effectLst/>
                        </a:rPr>
                        <a:t> Страдает от блуждания базовой линии при передаче длинных цепочек 0 или 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489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154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1292469"/>
            <a:ext cx="9905999" cy="4498732"/>
          </a:xfrm>
        </p:spPr>
        <p:txBody>
          <a:bodyPr>
            <a:normAutofit/>
          </a:bodyPr>
          <a:lstStyle/>
          <a:p>
            <a:r>
              <a:rPr lang="ru-RU" dirty="0"/>
              <a:t>В классической архитектуре TCP/IP канальный уровень </a:t>
            </a:r>
            <a:r>
              <a:rPr lang="ru-RU" dirty="0" err="1"/>
              <a:t>Ethernet</a:t>
            </a:r>
            <a:r>
              <a:rPr lang="ru-RU" dirty="0"/>
              <a:t> сам гарантирует надежность доставки и запрашивает повторную отправку битых кадров. </a:t>
            </a:r>
            <a:r>
              <a:rPr lang="ru-RU" i="1" dirty="0"/>
              <a:t>(Да / Нет)</a:t>
            </a:r>
            <a:endParaRPr lang="ru-RU" dirty="0"/>
          </a:p>
          <a:p>
            <a:r>
              <a:rPr lang="ru-RU" dirty="0"/>
              <a:t>Поле полезной нагрузки (</a:t>
            </a:r>
            <a:r>
              <a:rPr lang="ru-RU" dirty="0" err="1"/>
              <a:t>Payload</a:t>
            </a:r>
            <a:r>
              <a:rPr lang="ru-RU" dirty="0"/>
              <a:t>) в стандартном кадре </a:t>
            </a:r>
            <a:r>
              <a:rPr lang="ru-RU" dirty="0" err="1"/>
              <a:t>Ethernet</a:t>
            </a:r>
            <a:r>
              <a:rPr lang="ru-RU" dirty="0"/>
              <a:t> не может быть меньше 46 байт. </a:t>
            </a:r>
            <a:r>
              <a:rPr lang="ru-RU" i="1" dirty="0"/>
              <a:t>(Да / Нет)</a:t>
            </a:r>
            <a:endParaRPr lang="ru-RU" dirty="0"/>
          </a:p>
          <a:p>
            <a:r>
              <a:rPr lang="ru-RU" dirty="0"/>
              <a:t>При обнаружении коллизии адаптер сразу же начинает передачу кадра заново без пауз. </a:t>
            </a:r>
            <a:r>
              <a:rPr lang="ru-RU" i="1" dirty="0"/>
              <a:t>(Да / Нет)</a:t>
            </a:r>
            <a:endParaRPr lang="ru-RU" dirty="0"/>
          </a:p>
          <a:p>
            <a:r>
              <a:rPr lang="ru-RU" dirty="0"/>
              <a:t>Первые 3 байта MAC-адреса (OUI) уникальны для конкретного производителя сетевого оборудования. </a:t>
            </a:r>
            <a:r>
              <a:rPr lang="ru-RU" i="1" dirty="0"/>
              <a:t>(Да / Нет)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44933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Заполни пропуски: «Анатомия </a:t>
            </a:r>
            <a:r>
              <a:rPr lang="af-ZA" b="1" dirty="0"/>
              <a:t>CSMA/CD</a:t>
            </a:r>
            <a:r>
              <a:rPr lang="af-ZA" b="1" dirty="0" smtClean="0"/>
              <a:t>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249487"/>
            <a:ext cx="10086365" cy="2867636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«Когда адаптер фиксирует коллизию в среде, он немедленно останавливает передачу и отправляет в сеть специальный </a:t>
            </a:r>
            <a:r>
              <a:rPr lang="ru-RU" b="1" dirty="0"/>
              <a:t>[ 1 ]</a:t>
            </a:r>
            <a:r>
              <a:rPr lang="ru-RU" dirty="0"/>
              <a:t>-сигнал. Затем он выдерживает случайную паузу. Если коллизии повторяются, максимальный интервал паузы увеличивается. Предельное число попыток отправить кадр перед его окончательным сбросом составляет </a:t>
            </a:r>
            <a:r>
              <a:rPr lang="ru-RU" b="1" dirty="0"/>
              <a:t>[ 2 ]</a:t>
            </a:r>
            <a:r>
              <a:rPr lang="ru-RU" dirty="0"/>
              <a:t> раз.»</a:t>
            </a:r>
          </a:p>
        </p:txBody>
      </p:sp>
    </p:spTree>
    <p:extLst>
      <p:ext uri="{BB962C8B-B14F-4D97-AF65-F5344CB8AC3E}">
        <p14:creationId xmlns:p14="http://schemas.microsoft.com/office/powerpoint/2010/main" val="862017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2441205"/>
          </a:xfrm>
        </p:spPr>
        <p:txBody>
          <a:bodyPr>
            <a:normAutofit fontScale="90000"/>
          </a:bodyPr>
          <a:lstStyle/>
          <a:p>
            <a:r>
              <a:rPr lang="ru-RU" dirty="0"/>
              <a:t>Какой из следующих MAC-адресов является </a:t>
            </a:r>
            <a:r>
              <a:rPr lang="ru-RU" b="1" dirty="0"/>
              <a:t>широковещательным (</a:t>
            </a:r>
            <a:r>
              <a:rPr lang="ru-RU" b="1" dirty="0" err="1"/>
              <a:t>Broadcast</a:t>
            </a:r>
            <a:r>
              <a:rPr lang="ru-RU" b="1" dirty="0"/>
              <a:t>)</a:t>
            </a:r>
            <a:r>
              <a:rPr lang="ru-RU" dirty="0"/>
              <a:t>, то есть будет принят абсолютно всеми устройствами в сегменте?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3330941"/>
            <a:ext cx="9905999" cy="2401644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А) 00:1</a:t>
            </a:r>
            <a:r>
              <a:rPr lang="af-ZA" dirty="0"/>
              <a:t>A:2B:3C:4D:5E</a:t>
            </a:r>
          </a:p>
          <a:p>
            <a:pPr marL="0" indent="0">
              <a:buNone/>
            </a:pPr>
            <a:r>
              <a:rPr lang="ru-RU" dirty="0"/>
              <a:t>Б) </a:t>
            </a:r>
            <a:r>
              <a:rPr lang="af-ZA" dirty="0"/>
              <a:t>FF:FF:FF:FF:FF:FF</a:t>
            </a:r>
          </a:p>
          <a:p>
            <a:pPr marL="0" indent="0">
              <a:buNone/>
            </a:pPr>
            <a:r>
              <a:rPr lang="ru-RU" dirty="0"/>
              <a:t>В) 01:00:5</a:t>
            </a:r>
            <a:r>
              <a:rPr lang="af-ZA" dirty="0"/>
              <a:t>E:00:00:01</a:t>
            </a:r>
          </a:p>
          <a:p>
            <a:pPr marL="0" indent="0">
              <a:buNone/>
            </a:pPr>
            <a:r>
              <a:rPr lang="ru-RU" dirty="0"/>
              <a:t>Г) </a:t>
            </a:r>
            <a:r>
              <a:rPr lang="af-ZA" dirty="0"/>
              <a:t>AA:BB:CC:DD:EE:FF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12139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101</TotalTime>
  <Words>336</Words>
  <Application>Microsoft Office PowerPoint</Application>
  <PresentationFormat>Широкоэкранный</PresentationFormat>
  <Paragraphs>93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Tw Cen MT</vt:lpstr>
      <vt:lpstr>Контур</vt:lpstr>
      <vt:lpstr>Канальный уровень. Кодирование, кадрирование и классический Ethernet</vt:lpstr>
      <vt:lpstr>Основные задачи канального уровня</vt:lpstr>
      <vt:lpstr>Физическое кодирование</vt:lpstr>
      <vt:lpstr>4B/5B</vt:lpstr>
      <vt:lpstr>Кадрирование</vt:lpstr>
      <vt:lpstr>Байт-ориентированные протоколы</vt:lpstr>
      <vt:lpstr>Бит-ориентированные протоколы</vt:lpstr>
      <vt:lpstr>Обнаружение ошибок: Контрольные суммы и CRC</vt:lpstr>
      <vt:lpstr>Сети с множественным доступом, Ethernet</vt:lpstr>
      <vt:lpstr>Ethernet XEROX</vt:lpstr>
      <vt:lpstr>10BASE5 (Thicknet)</vt:lpstr>
      <vt:lpstr>10BASE2 (Thinnet)</vt:lpstr>
      <vt:lpstr>10base-t</vt:lpstr>
      <vt:lpstr>Формат кадра Ethernet II</vt:lpstr>
      <vt:lpstr>Адресация на канальном уровне (MAC-адрес)</vt:lpstr>
      <vt:lpstr>Презентация PowerPoint</vt:lpstr>
      <vt:lpstr>Алгоритм CSMA/CD </vt:lpstr>
      <vt:lpstr>Найди пару: «Методы кодирования»</vt:lpstr>
      <vt:lpstr>Презентация PowerPoint</vt:lpstr>
      <vt:lpstr>Заполни пропуски: «Анатомия CSMA/CD»</vt:lpstr>
      <vt:lpstr>Какой из следующих MAC-адресов является широковещательным (Broadcast), то есть будет принят абсолютно всеми устройствами в сегменте?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Канальный уровень. Кодирование, кадрирование и классический Ethernet</dc:title>
  <dc:creator>Тимур А. Нахтигаль</dc:creator>
  <cp:lastModifiedBy>Тимур А. Нахтигаль</cp:lastModifiedBy>
  <cp:revision>16</cp:revision>
  <dcterms:created xsi:type="dcterms:W3CDTF">2026-08-27T11:23:28Z</dcterms:created>
  <dcterms:modified xsi:type="dcterms:W3CDTF">2026-09-09T07:40:16Z</dcterms:modified>
</cp:coreProperties>
</file>